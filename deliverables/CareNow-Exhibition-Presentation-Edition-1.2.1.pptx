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ec3f502de1547db" /><Relationship Type="http://schemas.openxmlformats.org/officeDocument/2006/relationships/extended-properties" Target="/docProps/app.xml" Id="R2e2ab8e7c6ea4a55" /><Relationship Type="http://schemas.openxmlformats.org/officeDocument/2006/relationships/officeDocument" Target="/ppt/presentation.xml" Id="R07c0b84db4904e5d" /></Relationships>
</file>

<file path=ppt/presentation.xml><?xml version="1.0" encoding="utf-8"?>
<p:presentation xmlns:p="http://schemas.openxmlformats.org/presentationml/2006/main">
  <p:sldMasterIdLst>
    <p:sldMasterId xmlns:r="http://schemas.openxmlformats.org/officeDocument/2006/relationships" id="2147483648" r:id="R92560215c13a459e"/>
  </p:sldMasterIdLst>
  <p:notesMasterIdLst>
    <p:notesMasterId xmlns:r="http://schemas.openxmlformats.org/officeDocument/2006/relationships" r:id="Rc664e439e4c74914"/>
  </p:notesMasterIdLst>
  <p:sldIdLst>
    <p:sldId xmlns:r="http://schemas.openxmlformats.org/officeDocument/2006/relationships" id="256" r:id="R7c32e4b948944187"/>
    <p:sldId xmlns:r="http://schemas.openxmlformats.org/officeDocument/2006/relationships" id="257" r:id="Ra1b4ad3d73dc440b"/>
    <p:sldId xmlns:r="http://schemas.openxmlformats.org/officeDocument/2006/relationships" id="258" r:id="Rc6a7f58e53664792"/>
    <p:sldId xmlns:r="http://schemas.openxmlformats.org/officeDocument/2006/relationships" id="259" r:id="Ra05f03aa9a56497c"/>
    <p:sldId xmlns:r="http://schemas.openxmlformats.org/officeDocument/2006/relationships" id="260" r:id="R71e22ff7f11d492f"/>
    <p:sldId xmlns:r="http://schemas.openxmlformats.org/officeDocument/2006/relationships" id="261" r:id="R4f50da61fa2f4d82"/>
    <p:sldId xmlns:r="http://schemas.openxmlformats.org/officeDocument/2006/relationships" id="262" r:id="R444f14bab8654608"/>
    <p:sldId xmlns:r="http://schemas.openxmlformats.org/officeDocument/2006/relationships" id="263" r:id="Rdf1640079a3d4f81"/>
    <p:sldId xmlns:r="http://schemas.openxmlformats.org/officeDocument/2006/relationships" id="264" r:id="R700569461b5244f5"/>
    <p:sldId xmlns:r="http://schemas.openxmlformats.org/officeDocument/2006/relationships" id="265" r:id="Rfcf66241217a4368"/>
    <p:sldId xmlns:r="http://schemas.openxmlformats.org/officeDocument/2006/relationships" id="266" r:id="Ra8243c98695d42ed"/>
    <p:sldId xmlns:r="http://schemas.openxmlformats.org/officeDocument/2006/relationships" id="267" r:id="R20941dc5219246b8"/>
    <p:sldId xmlns:r="http://schemas.openxmlformats.org/officeDocument/2006/relationships" id="268" r:id="R8de88e7a4d5c4ec0"/>
    <p:sldId xmlns:r="http://schemas.openxmlformats.org/officeDocument/2006/relationships" id="269" r:id="Re4e4ffa8aedf4190"/>
    <p:sldId xmlns:r="http://schemas.openxmlformats.org/officeDocument/2006/relationships" id="270" r:id="R702b748e03cf4d2d"/>
    <p:sldId xmlns:r="http://schemas.openxmlformats.org/officeDocument/2006/relationships" id="271" r:id="R47f957f69aa443d8"/>
    <p:sldId xmlns:r="http://schemas.openxmlformats.org/officeDocument/2006/relationships" id="272" r:id="Raacc1a334a47471f"/>
    <p:sldId xmlns:r="http://schemas.openxmlformats.org/officeDocument/2006/relationships" id="273" r:id="R760dcab8b8f44a5b"/>
    <p:sldId xmlns:r="http://schemas.openxmlformats.org/officeDocument/2006/relationships" id="274" r:id="Rb7f222bc0de448f1"/>
    <p:sldId xmlns:r="http://schemas.openxmlformats.org/officeDocument/2006/relationships" id="275" r:id="R30c7b7461d8a406e"/>
    <p:sldId xmlns:r="http://schemas.openxmlformats.org/officeDocument/2006/relationships" id="276" r:id="R8201d240c0c6489c"/>
    <p:sldId xmlns:r="http://schemas.openxmlformats.org/officeDocument/2006/relationships" id="277" r:id="Rf08318e632b645ea"/>
    <p:sldId xmlns:r="http://schemas.openxmlformats.org/officeDocument/2006/relationships" id="278" r:id="R4253425e13af43eb"/>
    <p:sldId xmlns:r="http://schemas.openxmlformats.org/officeDocument/2006/relationships" id="279" r:id="R640f76f5da134d74"/>
    <p:sldId xmlns:r="http://schemas.openxmlformats.org/officeDocument/2006/relationships" id="280" r:id="R854ece097fd142ae"/>
    <p:sldId xmlns:r="http://schemas.openxmlformats.org/officeDocument/2006/relationships" id="281" r:id="Rd45871719e3d49b0"/>
    <p:sldId xmlns:r="http://schemas.openxmlformats.org/officeDocument/2006/relationships" id="282" r:id="R734c40c130134e2c"/>
    <p:sldId xmlns:r="http://schemas.openxmlformats.org/officeDocument/2006/relationships" id="283" r:id="Rb5d0faa7f9fb4d9a"/>
    <p:sldId xmlns:r="http://schemas.openxmlformats.org/officeDocument/2006/relationships" id="284" r:id="R1e3a001346914c35"/>
    <p:sldId xmlns:r="http://schemas.openxmlformats.org/officeDocument/2006/relationships" id="285" r:id="R15a8bdcfac2f412d"/>
    <p:sldId xmlns:r="http://schemas.openxmlformats.org/officeDocument/2006/relationships" id="286" r:id="Rc32bc1d5957a45e1"/>
    <p:sldId xmlns:r="http://schemas.openxmlformats.org/officeDocument/2006/relationships" id="287" r:id="Rb4f39bbe05f84c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5f52648064423f" /><Relationship Type="http://schemas.openxmlformats.org/officeDocument/2006/relationships/slideMaster" Target="/ppt/slideMasters/slideMaster1.xml" Id="R92560215c13a459e" /><Relationship Type="http://schemas.openxmlformats.org/officeDocument/2006/relationships/notesMaster" Target="/ppt/notesMasters/notesMaster1.xml" Id="Rc664e439e4c74914" /><Relationship Type="http://schemas.openxmlformats.org/officeDocument/2006/relationships/presProps" Target="/ppt/presProps.xml" Id="Rf2fedccbe21744b0" /><Relationship Type="http://schemas.openxmlformats.org/officeDocument/2006/relationships/tableStyles" Target="/ppt/tableStyles.xml" Id="R6b58dc7d5b324363" /><Relationship Type="http://schemas.openxmlformats.org/officeDocument/2006/relationships/slide" Target="/ppt/slides/slide1.xml" Id="R7c32e4b948944187" /><Relationship Type="http://schemas.openxmlformats.org/officeDocument/2006/relationships/slide" Target="/ppt/slides/slide2.xml" Id="Ra1b4ad3d73dc440b" /><Relationship Type="http://schemas.openxmlformats.org/officeDocument/2006/relationships/slide" Target="/ppt/slides/slide3.xml" Id="Rc6a7f58e53664792" /><Relationship Type="http://schemas.openxmlformats.org/officeDocument/2006/relationships/slide" Target="/ppt/slides/slide4.xml" Id="Ra05f03aa9a56497c" /><Relationship Type="http://schemas.openxmlformats.org/officeDocument/2006/relationships/slide" Target="/ppt/slides/slide5.xml" Id="R71e22ff7f11d492f" /><Relationship Type="http://schemas.openxmlformats.org/officeDocument/2006/relationships/slide" Target="/ppt/slides/slide6.xml" Id="R4f50da61fa2f4d82" /><Relationship Type="http://schemas.openxmlformats.org/officeDocument/2006/relationships/slide" Target="/ppt/slides/slide7.xml" Id="R444f14bab8654608" /><Relationship Type="http://schemas.openxmlformats.org/officeDocument/2006/relationships/slide" Target="/ppt/slides/slide8.xml" Id="Rdf1640079a3d4f81" /><Relationship Type="http://schemas.openxmlformats.org/officeDocument/2006/relationships/slide" Target="/ppt/slides/slide9.xml" Id="R700569461b5244f5" /><Relationship Type="http://schemas.openxmlformats.org/officeDocument/2006/relationships/slide" Target="/ppt/slides/slide10.xml" Id="Rfcf66241217a4368" /><Relationship Type="http://schemas.openxmlformats.org/officeDocument/2006/relationships/slide" Target="/ppt/slides/slide11.xml" Id="Ra8243c98695d42ed" /><Relationship Type="http://schemas.openxmlformats.org/officeDocument/2006/relationships/slide" Target="/ppt/slides/slide12.xml" Id="R20941dc5219246b8" /><Relationship Type="http://schemas.openxmlformats.org/officeDocument/2006/relationships/slide" Target="/ppt/slides/slide13.xml" Id="R8de88e7a4d5c4ec0" /><Relationship Type="http://schemas.openxmlformats.org/officeDocument/2006/relationships/slide" Target="/ppt/slides/slide14.xml" Id="Re4e4ffa8aedf4190" /><Relationship Type="http://schemas.openxmlformats.org/officeDocument/2006/relationships/slide" Target="/ppt/slides/slide15.xml" Id="R702b748e03cf4d2d" /><Relationship Type="http://schemas.openxmlformats.org/officeDocument/2006/relationships/slide" Target="/ppt/slides/slide16.xml" Id="R47f957f69aa443d8" /><Relationship Type="http://schemas.openxmlformats.org/officeDocument/2006/relationships/slide" Target="/ppt/slides/slide17.xml" Id="Raacc1a334a47471f" /><Relationship Type="http://schemas.openxmlformats.org/officeDocument/2006/relationships/slide" Target="/ppt/slides/slide18.xml" Id="R760dcab8b8f44a5b" /><Relationship Type="http://schemas.openxmlformats.org/officeDocument/2006/relationships/slide" Target="/ppt/slides/slide19.xml" Id="Rb7f222bc0de448f1" /><Relationship Type="http://schemas.openxmlformats.org/officeDocument/2006/relationships/slide" Target="/ppt/slides/slide20.xml" Id="R30c7b7461d8a406e" /><Relationship Type="http://schemas.openxmlformats.org/officeDocument/2006/relationships/slide" Target="/ppt/slides/slide21.xml" Id="R8201d240c0c6489c" /><Relationship Type="http://schemas.openxmlformats.org/officeDocument/2006/relationships/slide" Target="/ppt/slides/slide22.xml" Id="Rf08318e632b645ea" /><Relationship Type="http://schemas.openxmlformats.org/officeDocument/2006/relationships/slide" Target="/ppt/slides/slide23.xml" Id="R4253425e13af43eb" /><Relationship Type="http://schemas.openxmlformats.org/officeDocument/2006/relationships/slide" Target="/ppt/slides/slide24.xml" Id="R640f76f5da134d74" /><Relationship Type="http://schemas.openxmlformats.org/officeDocument/2006/relationships/slide" Target="/ppt/slides/slide25.xml" Id="R854ece097fd142ae" /><Relationship Type="http://schemas.openxmlformats.org/officeDocument/2006/relationships/slide" Target="/ppt/slides/slide26.xml" Id="Rd45871719e3d49b0" /><Relationship Type="http://schemas.openxmlformats.org/officeDocument/2006/relationships/slide" Target="/ppt/slides/slide27.xml" Id="R734c40c130134e2c" /><Relationship Type="http://schemas.openxmlformats.org/officeDocument/2006/relationships/slide" Target="/ppt/slides/slide28.xml" Id="Rb5d0faa7f9fb4d9a" /><Relationship Type="http://schemas.openxmlformats.org/officeDocument/2006/relationships/slide" Target="/ppt/slides/slide29.xml" Id="R1e3a001346914c35" /><Relationship Type="http://schemas.openxmlformats.org/officeDocument/2006/relationships/slide" Target="/ppt/slides/slide30.xml" Id="R15a8bdcfac2f412d" /><Relationship Type="http://schemas.openxmlformats.org/officeDocument/2006/relationships/slide" Target="/ppt/slides/slide31.xml" Id="Rc32bc1d5957a45e1" /><Relationship Type="http://schemas.openxmlformats.org/officeDocument/2006/relationships/slide" Target="/ppt/slides/slide32.xml" Id="Rb4f39bbe05f84c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a7a77f42194d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ffd68e18a6416b" /><Relationship Type="http://schemas.openxmlformats.org/officeDocument/2006/relationships/notesMaster" Target="/ppt/notesMasters/notesMaster1.xml" Id="Rd889c3f5399c4e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d260cf81bb4159" /><Relationship Type="http://schemas.openxmlformats.org/officeDocument/2006/relationships/notesMaster" Target="/ppt/notesMasters/notesMaster1.xml" Id="R1772155a63a74e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bf3c82658b42c0" /><Relationship Type="http://schemas.openxmlformats.org/officeDocument/2006/relationships/notesMaster" Target="/ppt/notesMasters/notesMaster1.xml" Id="Redf45992ca7948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4e3ffcb6df4464" /><Relationship Type="http://schemas.openxmlformats.org/officeDocument/2006/relationships/notesMaster" Target="/ppt/notesMasters/notesMaster1.xml" Id="R60c86a97999048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ec0decc9f74649" /><Relationship Type="http://schemas.openxmlformats.org/officeDocument/2006/relationships/notesMaster" Target="/ppt/notesMasters/notesMaster1.xml" Id="R3a92e876d4824c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6cd4e6c09c42d1" /><Relationship Type="http://schemas.openxmlformats.org/officeDocument/2006/relationships/notesMaster" Target="/ppt/notesMasters/notesMaster1.xml" Id="R354fcfa6d6e845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ffd39b73fd459c" /><Relationship Type="http://schemas.openxmlformats.org/officeDocument/2006/relationships/notesMaster" Target="/ppt/notesMasters/notesMaster1.xml" Id="R06a9088a501a4e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254f13a43c4b56" /><Relationship Type="http://schemas.openxmlformats.org/officeDocument/2006/relationships/notesMaster" Target="/ppt/notesMasters/notesMaster1.xml" Id="R084c7aaf8e004f1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bf98dbe77d4d8f" /><Relationship Type="http://schemas.openxmlformats.org/officeDocument/2006/relationships/notesMaster" Target="/ppt/notesMasters/notesMaster1.xml" Id="R0f891bb4154b4a8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d9f942ad494797" /><Relationship Type="http://schemas.openxmlformats.org/officeDocument/2006/relationships/notesMaster" Target="/ppt/notesMasters/notesMaster1.xml" Id="Rb3d59e0a7c7b4ab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219473df8c41b9" /><Relationship Type="http://schemas.openxmlformats.org/officeDocument/2006/relationships/notesMaster" Target="/ppt/notesMasters/notesMaster1.xml" Id="R84ddcaf20cf9416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b87427079b34c57" /><Relationship Type="http://schemas.openxmlformats.org/officeDocument/2006/relationships/notesMaster" Target="/ppt/notesMasters/notesMaster1.xml" Id="R930540c28cad406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ff013bb53064f1f" /><Relationship Type="http://schemas.openxmlformats.org/officeDocument/2006/relationships/notesMaster" Target="/ppt/notesMasters/notesMaster1.xml" Id="Re689b0424463477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6e013bb5e6a4957" /><Relationship Type="http://schemas.openxmlformats.org/officeDocument/2006/relationships/notesMaster" Target="/ppt/notesMasters/notesMaster1.xml" Id="Ref6c8aa7045b4b4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d872526afe945f9" /><Relationship Type="http://schemas.openxmlformats.org/officeDocument/2006/relationships/notesMaster" Target="/ppt/notesMasters/notesMaster1.xml" Id="R16d0aa8e236c493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7616427c04d44ba" /><Relationship Type="http://schemas.openxmlformats.org/officeDocument/2006/relationships/notesMaster" Target="/ppt/notesMasters/notesMaster1.xml" Id="Rc94e19fd72b64be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bbb1adc320c4379" /><Relationship Type="http://schemas.openxmlformats.org/officeDocument/2006/relationships/notesMaster" Target="/ppt/notesMasters/notesMaster1.xml" Id="R6e671d98f824414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bfb52b9fc9241b0" /><Relationship Type="http://schemas.openxmlformats.org/officeDocument/2006/relationships/notesMaster" Target="/ppt/notesMasters/notesMaster1.xml" Id="R791791a3b0c8468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09ee2f8a3064e61" /><Relationship Type="http://schemas.openxmlformats.org/officeDocument/2006/relationships/notesMaster" Target="/ppt/notesMasters/notesMaster1.xml" Id="R3f16b89b515240c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e9a120f86b24a37" /><Relationship Type="http://schemas.openxmlformats.org/officeDocument/2006/relationships/notesMaster" Target="/ppt/notesMasters/notesMaster1.xml" Id="Rf44672655f30458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2ac7448f8e7481c" /><Relationship Type="http://schemas.openxmlformats.org/officeDocument/2006/relationships/notesMaster" Target="/ppt/notesMasters/notesMaster1.xml" Id="Rb205758c19ba424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c66e123bbbb45ff" /><Relationship Type="http://schemas.openxmlformats.org/officeDocument/2006/relationships/notesMaster" Target="/ppt/notesMasters/notesMaster1.xml" Id="Rb90e6876243e451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000e5122dc641b4" /><Relationship Type="http://schemas.openxmlformats.org/officeDocument/2006/relationships/notesMaster" Target="/ppt/notesMasters/notesMaster1.xml" Id="R760e610480df4ec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5b2c637b3ba42a5" /><Relationship Type="http://schemas.openxmlformats.org/officeDocument/2006/relationships/notesMaster" Target="/ppt/notesMasters/notesMaster1.xml" Id="Rfe294de60eed432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bc47e423e644460" /><Relationship Type="http://schemas.openxmlformats.org/officeDocument/2006/relationships/notesMaster" Target="/ppt/notesMasters/notesMaster1.xml" Id="R02ef141cfd8249f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13bb4b73c36422d" /><Relationship Type="http://schemas.openxmlformats.org/officeDocument/2006/relationships/notesMaster" Target="/ppt/notesMasters/notesMaster1.xml" Id="Rbc96a8b7971b472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45ec003182c4fc5" /><Relationship Type="http://schemas.openxmlformats.org/officeDocument/2006/relationships/notesMaster" Target="/ppt/notesMasters/notesMaster1.xml" Id="Reb49a5e2e9b74a9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217bb45fc974551" /><Relationship Type="http://schemas.openxmlformats.org/officeDocument/2006/relationships/notesMaster" Target="/ppt/notesMasters/notesMaster1.xml" Id="R0b4feb075e8145f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5c146cb76af4e3c" /><Relationship Type="http://schemas.openxmlformats.org/officeDocument/2006/relationships/notesMaster" Target="/ppt/notesMasters/notesMaster1.xml" Id="R0d1207cda4144ab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b2372b7b2f248c0" /><Relationship Type="http://schemas.openxmlformats.org/officeDocument/2006/relationships/notesMaster" Target="/ppt/notesMasters/notesMaster1.xml" Id="Ra584ad0b6f4041f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81fc8ea374946e8" /><Relationship Type="http://schemas.openxmlformats.org/officeDocument/2006/relationships/notesMaster" Target="/ppt/notesMasters/notesMaster1.xml" Id="R02282320e59846b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7a56533ba194a9d" /><Relationship Type="http://schemas.openxmlformats.org/officeDocument/2006/relationships/notesMaster" Target="/ppt/notesMasters/notesMaster1.xml" Id="R0604f613246d40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CareNow 1.2.1 is a working exhibition prototype. The team stated Innovator Exhibitor intent. No selection, endorsement, commercial traction or clinical effectiveness is claimed. Cover artwork is an original AI-generated editorial illustration. Public context: https://innovationfairbd.org/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how the household context persists across services. Roles share a demo session, not independently authenticated production accounts.</a:t>
            </a:r>
          </a:p>
          <a:p xmlns:a="http://schemas.openxmlformats.org/drawingml/2006/main">
            <a:r>
              <a:t/>
            </a:r>
          </a:p>
          <a:p xmlns:a="http://schemas.openxmlformats.org/drawingml/2006/main">
            <a:r>
              <a:t>[16] CareNow repository: Product and verification evidence</a:t>
            </a:r>
          </a:p>
          <a:p xmlns:a="http://schemas.openxmlformats.org/drawingml/2006/main">
            <a:r>
              <a:t>https://github.com/Seyamalam/CareNow</a:t>
            </a:r>
          </a:p>
          <a:p xmlns:a="http://schemas.openxmlformats.org/drawingml/2006/main">
            <a:r>
              <a:t>Source, release APK, README screenshots, QA, transport, performance and visual review of the private original brief. Repository evidence is project-authored, not independent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indicators have different observation years and denominators. Population and connectivity support context, not a revenue forecast. Internet subscriptions are not unique people. BSS reports a historical health-spending share.</a:t>
            </a:r>
          </a:p>
          <a:p xmlns:a="http://schemas.openxmlformats.org/drawingml/2006/main">
            <a:r>
              <a:t/>
            </a:r>
          </a:p>
          <a:p xmlns:a="http://schemas.openxmlformats.org/drawingml/2006/main">
            <a:r>
              <a:t>[1] World Bank: Bangladesh country indicators</a:t>
            </a:r>
          </a:p>
          <a:p xmlns:a="http://schemas.openxmlformats.org/drawingml/2006/main">
            <a:r>
              <a:t>https://data.worldbank.org/country/bangladesh?lang=en</a:t>
            </a:r>
          </a:p>
          <a:p xmlns:a="http://schemas.openxmlformats.org/drawingml/2006/main">
            <a:r>
              <a:t>Population 175,686,899 in 2025 and individuals using the internet 53% in 2024. Different indicators have different observation years.</a:t>
            </a:r>
          </a:p>
          <a:p xmlns:a="http://schemas.openxmlformats.org/drawingml/2006/main">
            <a:r>
              <a:t/>
            </a:r>
          </a:p>
          <a:p xmlns:a="http://schemas.openxmlformats.org/drawingml/2006/main">
            <a:r>
              <a:t>[2] BTRC: Internet subscribers</a:t>
            </a:r>
          </a:p>
          <a:p xmlns:a="http://schemas.openxmlformats.org/drawingml/2006/main">
            <a:r>
              <a:t>https://btrc.gov.bd/site/page/347df7fe-409f-451e-a415-65b109a207f5/-</a:t>
            </a:r>
          </a:p>
          <a:p xmlns:a="http://schemas.openxmlformats.org/drawingml/2006/main">
            <a:r>
              <a:t>January 2026: 114.22 million mobile and 14.77 million ISP/PSTN subscriptions, 128.99 million total. Subscriptions are not unique people.</a:t>
            </a:r>
          </a:p>
          <a:p xmlns:a="http://schemas.openxmlformats.org/drawingml/2006/main">
            <a:r>
              <a:t/>
            </a:r>
          </a:p>
          <a:p xmlns:a="http://schemas.openxmlformats.org/drawingml/2006/main">
            <a:r>
              <a:t>[4] Bangladesh Sangbad Sangstha: Out of pocket healthcare expenditure rises to 73pc study</a:t>
            </a:r>
          </a:p>
          <a:p xmlns:a="http://schemas.openxmlformats.org/drawingml/2006/main">
            <a:r>
              <a:t>https://www.bssnews.net/news/200361</a:t>
            </a:r>
          </a:p>
          <a:p xmlns:a="http://schemas.openxmlformats.org/drawingml/2006/main">
            <a:r>
              <a:t>15 July 2024 report of Bangladesh National Health Accounts: 73% out of pocket in 2021. Historical expenditure context, not a current app market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hypotheses derived from the brief and prototype, not completed user research. Compare them with the actual calls, messages and provider contacts used by each household.</a:t>
            </a:r>
          </a:p>
          <a:p xmlns:a="http://schemas.openxmlformats.org/drawingml/2006/main">
            <a:r>
              <a:t/>
            </a:r>
          </a:p>
          <a:p xmlns:a="http://schemas.openxmlformats.org/drawingml/2006/main">
            <a:r>
              <a:t>[16] CareNow repository: Product and verification evidence</a:t>
            </a:r>
          </a:p>
          <a:p xmlns:a="http://schemas.openxmlformats.org/drawingml/2006/main">
            <a:r>
              <a:t>https://github.com/Seyamalam/CareNow</a:t>
            </a:r>
          </a:p>
          <a:p xmlns:a="http://schemas.openxmlformats.org/drawingml/2006/main">
            <a:r>
              <a:t>Source, release APK, README screenshots, QA, transport, performance and visual review of the private original brief. Repository evidence is project-authored, not independent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Corrected Android release captures. Doctor identities, qualifications, ratings and fees are fictional. Real booking state persists, but no clinician or payment service is connected.</a:t>
            </a:r>
          </a:p>
          <a:p xmlns:a="http://schemas.openxmlformats.org/drawingml/2006/main">
            <a:r>
              <a:t/>
            </a:r>
          </a:p>
          <a:p xmlns:a="http://schemas.openxmlformats.org/drawingml/2006/main">
            <a:r>
              <a:t>[16] CareNow repository: Product and verification evidence</a:t>
            </a:r>
          </a:p>
          <a:p xmlns:a="http://schemas.openxmlformats.org/drawingml/2006/main">
            <a:r>
              <a:t>https://github.com/Seyamalam/CareNow</a:t>
            </a:r>
          </a:p>
          <a:p xmlns:a="http://schemas.openxmlformats.org/drawingml/2006/main">
            <a:r>
              <a:t>Source, release APK, README screenshots, QA, transport, performance and visual review of the private original brief. Repository evidence is project-authored, not independent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brief includes elderly care, motherhood, child support and emergency services. Request fields include city, address, shift and plan duration. Clinical scope still requires qualified review.</a:t>
            </a:r>
          </a:p>
          <a:p xmlns:a="http://schemas.openxmlformats.org/drawingml/2006/main">
            <a:r>
              <a:t/>
            </a:r>
          </a:p>
          <a:p xmlns:a="http://schemas.openxmlformats.org/drawingml/2006/main">
            <a:r>
              <a:t>[16] CareNow repository: Product and verification evidence</a:t>
            </a:r>
          </a:p>
          <a:p xmlns:a="http://schemas.openxmlformats.org/drawingml/2006/main">
            <a:r>
              <a:t>https://github.com/Seyamalam/CareNow</a:t>
            </a:r>
          </a:p>
          <a:p xmlns:a="http://schemas.openxmlformats.org/drawingml/2006/main">
            <a:r>
              <a:t>Source, release APK, README screenshots, QA, transport, performance and visual review of the private original brief. Repository evidence is project-authored, not independent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care map uses saved route geometry. The marker and arrival estimate are simulated and do not represent a dispatched worker.</a:t>
            </a:r>
          </a:p>
          <a:p xmlns:a="http://schemas.openxmlformats.org/drawingml/2006/main">
            <a:r>
              <a:t/>
            </a:r>
          </a:p>
          <a:p xmlns:a="http://schemas.openxmlformats.org/drawingml/2006/main">
            <a:r>
              <a:t>[16] CareNow repository: Product and verification evidence</a:t>
            </a:r>
          </a:p>
          <a:p xmlns:a="http://schemas.openxmlformats.org/drawingml/2006/main">
            <a:r>
              <a:t>https://github.com/Seyamalam/CareNow</a:t>
            </a:r>
          </a:p>
          <a:p xmlns:a="http://schemas.openxmlformats.org/drawingml/2006/main">
            <a:r>
              <a:t>Source, release APK, README screenshots, QA, transport, performance and visual review of the private original brief. Repository evidence is project-authored, not independent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MapLibre renders native streets with OpenStreetMap/OpenFreeMap styling and saved OSRM road geometries. Five Dhaka landmarks and twenty directional route pairs are bundled. No actual GPS dispatch or payments.</a:t>
            </a:r>
          </a:p>
          <a:p xmlns:a="http://schemas.openxmlformats.org/drawingml/2006/main">
            <a:r>
              <a:t/>
            </a:r>
          </a:p>
          <a:p xmlns:a="http://schemas.openxmlformats.org/drawingml/2006/main">
            <a:r>
              <a:t>[16] CareNow repository: Product and verification evidence</a:t>
            </a:r>
          </a:p>
          <a:p xmlns:a="http://schemas.openxmlformats.org/drawingml/2006/main">
            <a:r>
              <a:t>https://github.com/Seyamalam/CareNow</a:t>
            </a:r>
          </a:p>
          <a:p xmlns:a="http://schemas.openxmlformats.org/drawingml/2006/main">
            <a:r>
              <a:t>Source, release APK, README screenshots, QA, transport, performance and visual review of the private original brief. Repository evidence is project-authored, not independent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image is an AI-generated editorial scene. No fleet exists as a result of this illustration. Broad transport is user-requested, but each category requires separate supplier verification and operational rules.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organisational tools do not diagnose, prescribe or establish therapeutic effectiveness. All visible clinical content is fictional demonstration data.</a:t>
            </a:r>
          </a:p>
          <a:p xmlns:a="http://schemas.openxmlformats.org/drawingml/2006/main">
            <a:r>
              <a:t/>
            </a:r>
          </a:p>
          <a:p xmlns:a="http://schemas.openxmlformats.org/drawingml/2006/main">
            <a:r>
              <a:t>[16] CareNow repository: Product and verification evidence</a:t>
            </a:r>
          </a:p>
          <a:p xmlns:a="http://schemas.openxmlformats.org/drawingml/2006/main">
            <a:r>
              <a:t>https://github.com/Seyamalam/CareNow</a:t>
            </a:r>
          </a:p>
          <a:p xmlns:a="http://schemas.openxmlformats.org/drawingml/2006/main">
            <a:r>
              <a:t>Source, release APK, README screenshots, QA, transport, performance and visual review of the private original brief. Repository evidence is project-authored, not independent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web captures show the same application from three professional roles. The switcher supports one isolated exhibit session. Production needs individual identity, membership and object-level access rules.</a:t>
            </a:r>
          </a:p>
          <a:p xmlns:a="http://schemas.openxmlformats.org/drawingml/2006/main">
            <a:r>
              <a:t/>
            </a:r>
          </a:p>
          <a:p xmlns:a="http://schemas.openxmlformats.org/drawingml/2006/main">
            <a:r>
              <a:t>[16] CareNow repository: Product and verification evidence</a:t>
            </a:r>
          </a:p>
          <a:p xmlns:a="http://schemas.openxmlformats.org/drawingml/2006/main">
            <a:r>
              <a:t>https://github.com/Seyamalam/CareNow</a:t>
            </a:r>
          </a:p>
          <a:p xmlns:a="http://schemas.openxmlformats.org/drawingml/2006/main">
            <a:r>
              <a:t>Source, release APK, README screenshots, QA, transport, performance and visual review of the private original brief. Repository evidence is project-authored, not independent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provides working application state and D1 persistence, but real service delivery requires external integrations and governance.</a:t>
            </a:r>
          </a:p>
          <a:p xmlns:a="http://schemas.openxmlformats.org/drawingml/2006/main">
            <a:r>
              <a:t/>
            </a:r>
          </a:p>
          <a:p xmlns:a="http://schemas.openxmlformats.org/drawingml/2006/main">
            <a:r>
              <a:t>[16] CareNow repository: Product and verification evidence</a:t>
            </a:r>
          </a:p>
          <a:p xmlns:a="http://schemas.openxmlformats.org/drawingml/2006/main">
            <a:r>
              <a:t>https://github.com/Seyamalam/CareNow</a:t>
            </a:r>
          </a:p>
          <a:p xmlns:a="http://schemas.openxmlformats.org/drawingml/2006/main">
            <a:r>
              <a:t>Source, release APK, README screenshots, QA, transport, performance and visual review of the private original brief. Repository evidence is project-authored, not independent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website review only. It is not an exhaustive feature audit or service-quality ranking. An unlisted feature is not evidence of absence. Familiar local providers and phone contacts are also substitutes.</a:t>
            </a:r>
          </a:p>
          <a:p xmlns:a="http://schemas.openxmlformats.org/drawingml/2006/main">
            <a:r>
              <a:t/>
            </a:r>
          </a:p>
          <a:p xmlns:a="http://schemas.openxmlformats.org/drawingml/2006/main">
            <a:r>
              <a:t>[6] DocTime: Official service website</a:t>
            </a:r>
          </a:p>
          <a:p xmlns:a="http://schemas.openxmlformats.org/drawingml/2006/main">
            <a:r>
              <a:t>https://doctime.com.bd/</a:t>
            </a:r>
          </a:p>
          <a:p xmlns:a="http://schemas.openxmlformats.org/drawingml/2006/main">
            <a:r>
              <a:t>Public website advertises video consultation and an enterprise offering. This review did not test service delivery.</a:t>
            </a:r>
          </a:p>
          <a:p xmlns:a="http://schemas.openxmlformats.org/drawingml/2006/main">
            <a:r>
              <a:t/>
            </a:r>
          </a:p>
          <a:p xmlns:a="http://schemas.openxmlformats.org/drawingml/2006/main">
            <a:r>
              <a:t>[7] Praava Health: Ghore Lab</a:t>
            </a:r>
          </a:p>
          <a:p xmlns:a="http://schemas.openxmlformats.org/drawingml/2006/main">
            <a:r>
              <a:t>https://web.praavahealth.com/ghore-lab</a:t>
            </a:r>
          </a:p>
          <a:p xmlns:a="http://schemas.openxmlformats.org/drawingml/2006/main">
            <a:r>
              <a:t>Public page describes home sample collection and laboratory testing with an online request form.</a:t>
            </a:r>
          </a:p>
          <a:p xmlns:a="http://schemas.openxmlformats.org/drawingml/2006/main">
            <a:r>
              <a:t/>
            </a:r>
          </a:p>
          <a:p xmlns:a="http://schemas.openxmlformats.org/drawingml/2006/main">
            <a:r>
              <a:t>[8] HelloTask: Official service website</a:t>
            </a:r>
          </a:p>
          <a:p xmlns:a="http://schemas.openxmlformats.org/drawingml/2006/main">
            <a:r>
              <a:t>https://www.hellotask.app/</a:t>
            </a:r>
          </a:p>
          <a:p xmlns:a="http://schemas.openxmlformats.org/drawingml/2006/main">
            <a:r>
              <a:t>Public website identifies a domestic worker service. Domestic assistance and regulated clinical care are distinct.</a:t>
            </a:r>
          </a:p>
          <a:p xmlns:a="http://schemas.openxmlformats.org/drawingml/2006/main">
            <a:r>
              <a:t/>
            </a:r>
          </a:p>
          <a:p xmlns:a="http://schemas.openxmlformats.org/drawingml/2006/main">
            <a:r>
              <a:t>[9] Truck Lagbe: Official service website</a:t>
            </a:r>
          </a:p>
          <a:p xmlns:a="http://schemas.openxmlformats.org/drawingml/2006/main">
            <a:r>
              <a:t>https://www.trucklagbe.com/</a:t>
            </a:r>
          </a:p>
          <a:p xmlns:a="http://schemas.openxmlformats.org/drawingml/2006/main">
            <a:r>
              <a:t>Truck booking, vendor bidding, cargo/loading details, shifting and business logistics. Marketing volume and savings claims are excluded.</a:t>
            </a:r>
          </a:p>
          <a:p xmlns:a="http://schemas.openxmlformats.org/drawingml/2006/main">
            <a:r>
              <a:t/>
            </a:r>
          </a:p>
          <a:p xmlns:a="http://schemas.openxmlformats.org/drawingml/2006/main">
            <a:r>
              <a:t>[10] Shohoz: Official service website</a:t>
            </a:r>
          </a:p>
          <a:p xmlns:a="http://schemas.openxmlformats.org/drawingml/2006/main">
            <a:r>
              <a:t>https://www.shohoz.com/</a:t>
            </a:r>
          </a:p>
          <a:p xmlns:a="http://schemas.openxmlformats.org/drawingml/2006/main">
            <a:r>
              <a:t>Bus, train, flight and event ticket booking. Bus ticketing is distinct from whole-vehicle charter.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customer counts are assumptions, not measured TAM, SAM or SOM. Annual GMV = households × 2.4 bookings × BDT 1,500. A 12% fee produces BDT 432k, 8.64m and 43.2m respectively. GMV is not revenue.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 booking BDT 1,500. Platform fee BDT 180 at 12%. Variable costs: payment 30, support 35, service recovery 15. Contribution 100 before acquisition, fixed costs and tax. CAC 600 takes six completed bookings or about 30 months at 2.4 bookings per year.</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quotes or commitments. Base BDT 2,060,000, contingency 15% = 309,000, total BDT 2,369,000. Excludes vehicles, facilities, major insurance, broad 24/7 dispatch and provider-payout financing.</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Cloudflare prices accessed 5 September 2026. Assumes the account has no other usage consuming included allowances. D1 below paid allowances. These estimates exclude maps, media, OTP, monitoring vendors, payments, support and taxes.</a:t>
            </a:r>
          </a:p>
          <a:p xmlns:a="http://schemas.openxmlformats.org/drawingml/2006/main">
            <a:r>
              <a:t/>
            </a:r>
          </a:p>
          <a:p xmlns:a="http://schemas.openxmlformats.org/drawingml/2006/main">
            <a:r>
              <a:t>[11] Cloudflare: Workers pricing</a:t>
            </a:r>
          </a:p>
          <a:p xmlns:a="http://schemas.openxmlformats.org/drawingml/2006/main">
            <a:r>
              <a:t>https://developers.cloudflare.com/workers/platform/pricing/</a:t>
            </a:r>
          </a:p>
          <a:p xmlns:a="http://schemas.openxmlformats.org/drawingml/2006/main">
            <a:r>
              <a:t>Paid plan minimum USD 5 per account per month, 10 million requests and 30 million CPU milliseconds included. Additional requests USD 0.30 per million and CPU USD 0.02 per million milliseconds.</a:t>
            </a:r>
          </a:p>
          <a:p xmlns:a="http://schemas.openxmlformats.org/drawingml/2006/main">
            <a:r>
              <a:t/>
            </a:r>
          </a:p>
          <a:p xmlns:a="http://schemas.openxmlformats.org/drawingml/2006/main">
            <a:r>
              <a:t>[12] Cloudflare: D1 pricing</a:t>
            </a:r>
          </a:p>
          <a:p xmlns:a="http://schemas.openxmlformats.org/drawingml/2006/main">
            <a:r>
              <a:t>https://developers.cloudflare.com/d1/platform/pricing/</a:t>
            </a:r>
          </a:p>
          <a:p xmlns:a="http://schemas.openxmlformats.org/drawingml/2006/main">
            <a:r>
              <a:t>Paid plan includes 25 billion rows read, 50 million rows written per month and 5 GB storage. Overage USD 0.001 per million reads, USD 1 per million writes, USD 0.75 per GB-month.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demo architecture. The aggregate is deliberately bounded. Production normalization, external identity, live communications and GPS are future work. Offline rehearsal stores separate local fixtures and does not sync them into cloud.</a:t>
            </a:r>
          </a:p>
          <a:p xmlns:a="http://schemas.openxmlformats.org/drawingml/2006/main">
            <a:r>
              <a:t/>
            </a:r>
          </a:p>
          <a:p xmlns:a="http://schemas.openxmlformats.org/drawingml/2006/main">
            <a:r>
              <a:t>[16] CareNow repository: Product and verification evidence</a:t>
            </a:r>
          </a:p>
          <a:p xmlns:a="http://schemas.openxmlformats.org/drawingml/2006/main">
            <a:r>
              <a:t>https://github.com/Seyamalam/CareNow</a:t>
            </a:r>
          </a:p>
          <a:p xmlns:a="http://schemas.openxmlformats.org/drawingml/2006/main">
            <a:r>
              <a:t>Source, release APK, README screenshots, QA, transport, performance and visual review of the private original brief. Repository evidence is project-authored, not independent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D1 uses version checks and up to four conflict retries for the session aggregate. Prepared SQL and session-scoped access apply. The role switcher is not production authentication.</a:t>
            </a:r>
          </a:p>
          <a:p xmlns:a="http://schemas.openxmlformats.org/drawingml/2006/main">
            <a:r>
              <a:t/>
            </a:r>
          </a:p>
          <a:p xmlns:a="http://schemas.openxmlformats.org/drawingml/2006/main">
            <a:r>
              <a:t>[16] CareNow repository: Product and verification evidence</a:t>
            </a:r>
          </a:p>
          <a:p xmlns:a="http://schemas.openxmlformats.org/drawingml/2006/main">
            <a:r>
              <a:t>https://github.com/Seyamalam/CareNow</a:t>
            </a:r>
          </a:p>
          <a:p xmlns:a="http://schemas.openxmlformats.org/drawingml/2006/main">
            <a:r>
              <a:t>Source, release APK, README screenshots, QA, transport, performance and visual review of the private original brief. Repository evidence is project-authored, not independent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Tokens are SHA-256 hashed at rest and demo sessions expire after seven days. AsyncStorage is not a production credential vault. Attachment signature and ownership checks do not replace a clinical security review.</a:t>
            </a:r>
          </a:p>
          <a:p xmlns:a="http://schemas.openxmlformats.org/drawingml/2006/main">
            <a:r>
              <a:t/>
            </a:r>
          </a:p>
          <a:p xmlns:a="http://schemas.openxmlformats.org/drawingml/2006/main">
            <a:r>
              <a:t>[16] CareNow repository: Product and verification evidence</a:t>
            </a:r>
          </a:p>
          <a:p xmlns:a="http://schemas.openxmlformats.org/drawingml/2006/main">
            <a:r>
              <a:t>https://github.com/Seyamalam/CareNow</a:t>
            </a:r>
          </a:p>
          <a:p xmlns:a="http://schemas.openxmlformats.org/drawingml/2006/main">
            <a:r>
              <a:t>Source, release APK, README screenshots, QA, transport, performance and visual review of the private original brief. Repository evidence is project-authored, not independent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DGHS lists its National Telehealth Guideline for Bangladesh on 29 March 2026. The hosted PDF discusses broad responsibilities. Confirm applicable DGHS and BMDC requirements with competent advisers. This is not a legal opinion.</a:t>
            </a:r>
          </a:p>
          <a:p xmlns:a="http://schemas.openxmlformats.org/drawingml/2006/main">
            <a:r>
              <a:t/>
            </a:r>
          </a:p>
          <a:p xmlns:a="http://schemas.openxmlformats.org/drawingml/2006/main">
            <a:r>
              <a:t>[13] DGHS: National Telehealth Guideline for Bangladesh</a:t>
            </a:r>
          </a:p>
          <a:p xmlns:a="http://schemas.openxmlformats.org/drawingml/2006/main">
            <a:r>
              <a:t>https://dghs.portal.gov.bd/pages/miscellaneous-infos</a:t>
            </a:r>
          </a:p>
          <a:p xmlns:a="http://schemas.openxmlformats.org/drawingml/2006/main">
            <a:r>
              <a:t>Official publication listing dated 29 March 2026. The linked PDF discusses governance, workforce and legal and ethical responsibilities. Applicability must be confirmed with competent advisers before a pilot.</a:t>
            </a:r>
          </a:p>
          <a:p xmlns:a="http://schemas.openxmlformats.org/drawingml/2006/main">
            <a:r>
              <a:t/>
            </a:r>
          </a:p>
          <a:p xmlns:a="http://schemas.openxmlformats.org/drawingml/2006/main">
            <a:r>
              <a:t>[14] DGHS: National Telehealth Guideline PDF</a:t>
            </a:r>
          </a:p>
          <a:p xmlns:a="http://schemas.openxmlformats.org/drawingml/2006/main">
            <a:r>
              <a:t>https://objectstorage.ap-dcc-gazipur-1.oraclecloud15.com/n/axvjbnqprylg/b/V2Ministry/o/office-dghs/2026/2/0420ffe2-8247-454a-8902-4f2cdfe85c18.pdf</a:t>
            </a:r>
          </a:p>
          <a:p xmlns:a="http://schemas.openxmlformats.org/drawingml/2006/main">
            <a:r>
              <a:t>Official hosted PDF, executive summary and scope. This report does not interpret it as an approval for CareNow.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recruitment targets only: 24 households, 8 care professionals, 6 drivers, 4 provider operators. Not representative or completed research. Seek appropriate ethics review. Khatun et al offers relevant service-quality constructs but cannot validate CareNow.</a:t>
            </a:r>
          </a:p>
          <a:p xmlns:a="http://schemas.openxmlformats.org/drawingml/2006/main">
            <a:r>
              <a:t/>
            </a:r>
          </a:p>
          <a:p xmlns:a="http://schemas.openxmlformats.org/drawingml/2006/main">
            <a:r>
              <a:t>[5] Khatun et al: Users Perceived Service Quality of National Telemedicine Services During the COVID 19 Pandemic in Bangladesh</a:t>
            </a:r>
          </a:p>
          <a:p xmlns:a="http://schemas.openxmlformats.org/drawingml/2006/main">
            <a:r>
              <a:t>https://humanfactors.jmir.org/2024/1/e46566/</a:t>
            </a:r>
          </a:p>
          <a:p xmlns:a="http://schemas.openxmlformats.org/drawingml/2006/main">
            <a:r>
              <a:t>JMIR Human Factors 2024;11:e46566. Cross-sectional study of 2,097 Shastho Batayon users surveyed in October to December 2020. DOI 10.2196/46566.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Targets require partner agreement and meaningful denominators. Report absolute counts. Serious safety/privacy issues trigger review regardless of satisfaction averages. No outcomes have been measured yet.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Prior 1.2 release, Android emulator, 1080×2400. Route sample: 1,497 frames in about 25.3 seconds, 0.80% deadline jank, legacy jank 97.80%, p50/p95 24/28ms. Sheet samples: 1.1 13.42% jank, 1.2 under host load 35.39%. Conditions confound the comparison. No universal 60 fps claim.</a:t>
            </a:r>
          </a:p>
          <a:p xmlns:a="http://schemas.openxmlformats.org/drawingml/2006/main">
            <a:r>
              <a:t/>
            </a:r>
          </a:p>
          <a:p xmlns:a="http://schemas.openxmlformats.org/drawingml/2006/main">
            <a:r>
              <a:t>[16] CareNow repository: Product and verification evidence</a:t>
            </a:r>
          </a:p>
          <a:p xmlns:a="http://schemas.openxmlformats.org/drawingml/2006/main">
            <a:r>
              <a:t>https://github.com/Seyamalam/CareNow</a:t>
            </a:r>
          </a:p>
          <a:p xmlns:a="http://schemas.openxmlformats.org/drawingml/2006/main">
            <a:r>
              <a:t>Source, release APK, README screenshots, QA, transport, performance and visual review of the private original brief. Repository evidence is project-authored, not independent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roles, not appointed staff. A named owner should be able to stop an unsafe or unserviceable activity. No partner commitments are claimed.</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sequence, not a nationwide launch commitment. Pause or narrow scope when a gate fails. Identity and operating readiness precede real-service research.</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investment, partnership or endorsement has been secured by this report. The BDT 2.369 million is a planning envelope, not a valuation. Funding should follow scope, quotations and readiness milestones.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one coherent job. Presenter scenarios include ambulance, caregiver arrival and group transport. Pause, replay and 1×/3×/8× speed are available. Offline rehearsal is separate from cloud. Prepare the Android APK and never enter real patient data.</a:t>
            </a:r>
          </a:p>
          <a:p xmlns:a="http://schemas.openxmlformats.org/drawingml/2006/main">
            <a:r>
              <a:t/>
            </a:r>
          </a:p>
          <a:p xmlns:a="http://schemas.openxmlformats.org/drawingml/2006/main">
            <a:r>
              <a:t>[16] CareNow repository: Product and verification evidence</a:t>
            </a:r>
          </a:p>
          <a:p xmlns:a="http://schemas.openxmlformats.org/drawingml/2006/main">
            <a:r>
              <a:t>https://github.com/Seyamalam/CareNow</a:t>
            </a:r>
          </a:p>
          <a:p xmlns:a="http://schemas.openxmlformats.org/drawingml/2006/main">
            <a:r>
              <a:t>Source, release APK, README screenshots, QA, transport, performance and visual review of the private original brief. Repository evidence is project-authored, not independent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 the report for detailed boundaries. Every feature here uses fictional exhibition data. Real clinical, payment and dispatch services are not connected.</a:t>
            </a:r>
          </a:p>
          <a:p xmlns:a="http://schemas.openxmlformats.org/drawingml/2006/main">
            <a:r>
              <a:t/>
            </a:r>
          </a:p>
          <a:p xmlns:a="http://schemas.openxmlformats.org/drawingml/2006/main">
            <a:r>
              <a:t>[16] CareNow repository: Product and verification evidence</a:t>
            </a:r>
          </a:p>
          <a:p xmlns:a="http://schemas.openxmlformats.org/drawingml/2006/main">
            <a:r>
              <a:t>https://github.com/Seyamalam/CareNow</a:t>
            </a:r>
          </a:p>
          <a:p xmlns:a="http://schemas.openxmlformats.org/drawingml/2006/main">
            <a:r>
              <a:t>Source, release APK, README screenshots, QA, transport, performance and visual review of the private original brief. Repository evidence is project-authored, not independent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Latest Android release checked at regular size and 360×640 with 120% text. Keyboard-open sheet checked during development on the same layout implementation. 23 web routes and five roles inspected. These are selected visual checks, not complete accessibility certification.</a:t>
            </a:r>
          </a:p>
          <a:p xmlns:a="http://schemas.openxmlformats.org/drawingml/2006/main">
            <a:r>
              <a:t/>
            </a:r>
          </a:p>
          <a:p xmlns:a="http://schemas.openxmlformats.org/drawingml/2006/main">
            <a:r>
              <a:t>[16] CareNow repository: Product and verification evidence</a:t>
            </a:r>
          </a:p>
          <a:p xmlns:a="http://schemas.openxmlformats.org/drawingml/2006/main">
            <a:r>
              <a:t>https://github.com/Seyamalam/CareNow</a:t>
            </a:r>
          </a:p>
          <a:p xmlns:a="http://schemas.openxmlformats.org/drawingml/2006/main">
            <a:r>
              <a:t>Source, release APK, README screenshots, QA, transport, performance and visual review of the private original brief. Repository evidence is project-authored, not independent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sources accessed 5 September 2026. Full URLs and limits are in these notes and the companion report.</a:t>
            </a:r>
          </a:p>
          <a:p xmlns:a="http://schemas.openxmlformats.org/drawingml/2006/main">
            <a:r>
              <a:t/>
            </a:r>
          </a:p>
          <a:p xmlns:a="http://schemas.openxmlformats.org/drawingml/2006/main">
            <a:r>
              <a:t>[1] World Bank: Bangladesh country indicators</a:t>
            </a:r>
          </a:p>
          <a:p xmlns:a="http://schemas.openxmlformats.org/drawingml/2006/main">
            <a:r>
              <a:t>https://data.worldbank.org/country/bangladesh?lang=en</a:t>
            </a:r>
          </a:p>
          <a:p xmlns:a="http://schemas.openxmlformats.org/drawingml/2006/main">
            <a:r>
              <a:t>Population 175,686,899 in 2025 and individuals using the internet 53% in 2024. Different indicators have different observation years.</a:t>
            </a:r>
          </a:p>
          <a:p xmlns:a="http://schemas.openxmlformats.org/drawingml/2006/main">
            <a:r>
              <a:t/>
            </a:r>
          </a:p>
          <a:p xmlns:a="http://schemas.openxmlformats.org/drawingml/2006/main">
            <a:r>
              <a:t>[2] BTRC: Internet subscribers</a:t>
            </a:r>
          </a:p>
          <a:p xmlns:a="http://schemas.openxmlformats.org/drawingml/2006/main">
            <a:r>
              <a:t>https://btrc.gov.bd/site/page/347df7fe-409f-451e-a415-65b109a207f5/-</a:t>
            </a:r>
          </a:p>
          <a:p xmlns:a="http://schemas.openxmlformats.org/drawingml/2006/main">
            <a:r>
              <a:t>January 2026: 114.22 million mobile and 14.77 million ISP/PSTN subscriptions, 128.99 million total. Subscriptions are not unique people.</a:t>
            </a:r>
          </a:p>
          <a:p xmlns:a="http://schemas.openxmlformats.org/drawingml/2006/main">
            <a:r>
              <a:t/>
            </a:r>
          </a:p>
          <a:p xmlns:a="http://schemas.openxmlformats.org/drawingml/2006/main">
            <a:r>
              <a:t>[3] UNFPA Bangladesh: Population trends</a:t>
            </a:r>
          </a:p>
          <a:p xmlns:a="http://schemas.openxmlformats.org/drawingml/2006/main">
            <a:r>
              <a:t>https://bangladesh.unfpa.org/en/topics/population-trends-0?page=1</a:t>
            </a:r>
          </a:p>
          <a:p xmlns:a="http://schemas.openxmlformats.org/drawingml/2006/main">
            <a:r>
              <a:t>Overview reports the share aged 60 and older as 9.3%. The overview does not identify a separate year next to that share. No population multiplication is used here.</a:t>
            </a:r>
          </a:p>
          <a:p xmlns:a="http://schemas.openxmlformats.org/drawingml/2006/main">
            <a:r>
              <a:t/>
            </a:r>
          </a:p>
          <a:p xmlns:a="http://schemas.openxmlformats.org/drawingml/2006/main">
            <a:r>
              <a:t>[4] Bangladesh Sangbad Sangstha: Out of pocket healthcare expenditure rises to 73pc study</a:t>
            </a:r>
          </a:p>
          <a:p xmlns:a="http://schemas.openxmlformats.org/drawingml/2006/main">
            <a:r>
              <a:t>https://www.bssnews.net/news/200361</a:t>
            </a:r>
          </a:p>
          <a:p xmlns:a="http://schemas.openxmlformats.org/drawingml/2006/main">
            <a:r>
              <a:t>15 July 2024 report of Bangladesh National Health Accounts: 73% out of pocket in 2021. Historical expenditure context, not a current app market estimate.</a:t>
            </a:r>
          </a:p>
          <a:p xmlns:a="http://schemas.openxmlformats.org/drawingml/2006/main">
            <a:r>
              <a:t/>
            </a:r>
          </a:p>
          <a:p xmlns:a="http://schemas.openxmlformats.org/drawingml/2006/main">
            <a:r>
              <a:t>[5] Khatun et al: Users Perceived Service Quality of National Telemedicine Services During the COVID 19 Pandemic in Bangladesh</a:t>
            </a:r>
          </a:p>
          <a:p xmlns:a="http://schemas.openxmlformats.org/drawingml/2006/main">
            <a:r>
              <a:t>https://humanfactors.jmir.org/2024/1/e46566/</a:t>
            </a:r>
          </a:p>
          <a:p xmlns:a="http://schemas.openxmlformats.org/drawingml/2006/main">
            <a:r>
              <a:t>JMIR Human Factors 2024;11:e46566. Cross-sectional study of 2,097 Shastho Batayon users surveyed in October to December 2020. DOI 10.2196/46566.</a:t>
            </a:r>
          </a:p>
          <a:p xmlns:a="http://schemas.openxmlformats.org/drawingml/2006/main">
            <a:r>
              <a:t/>
            </a:r>
          </a:p>
          <a:p xmlns:a="http://schemas.openxmlformats.org/drawingml/2006/main">
            <a:r>
              <a:t>[6] DocTime: Official service website</a:t>
            </a:r>
          </a:p>
          <a:p xmlns:a="http://schemas.openxmlformats.org/drawingml/2006/main">
            <a:r>
              <a:t>https://doctime.com.bd/</a:t>
            </a:r>
          </a:p>
          <a:p xmlns:a="http://schemas.openxmlformats.org/drawingml/2006/main">
            <a:r>
              <a:t>Public website advertises video consultation and an enterprise offering. This review did not test service delivery.</a:t>
            </a:r>
          </a:p>
          <a:p xmlns:a="http://schemas.openxmlformats.org/drawingml/2006/main">
            <a:r>
              <a:t/>
            </a:r>
          </a:p>
          <a:p xmlns:a="http://schemas.openxmlformats.org/drawingml/2006/main">
            <a:r>
              <a:t>[7] Praava Health: Ghore Lab</a:t>
            </a:r>
          </a:p>
          <a:p xmlns:a="http://schemas.openxmlformats.org/drawingml/2006/main">
            <a:r>
              <a:t>https://web.praavahealth.com/ghore-lab</a:t>
            </a:r>
          </a:p>
          <a:p xmlns:a="http://schemas.openxmlformats.org/drawingml/2006/main">
            <a:r>
              <a:t>Public page describes home sample collection and laboratory testing with an online request form.</a:t>
            </a:r>
          </a:p>
          <a:p xmlns:a="http://schemas.openxmlformats.org/drawingml/2006/main">
            <a:r>
              <a:t/>
            </a:r>
          </a:p>
          <a:p xmlns:a="http://schemas.openxmlformats.org/drawingml/2006/main">
            <a:r>
              <a:t>[8] HelloTask: Official service website</a:t>
            </a:r>
          </a:p>
          <a:p xmlns:a="http://schemas.openxmlformats.org/drawingml/2006/main">
            <a:r>
              <a:t>https://www.hellotask.app/</a:t>
            </a:r>
          </a:p>
          <a:p xmlns:a="http://schemas.openxmlformats.org/drawingml/2006/main">
            <a:r>
              <a:t>Public website identifies a domestic worker service. Domestic assistance and regulated clinical care are distinct.</a:t>
            </a:r>
          </a:p>
          <a:p xmlns:a="http://schemas.openxmlformats.org/drawingml/2006/main">
            <a:r>
              <a:t/>
            </a:r>
          </a:p>
          <a:p xmlns:a="http://schemas.openxmlformats.org/drawingml/2006/main">
            <a:r>
              <a:t>[9] Truck Lagbe: Official service website</a:t>
            </a:r>
          </a:p>
          <a:p xmlns:a="http://schemas.openxmlformats.org/drawingml/2006/main">
            <a:r>
              <a:t>https://www.trucklagbe.com/</a:t>
            </a:r>
          </a:p>
          <a:p xmlns:a="http://schemas.openxmlformats.org/drawingml/2006/main">
            <a:r>
              <a:t>Truck booking, vendor bidding, cargo/loading details, shifting and business logistics. Marketing volume and savings claims are excluded.</a:t>
            </a:r>
          </a:p>
          <a:p xmlns:a="http://schemas.openxmlformats.org/drawingml/2006/main">
            <a:r>
              <a:t/>
            </a:r>
          </a:p>
          <a:p xmlns:a="http://schemas.openxmlformats.org/drawingml/2006/main">
            <a:r>
              <a:t>[10] Shohoz: Official service website</a:t>
            </a:r>
          </a:p>
          <a:p xmlns:a="http://schemas.openxmlformats.org/drawingml/2006/main">
            <a:r>
              <a:t>https://www.shohoz.com/</a:t>
            </a:r>
          </a:p>
          <a:p xmlns:a="http://schemas.openxmlformats.org/drawingml/2006/main">
            <a:r>
              <a:t>Bus, train, flight and event ticket booking. Bus ticketing is distinct from whole-vehicle charter.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sources accessed 5 September 2026. Full URLs and boundaries are in notes and companion report. Artwork is original AI-generated editorial illustration. Screenshots are actual native or web captures.</a:t>
            </a:r>
          </a:p>
          <a:p xmlns:a="http://schemas.openxmlformats.org/drawingml/2006/main">
            <a:r>
              <a:t/>
            </a:r>
          </a:p>
          <a:p xmlns:a="http://schemas.openxmlformats.org/drawingml/2006/main">
            <a:r>
              <a:t>[11] Cloudflare: Workers pricing</a:t>
            </a:r>
          </a:p>
          <a:p xmlns:a="http://schemas.openxmlformats.org/drawingml/2006/main">
            <a:r>
              <a:t>https://developers.cloudflare.com/workers/platform/pricing/</a:t>
            </a:r>
          </a:p>
          <a:p xmlns:a="http://schemas.openxmlformats.org/drawingml/2006/main">
            <a:r>
              <a:t>Paid plan minimum USD 5 per account per month, 10 million requests and 30 million CPU milliseconds included. Additional requests USD 0.30 per million and CPU USD 0.02 per million milliseconds.</a:t>
            </a:r>
          </a:p>
          <a:p xmlns:a="http://schemas.openxmlformats.org/drawingml/2006/main">
            <a:r>
              <a:t/>
            </a:r>
          </a:p>
          <a:p xmlns:a="http://schemas.openxmlformats.org/drawingml/2006/main">
            <a:r>
              <a:t>[12] Cloudflare: D1 pricing</a:t>
            </a:r>
          </a:p>
          <a:p xmlns:a="http://schemas.openxmlformats.org/drawingml/2006/main">
            <a:r>
              <a:t>https://developers.cloudflare.com/d1/platform/pricing/</a:t>
            </a:r>
          </a:p>
          <a:p xmlns:a="http://schemas.openxmlformats.org/drawingml/2006/main">
            <a:r>
              <a:t>Paid plan includes 25 billion rows read, 50 million rows written per month and 5 GB storage. Overage USD 0.001 per million reads, USD 1 per million writes, USD 0.75 per GB-month.</a:t>
            </a:r>
          </a:p>
          <a:p xmlns:a="http://schemas.openxmlformats.org/drawingml/2006/main">
            <a:r>
              <a:t/>
            </a:r>
          </a:p>
          <a:p xmlns:a="http://schemas.openxmlformats.org/drawingml/2006/main">
            <a:r>
              <a:t>[13] DGHS: National Telehealth Guideline for Bangladesh</a:t>
            </a:r>
          </a:p>
          <a:p xmlns:a="http://schemas.openxmlformats.org/drawingml/2006/main">
            <a:r>
              <a:t>https://dghs.portal.gov.bd/pages/miscellaneous-infos</a:t>
            </a:r>
          </a:p>
          <a:p xmlns:a="http://schemas.openxmlformats.org/drawingml/2006/main">
            <a:r>
              <a:t>Official publication listing dated 29 March 2026. The linked PDF discusses governance, workforce and legal and ethical responsibilities. Applicability must be confirmed with competent advisers before a pilot.</a:t>
            </a:r>
          </a:p>
          <a:p xmlns:a="http://schemas.openxmlformats.org/drawingml/2006/main">
            <a:r>
              <a:t/>
            </a:r>
          </a:p>
          <a:p xmlns:a="http://schemas.openxmlformats.org/drawingml/2006/main">
            <a:r>
              <a:t>[14] DGHS: National Telehealth Guideline PDF</a:t>
            </a:r>
          </a:p>
          <a:p xmlns:a="http://schemas.openxmlformats.org/drawingml/2006/main">
            <a:r>
              <a:t>https://objectstorage.ap-dcc-gazipur-1.oraclecloud15.com/n/axvjbnqprylg/b/V2Ministry/o/office-dghs/2026/2/0420ffe2-8247-454a-8902-4f2cdfe85c18.pdf</a:t>
            </a:r>
          </a:p>
          <a:p xmlns:a="http://schemas.openxmlformats.org/drawingml/2006/main">
            <a:r>
              <a:t>Official hosted PDF, executive summary and scope. This report does not interpret it as an approval for CareNow.</a:t>
            </a:r>
          </a:p>
          <a:p xmlns:a="http://schemas.openxmlformats.org/drawingml/2006/main">
            <a:r>
              <a:t/>
            </a:r>
          </a:p>
          <a:p xmlns:a="http://schemas.openxmlformats.org/drawingml/2006/main">
            <a:r>
              <a:t>[15] Bangladesh Innovation Fair: Official event website</a:t>
            </a:r>
          </a:p>
          <a:p xmlns:a="http://schemas.openxmlformats.org/drawingml/2006/main">
            <a:r>
              <a:t>https://innovationfairbd.org/</a:t>
            </a:r>
          </a:p>
          <a:p xmlns:a="http://schemas.openxmlformats.org/drawingml/2006/main">
            <a:r>
              <a:t>Innovation Exhibitor category and health, medical and life sciences sector. Team-supplied participation intent does not imply selection, an award or endorsement.</a:t>
            </a:r>
          </a:p>
          <a:p xmlns:a="http://schemas.openxmlformats.org/drawingml/2006/main">
            <a:r>
              <a:t/>
            </a:r>
          </a:p>
          <a:p xmlns:a="http://schemas.openxmlformats.org/drawingml/2006/main">
            <a:r>
              <a:t>[16] CareNow repository: Product and verification evidence</a:t>
            </a:r>
          </a:p>
          <a:p xmlns:a="http://schemas.openxmlformats.org/drawingml/2006/main">
            <a:r>
              <a:t>https://github.com/Seyamalam/CareNow</a:t>
            </a:r>
          </a:p>
          <a:p xmlns:a="http://schemas.openxmlformats.org/drawingml/2006/main">
            <a:r>
              <a:t>Source, release APK, README screenshots, QA, transport, performance and visual review of the private original brief. Repository evidence is project-authored, not independent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7cecdd73b34b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b4c779eabc4b80" /><Relationship Type="http://schemas.openxmlformats.org/officeDocument/2006/relationships/slideLayout" Target="/ppt/slideLayouts/slideLayout1.xml" Id="Rbdf76182f28145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f76182f28145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c4b2c2d2cec428b" /><Relationship Type="http://schemas.openxmlformats.org/officeDocument/2006/relationships/image" Target="/ppt/media/image.png" Id="Re995f336a3cb4297" /><Relationship Type="http://schemas.openxmlformats.org/officeDocument/2006/relationships/notesSlide" Target="/ppt/notesSlides/notesSlide1.xml" Id="Ra5ca8540c70e46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ae45fa3954a4d39" /><Relationship Type="http://schemas.openxmlformats.org/officeDocument/2006/relationships/image" Target="/ppt/media/image2.png" Id="Rec2a077ca4924792" /><Relationship Type="http://schemas.openxmlformats.org/officeDocument/2006/relationships/image" Target="/ppt/media/image3.png" Id="R43bd8971e0f14b7a" /><Relationship Type="http://schemas.openxmlformats.org/officeDocument/2006/relationships/notesSlide" Target="/ppt/notesSlides/notesSlide2.xml" Id="R4c1b270c95a74d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e66f44c15ac44a1" /><Relationship Type="http://schemas.openxmlformats.org/officeDocument/2006/relationships/notesSlide" Target="/ppt/notesSlides/notesSlide3.xml" Id="Re2b62c9296c546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c8c7ed817624c34" /><Relationship Type="http://schemas.openxmlformats.org/officeDocument/2006/relationships/notesSlide" Target="/ppt/notesSlides/notesSlide4.xml" Id="R53dfa090053343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ff688689fd44468" /><Relationship Type="http://schemas.openxmlformats.org/officeDocument/2006/relationships/image" Target="/ppt/media/image4.png" Id="Re5b52dd9f81645b1" /><Relationship Type="http://schemas.openxmlformats.org/officeDocument/2006/relationships/image" Target="/ppt/media/image5.png" Id="R499776d13a90447a" /><Relationship Type="http://schemas.openxmlformats.org/officeDocument/2006/relationships/image" Target="/ppt/media/image6.png" Id="Rb8bc4c87ea2740f4" /><Relationship Type="http://schemas.openxmlformats.org/officeDocument/2006/relationships/notesSlide" Target="/ppt/notesSlides/notesSlide5.xml" Id="R64fc23b180e546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85f1f7e6b474be2" /><Relationship Type="http://schemas.openxmlformats.org/officeDocument/2006/relationships/image" Target="/ppt/media/image7.png" Id="R9ea94f1aae5c4f9b" /><Relationship Type="http://schemas.openxmlformats.org/officeDocument/2006/relationships/image" Target="/ppt/media/image8.png" Id="Rc3f063b5d7f0424f" /><Relationship Type="http://schemas.openxmlformats.org/officeDocument/2006/relationships/image" Target="/ppt/media/image9.png" Id="R5a8951bf0cb54f10" /><Relationship Type="http://schemas.openxmlformats.org/officeDocument/2006/relationships/notesSlide" Target="/ppt/notesSlides/notesSlide6.xml" Id="R68de37ad49a142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664156d94bb4a45" /><Relationship Type="http://schemas.openxmlformats.org/officeDocument/2006/relationships/image" Target="/ppt/media/image10.png" Id="R50defd416a7942eb" /><Relationship Type="http://schemas.openxmlformats.org/officeDocument/2006/relationships/image" Target="/ppt/media/image11.png" Id="R6385f11c9348491c" /><Relationship Type="http://schemas.openxmlformats.org/officeDocument/2006/relationships/notesSlide" Target="/ppt/notesSlides/notesSlide7.xml" Id="R5cb963427a954b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2540a077ca44b4c" /><Relationship Type="http://schemas.openxmlformats.org/officeDocument/2006/relationships/image" Target="/ppt/media/image12.png" Id="R6c6b4d194a0941ba" /><Relationship Type="http://schemas.openxmlformats.org/officeDocument/2006/relationships/notesSlide" Target="/ppt/notesSlides/notesSlide8.xml" Id="Rc097be1e23a7455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923e8803b134bf2" /><Relationship Type="http://schemas.openxmlformats.org/officeDocument/2006/relationships/image" Target="/ppt/media/image13.png" Id="R38b8390edd434721" /><Relationship Type="http://schemas.openxmlformats.org/officeDocument/2006/relationships/notesSlide" Target="/ppt/notesSlides/notesSlide9.xml" Id="R06a3f690c3db4b9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cc27a4d7a2442f3" /><Relationship Type="http://schemas.openxmlformats.org/officeDocument/2006/relationships/image" Target="/ppt/media/image14.png" Id="R23a864dd92d144aa" /><Relationship Type="http://schemas.openxmlformats.org/officeDocument/2006/relationships/image" Target="/ppt/media/image15.png" Id="R6f54e8a77bb9463e" /><Relationship Type="http://schemas.openxmlformats.org/officeDocument/2006/relationships/image" Target="/ppt/media/image16.png" Id="R15cbe9e8624e4afd" /><Relationship Type="http://schemas.openxmlformats.org/officeDocument/2006/relationships/notesSlide" Target="/ppt/notesSlides/notesSlide10.xml" Id="R909e5f1d394a4f0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703166109ff4f57" /><Relationship Type="http://schemas.openxmlformats.org/officeDocument/2006/relationships/image" Target="/ppt/media/image17.png" Id="R34addbb1881e4ac4" /><Relationship Type="http://schemas.openxmlformats.org/officeDocument/2006/relationships/image" Target="/ppt/media/image18.png" Id="Rafc034e369cf4406" /><Relationship Type="http://schemas.openxmlformats.org/officeDocument/2006/relationships/image" Target="/ppt/media/image19.png" Id="R7de0354fba1441f6" /><Relationship Type="http://schemas.openxmlformats.org/officeDocument/2006/relationships/notesSlide" Target="/ppt/notesSlides/notesSlide11.xml" Id="Ra6828d5355584ce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f4ed624427045ed" /><Relationship Type="http://schemas.openxmlformats.org/officeDocument/2006/relationships/notesSlide" Target="/ppt/notesSlides/notesSlide12.xml" Id="Ra6bab517bf59411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71c084cafb4430c" /><Relationship Type="http://schemas.openxmlformats.org/officeDocument/2006/relationships/notesSlide" Target="/ppt/notesSlides/notesSlide13.xml" Id="Rfa9be9840205466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5e643f60d8149bc" /><Relationship Type="http://schemas.openxmlformats.org/officeDocument/2006/relationships/chart" Target="/ppt/slides/charts/chart1.xml" Id="R16635b30bf0e4e8e" /><Relationship Type="http://schemas.openxmlformats.org/officeDocument/2006/relationships/notesSlide" Target="/ppt/notesSlides/notesSlide14.xml" Id="Rf875e2d486164c9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0e7233a0b8b40b1" /><Relationship Type="http://schemas.openxmlformats.org/officeDocument/2006/relationships/notesSlide" Target="/ppt/notesSlides/notesSlide15.xml" Id="Rb4be79032745481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f2c93b94edf43da" /><Relationship Type="http://schemas.openxmlformats.org/officeDocument/2006/relationships/chart" Target="/ppt/slides/charts/chart2.xml" Id="R7085a53adb33427d" /><Relationship Type="http://schemas.openxmlformats.org/officeDocument/2006/relationships/notesSlide" Target="/ppt/notesSlides/notesSlide16.xml" Id="R4606eb706cb14e5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11fedb895964935" /><Relationship Type="http://schemas.openxmlformats.org/officeDocument/2006/relationships/notesSlide" Target="/ppt/notesSlides/notesSlide17.xml" Id="R0af48c3bbdde4f1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4fe4a17f9904fc9" /><Relationship Type="http://schemas.openxmlformats.org/officeDocument/2006/relationships/notesSlide" Target="/ppt/notesSlides/notesSlide18.xml" Id="R67f2ecfd88f14d8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98487e7c821493d" /><Relationship Type="http://schemas.openxmlformats.org/officeDocument/2006/relationships/notesSlide" Target="/ppt/notesSlides/notesSlide19.xml" Id="R501fe745325e4fe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a6087fe889e4462" /><Relationship Type="http://schemas.openxmlformats.org/officeDocument/2006/relationships/notesSlide" Target="/ppt/notesSlides/notesSlide20.xml" Id="Rd67d85582b1e4fb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77cdcc5f2ae4c15" /><Relationship Type="http://schemas.openxmlformats.org/officeDocument/2006/relationships/notesSlide" Target="/ppt/notesSlides/notesSlide21.xml" Id="R4f86068f433b4e4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4dae8d6f1d54b53" /><Relationship Type="http://schemas.openxmlformats.org/officeDocument/2006/relationships/notesSlide" Target="/ppt/notesSlides/notesSlide22.xml" Id="Rf5bbae8fabde437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a520deb73c44e19" /><Relationship Type="http://schemas.openxmlformats.org/officeDocument/2006/relationships/notesSlide" Target="/ppt/notesSlides/notesSlide23.xml" Id="Raaf5dd0319fc488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b8e50ca81534a56" /><Relationship Type="http://schemas.openxmlformats.org/officeDocument/2006/relationships/notesSlide" Target="/ppt/notesSlides/notesSlide24.xml" Id="Rd1404898981443f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deb1db2d41e4b45" /><Relationship Type="http://schemas.openxmlformats.org/officeDocument/2006/relationships/notesSlide" Target="/ppt/notesSlides/notesSlide25.xml" Id="R00fd37ac4c59475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efd7139ce33486d" /><Relationship Type="http://schemas.openxmlformats.org/officeDocument/2006/relationships/notesSlide" Target="/ppt/notesSlides/notesSlide26.xml" Id="R8b97c2d8043d4f1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82d3d1296fe4077" /><Relationship Type="http://schemas.openxmlformats.org/officeDocument/2006/relationships/notesSlide" Target="/ppt/notesSlides/notesSlide27.xml" Id="Rb36eeddec9ed413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d7a913d919d4c2b" /><Relationship Type="http://schemas.openxmlformats.org/officeDocument/2006/relationships/image" Target="/ppt/media/image20.png" Id="R4d784637f4f44e9f" /><Relationship Type="http://schemas.openxmlformats.org/officeDocument/2006/relationships/image" Target="/ppt/media/image21.png" Id="R8cb87831e97649a3" /><Relationship Type="http://schemas.openxmlformats.org/officeDocument/2006/relationships/image" Target="/ppt/media/image22.png" Id="Re7a8255b708344d9" /><Relationship Type="http://schemas.openxmlformats.org/officeDocument/2006/relationships/notesSlide" Target="/ppt/notesSlides/notesSlide28.xml" Id="R251f0e6a18c54a0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55e7e5b715647c1" /><Relationship Type="http://schemas.openxmlformats.org/officeDocument/2006/relationships/notesSlide" Target="/ppt/notesSlides/notesSlide29.xml" Id="R7de639f84eac412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1322f97ed1814bc7" /><Relationship Type="http://schemas.openxmlformats.org/officeDocument/2006/relationships/image" Target="/ppt/media/image23.png" Id="Ra1a6dc0837394b1b" /><Relationship Type="http://schemas.openxmlformats.org/officeDocument/2006/relationships/image" Target="/ppt/media/image24.png" Id="R38185785465e4244" /><Relationship Type="http://schemas.openxmlformats.org/officeDocument/2006/relationships/notesSlide" Target="/ppt/notesSlides/notesSlide30.xml" Id="R6f7796ab255b475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ef8b209092b4c46" /><Relationship Type="http://schemas.openxmlformats.org/officeDocument/2006/relationships/notesSlide" Target="/ppt/notesSlides/notesSlide31.xml" Id="R52506fd85822405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c1d97e4d84b47e5" /><Relationship Type="http://schemas.openxmlformats.org/officeDocument/2006/relationships/notesSlide" Target="/ppt/notesSlides/notesSlide32.xml" Id="R9003e02c0dce49d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Annual GMV in BDT million</c:v>
          </c:tx>
          <c:spPr>
            <a:solidFill xmlns:a="http://schemas.openxmlformats.org/drawingml/2006/main">
              <a:srgbClr val="1B5142"/>
            </a:solidFill>
          </c:spPr>
          <c:cat>
            <c:strRef>
              <c:f>'Chart Data'!$A$2:$A$4</c:f>
              <c:strCache>
                <c:ptCount val="3"/>
                <c:pt idx="0">
                  <c:v>1k households</c:v>
                </c:pt>
                <c:pt idx="1">
                  <c:v>20k households</c:v>
                </c:pt>
                <c:pt idx="2">
                  <c:v>100k households</c:v>
                </c:pt>
              </c:strCache>
            </c:strRef>
          </c:cat>
          <c:val>
            <c:numRef>
              <c:f>'Chart Data'!$B$2:$B$4</c:f>
              <c:numCache>
                <c:formatCode>General</c:formatCode>
                <c:ptCount val="3"/>
                <c:pt idx="0">
                  <c:v>3.6</c:v>
                </c:pt>
                <c:pt idx="1">
                  <c:v>72</c:v>
                </c:pt>
                <c:pt idx="2">
                  <c:v>360</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83F35"/>
                  </a:solidFill>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BDT thousand</c:v>
          </c:tx>
          <c:spPr>
            <a:solidFill xmlns:a="http://schemas.openxmlformats.org/drawingml/2006/main">
              <a:srgbClr val="1B5142"/>
            </a:solidFill>
          </c:spPr>
          <c:cat>
            <c:strRef>
              <c:f>'Chart Data'!$A$2:$A$8</c:f>
              <c:strCache>
                <c:ptCount val="7"/>
                <c:pt idx="0">
                  <c:v>Engineering</c:v>
                </c:pt>
                <c:pt idx="1">
                  <c:v>Design / research</c:v>
                </c:pt>
                <c:pt idx="2">
                  <c:v>Operations</c:v>
                </c:pt>
                <c:pt idx="3">
                  <c:v>Clinical / legal</c:v>
                </c:pt>
                <c:pt idx="4">
                  <c:v>Security</c:v>
                </c:pt>
                <c:pt idx="5">
                  <c:v>Cloud / tools</c:v>
                </c:pt>
                <c:pt idx="6">
                  <c:v>Participants / travel</c:v>
                </c:pt>
              </c:strCache>
            </c:strRef>
          </c:cat>
          <c:val>
            <c:numRef>
              <c:f>'Chart Data'!$B$2:$B$8</c:f>
              <c:numCache>
                <c:formatCode>0</c:formatCode>
                <c:ptCount val="7"/>
                <c:pt idx="0">
                  <c:v>900</c:v>
                </c:pt>
                <c:pt idx="1">
                  <c:v>240</c:v>
                </c:pt>
                <c:pt idx="2">
                  <c:v>360</c:v>
                </c:pt>
                <c:pt idx="3">
                  <c:v>200</c:v>
                </c:pt>
                <c:pt idx="4">
                  <c:v>150</c:v>
                </c:pt>
                <c:pt idx="5">
                  <c:v>90</c:v>
                </c:pt>
                <c:pt idx="6">
                  <c:v>120</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83F35"/>
                  </a:solidFill>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995f336a3cb4297"/>
          <a:srcRect xmlns:a="http://schemas.openxmlformats.org/drawingml/2006/main" l="20833" t="0" r="20833" b="0"/>
          <a:stretch xmlns:a="http://schemas.openxmlformats.org/drawingml/2006/main">
            <a:fillRect l="0" t="0" r="0" b="0"/>
          </a:stretch>
        </p:blipFill>
        <p:spPr>
          <a:xfrm xmlns:a="http://schemas.openxmlformats.org/drawingml/2006/main">
            <a:off x="6191250" y="0"/>
            <a:ext cx="6000750" cy="6858000"/>
          </a:xfrm>
          <a:prstGeom xmlns:a="http://schemas.openxmlformats.org/drawingml/2006/main" prst="rect">
            <a:avLst/>
          </a:prstGeom>
        </p:spPr>
      </p:pic>
      <p:sp>
        <p:nvSpPr>
          <p:cNvPr id="2" name="CARENOW">
            <a:extLst xmlns:a="http://schemas.openxmlformats.org/drawingml/2006/main">
              <a:ext uri="{FF2B5EF4-FFF2-40B4-BE49-F238E27FC236}">
                <a16:creationId xmlns:a16="http://schemas.microsoft.com/office/drawing/2014/main" id="{61B00EFB-D8C4-4AEF-86AB-A3C888073B20}"/>
              </a:ext>
            </a:extLst>
          </p:cNvPr>
          <p:cNvSpPr>
            <a:spLocks xmlns:a="http://schemas.openxmlformats.org/drawingml/2006/main" noGrp="1"/>
          </p:cNvSpPr>
          <p:nvPr/>
        </p:nvSpPr>
        <p:spPr>
          <a:xfrm xmlns:a="http://schemas.openxmlformats.org/drawingml/2006/main">
            <a:off x="609600" y="6953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61726B"/>
                </a:solidFill>
                <a:latin typeface="Helvetica Neue"/>
                <a:ea typeface="Helvetica Neue"/>
                <a:cs typeface="Helvetica Neue"/>
              </a:defRPr>
            </a:pPr>
            <a:r>
              <a:rPr sz="1500" b="1">
                <a:solidFill>
                  <a:srgbClr val="61726B"/>
                </a:solidFill>
                <a:latin typeface="Helvetica Neue"/>
                <a:ea typeface="Helvetica Neue"/>
                <a:cs typeface="Helvetica Neue"/>
              </a:rPr>
              <a:t>CARENOW</a:t>
            </a:r>
          </a:p>
        </p:txBody>
      </p:sp>
      <p:sp>
        <p:nvSpPr>
          <p:cNvPr id="3" name="Family care&#10;and local&#10;transport">
            <a:extLst xmlns:a="http://schemas.openxmlformats.org/drawingml/2006/main">
              <a:ext uri="{FF2B5EF4-FFF2-40B4-BE49-F238E27FC236}">
                <a16:creationId xmlns:a16="http://schemas.microsoft.com/office/drawing/2014/main" id="{745C34F7-31C9-4152-B807-9A7B9986E415}"/>
              </a:ext>
            </a:extLst>
          </p:cNvPr>
          <p:cNvSpPr>
            <a:spLocks xmlns:a="http://schemas.openxmlformats.org/drawingml/2006/main" noGrp="1"/>
          </p:cNvSpPr>
          <p:nvPr/>
        </p:nvSpPr>
        <p:spPr>
          <a:xfrm xmlns:a="http://schemas.openxmlformats.org/drawingml/2006/main">
            <a:off x="609600" y="1504950"/>
            <a:ext cx="5238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800" b="1">
                <a:solidFill>
                  <a:srgbClr val="183F35"/>
                </a:solidFill>
                <a:latin typeface="Helvetica Neue"/>
                <a:ea typeface="Helvetica Neue"/>
                <a:cs typeface="Helvetica Neue"/>
              </a:defRPr>
            </a:pPr>
            <a:r>
              <a:rPr sz="4800" b="1">
                <a:solidFill>
                  <a:srgbClr val="183F35"/>
                </a:solidFill>
                <a:latin typeface="Helvetica Neue"/>
                <a:ea typeface="Helvetica Neue"/>
                <a:cs typeface="Helvetica Neue"/>
              </a:rPr>
              <a:t>Family care</a:t>
            </a:r>
          </a:p>
          <a:p xmlns:a="http://schemas.openxmlformats.org/drawingml/2006/main">
            <a:pPr>
              <a:defRPr sz="4800" b="1">
                <a:solidFill>
                  <a:srgbClr val="183F35"/>
                </a:solidFill>
                <a:latin typeface="Helvetica Neue"/>
                <a:ea typeface="Helvetica Neue"/>
                <a:cs typeface="Helvetica Neue"/>
              </a:defRPr>
            </a:pPr>
            <a:r>
              <a:rPr sz="4800" b="1">
                <a:solidFill>
                  <a:srgbClr val="183F35"/>
                </a:solidFill>
                <a:latin typeface="Helvetica Neue"/>
                <a:ea typeface="Helvetica Neue"/>
                <a:cs typeface="Helvetica Neue"/>
              </a:rPr>
              <a:t>and local</a:t>
            </a:r>
          </a:p>
          <a:p xmlns:a="http://schemas.openxmlformats.org/drawingml/2006/main">
            <a:pPr>
              <a:defRPr sz="4800" b="1">
                <a:solidFill>
                  <a:srgbClr val="183F35"/>
                </a:solidFill>
                <a:latin typeface="Helvetica Neue"/>
                <a:ea typeface="Helvetica Neue"/>
                <a:cs typeface="Helvetica Neue"/>
              </a:defRPr>
            </a:pPr>
            <a:r>
              <a:rPr sz="4800" b="1">
                <a:solidFill>
                  <a:srgbClr val="183F35"/>
                </a:solidFill>
                <a:latin typeface="Helvetica Neue"/>
                <a:ea typeface="Helvetica Neue"/>
                <a:cs typeface="Helvetica Neue"/>
              </a:rPr>
              <a:t>transport</a:t>
            </a:r>
          </a:p>
        </p:txBody>
      </p:sp>
      <p:sp>
        <p:nvSpPr>
          <p:cNvPr id="4" name="Innovation exhibition presentation">
            <a:extLst xmlns:a="http://schemas.openxmlformats.org/drawingml/2006/main">
              <a:ext uri="{FF2B5EF4-FFF2-40B4-BE49-F238E27FC236}">
                <a16:creationId xmlns:a16="http://schemas.microsoft.com/office/drawing/2014/main" id="{68BA9F78-0068-4D82-A4A6-C6389E188F94}"/>
              </a:ext>
            </a:extLst>
          </p:cNvPr>
          <p:cNvSpPr>
            <a:spLocks xmlns:a="http://schemas.openxmlformats.org/drawingml/2006/main" noGrp="1"/>
          </p:cNvSpPr>
          <p:nvPr/>
        </p:nvSpPr>
        <p:spPr>
          <a:xfrm xmlns:a="http://schemas.openxmlformats.org/drawingml/2006/main">
            <a:off x="609600" y="4152900"/>
            <a:ext cx="5048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83F35"/>
                </a:solidFill>
                <a:latin typeface="Helvetica Neue"/>
                <a:ea typeface="Helvetica Neue"/>
                <a:cs typeface="Helvetica Neue"/>
              </a:defRPr>
            </a:pPr>
            <a:r>
              <a:rPr sz="2250" b="0">
                <a:solidFill>
                  <a:srgbClr val="183F35"/>
                </a:solidFill>
                <a:latin typeface="Helvetica Neue"/>
                <a:ea typeface="Helvetica Neue"/>
                <a:cs typeface="Helvetica Neue"/>
              </a:rPr>
              <a:t>Innovation exhibition presentation</a:t>
            </a:r>
          </a:p>
        </p:txBody>
      </p:sp>
      <p:sp>
        <p:nvSpPr>
          <p:cNvPr id="5" name="Working prototype and pilot proposal&#10;Bangladesh · Septe">
            <a:extLst xmlns:a="http://schemas.openxmlformats.org/drawingml/2006/main">
              <a:ext uri="{FF2B5EF4-FFF2-40B4-BE49-F238E27FC236}">
                <a16:creationId xmlns:a16="http://schemas.microsoft.com/office/drawing/2014/main" id="{C1BD2E01-4AB1-4CE1-8C2B-BDD58D862C20}"/>
              </a:ext>
            </a:extLst>
          </p:cNvPr>
          <p:cNvSpPr>
            <a:spLocks xmlns:a="http://schemas.openxmlformats.org/drawingml/2006/main" noGrp="1"/>
          </p:cNvSpPr>
          <p:nvPr/>
        </p:nvSpPr>
        <p:spPr>
          <a:xfrm xmlns:a="http://schemas.openxmlformats.org/drawingml/2006/main">
            <a:off x="609600" y="5248275"/>
            <a:ext cx="5048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Working prototype and pilot proposal</a:t>
            </a:r>
          </a:p>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Bangladesh · September 2026</a:t>
            </a:r>
          </a:p>
        </p:txBody>
      </p:sp>
      <p:sp>
        <p:nvSpPr>
          <p:cNvPr id="6" name="AI-generated editorial illustration">
            <a:extLst xmlns:a="http://schemas.openxmlformats.org/drawingml/2006/main">
              <a:ext uri="{FF2B5EF4-FFF2-40B4-BE49-F238E27FC236}">
                <a16:creationId xmlns:a16="http://schemas.microsoft.com/office/drawing/2014/main" id="{92DE90BE-2B92-4AF6-9692-6507A193E3D3}"/>
              </a:ext>
            </a:extLst>
          </p:cNvPr>
          <p:cNvSpPr>
            <a:spLocks xmlns:a="http://schemas.openxmlformats.org/drawingml/2006/main" noGrp="1"/>
          </p:cNvSpPr>
          <p:nvPr/>
        </p:nvSpPr>
        <p:spPr>
          <a:xfrm xmlns:a="http://schemas.openxmlformats.org/drawingml/2006/main">
            <a:off x="6353175" y="647700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AI-generated editorial illustration</a:t>
            </a:r>
          </a:p>
        </p:txBody>
      </p:sp>
    </p:spTree>
    <p:extLst>
      <p:ext uri="{BB962C8B-B14F-4D97-AF65-F5344CB8AC3E}">
        <p14:creationId xmlns:p14="http://schemas.microsoft.com/office/powerpoint/2010/main" val="1814335648"/>
      </p:ext>
    </p:extLst>
  </p:cSld>
</p:sld>
</file>

<file path=ppt/slides/slide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3" name="PRODUCT">
            <a:extLst xmlns:a="http://schemas.openxmlformats.org/drawingml/2006/main">
              <a:ext uri="{FF2B5EF4-FFF2-40B4-BE49-F238E27FC236}">
                <a16:creationId xmlns:a16="http://schemas.microsoft.com/office/drawing/2014/main" id="{0817C077-4BAB-4195-8A42-979431039CFC}"/>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PRODUCT</a:t>
            </a:r>
          </a:p>
        </p:txBody>
      </p:sp>
      <p:sp>
        <p:nvSpPr>
          <p:cNvPr id="2" name="One application for a family service journey">
            <a:extLst xmlns:a="http://schemas.openxmlformats.org/drawingml/2006/main">
              <a:ext uri="{FF2B5EF4-FFF2-40B4-BE49-F238E27FC236}">
                <a16:creationId xmlns:a16="http://schemas.microsoft.com/office/drawing/2014/main" id="{D46A469E-6646-4F4F-9B80-66022F6368B6}"/>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One application for a family service journey</a:t>
            </a:r>
          </a:p>
        </p:txBody>
      </p:sp>
      <p:sp>
        <p:nvSpPr>
          <p:cNvPr id="3" name="02">
            <a:extLst xmlns:a="http://schemas.openxmlformats.org/drawingml/2006/main">
              <a:ext uri="{FF2B5EF4-FFF2-40B4-BE49-F238E27FC236}">
                <a16:creationId xmlns:a16="http://schemas.microsoft.com/office/drawing/2014/main" id="{49DA8D66-5DE6-41EF-BABA-394888851E8C}"/>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02</a:t>
            </a:r>
          </a:p>
        </p:txBody>
      </p:sp>
      <p:sp>
        <p:nvSpPr>
          <p:cNvPr id="4" name="CareNow 1.2.1 · Exhibition prototype · September 2026">
            <a:extLst xmlns:a="http://schemas.openxmlformats.org/drawingml/2006/main">
              <a:ext uri="{FF2B5EF4-FFF2-40B4-BE49-F238E27FC236}">
                <a16:creationId xmlns:a16="http://schemas.microsoft.com/office/drawing/2014/main" id="{A23CAED7-A697-4A81-846A-0E39C2C55B91}"/>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sp>
        <p:nvSpPr>
          <p:cNvPr id="5" name="Family context">
            <a:extLst xmlns:a="http://schemas.openxmlformats.org/drawingml/2006/main">
              <a:ext uri="{FF2B5EF4-FFF2-40B4-BE49-F238E27FC236}">
                <a16:creationId xmlns:a16="http://schemas.microsoft.com/office/drawing/2014/main" id="{2DA97C3A-CAFA-43F1-8224-ED1AAAA69D14}"/>
              </a:ext>
            </a:extLst>
          </p:cNvPr>
          <p:cNvSpPr>
            <a:spLocks xmlns:a="http://schemas.openxmlformats.org/drawingml/2006/main" noGrp="1"/>
          </p:cNvSpPr>
          <p:nvPr/>
        </p:nvSpPr>
        <p:spPr>
          <a:xfrm xmlns:a="http://schemas.openxmlformats.org/drawingml/2006/main">
            <a:off x="609600" y="1952625"/>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Family context</a:t>
            </a:r>
          </a:p>
        </p:txBody>
      </p:sp>
      <p:sp>
        <p:nvSpPr>
          <p:cNvPr id="6" name="Select the person receiving care.">
            <a:extLst xmlns:a="http://schemas.openxmlformats.org/drawingml/2006/main">
              <a:ext uri="{FF2B5EF4-FFF2-40B4-BE49-F238E27FC236}">
                <a16:creationId xmlns:a16="http://schemas.microsoft.com/office/drawing/2014/main" id="{9E1730B5-B8AB-447A-B2B8-7CA052FB4D5F}"/>
              </a:ext>
            </a:extLst>
          </p:cNvPr>
          <p:cNvSpPr>
            <a:spLocks xmlns:a="http://schemas.openxmlformats.org/drawingml/2006/main" noGrp="1"/>
          </p:cNvSpPr>
          <p:nvPr/>
        </p:nvSpPr>
        <p:spPr>
          <a:xfrm xmlns:a="http://schemas.openxmlformats.org/drawingml/2006/main">
            <a:off x="609600" y="2343150"/>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Select the person receiving care.</a:t>
            </a:r>
          </a:p>
        </p:txBody>
      </p:sp>
      <p:sp>
        <p:nvSpPr>
          <p:cNvPr id="7" name="A complete job">
            <a:extLst xmlns:a="http://schemas.openxmlformats.org/drawingml/2006/main">
              <a:ext uri="{FF2B5EF4-FFF2-40B4-BE49-F238E27FC236}">
                <a16:creationId xmlns:a16="http://schemas.microsoft.com/office/drawing/2014/main" id="{BE568A0E-297D-4940-8579-80FA4A20F801}"/>
              </a:ext>
            </a:extLst>
          </p:cNvPr>
          <p:cNvSpPr>
            <a:spLocks xmlns:a="http://schemas.openxmlformats.org/drawingml/2006/main" noGrp="1"/>
          </p:cNvSpPr>
          <p:nvPr/>
        </p:nvSpPr>
        <p:spPr>
          <a:xfrm xmlns:a="http://schemas.openxmlformats.org/drawingml/2006/main">
            <a:off x="609600" y="3209925"/>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A complete job</a:t>
            </a:r>
          </a:p>
        </p:txBody>
      </p:sp>
      <p:sp>
        <p:nvSpPr>
          <p:cNvPr id="8" name="Request, assignment, acceptance and status.">
            <a:extLst xmlns:a="http://schemas.openxmlformats.org/drawingml/2006/main">
              <a:ext uri="{FF2B5EF4-FFF2-40B4-BE49-F238E27FC236}">
                <a16:creationId xmlns:a16="http://schemas.microsoft.com/office/drawing/2014/main" id="{E55D54AC-3A66-47B2-AE82-F6F3182EC960}"/>
              </a:ext>
            </a:extLst>
          </p:cNvPr>
          <p:cNvSpPr>
            <a:spLocks xmlns:a="http://schemas.openxmlformats.org/drawingml/2006/main" noGrp="1"/>
          </p:cNvSpPr>
          <p:nvPr/>
        </p:nvSpPr>
        <p:spPr>
          <a:xfrm xmlns:a="http://schemas.openxmlformats.org/drawingml/2006/main">
            <a:off x="609600" y="3600450"/>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Request, assignment, acceptance and status.</a:t>
            </a:r>
          </a:p>
        </p:txBody>
      </p:sp>
      <p:sp>
        <p:nvSpPr>
          <p:cNvPr id="9" name="Five account types">
            <a:extLst xmlns:a="http://schemas.openxmlformats.org/drawingml/2006/main">
              <a:ext uri="{FF2B5EF4-FFF2-40B4-BE49-F238E27FC236}">
                <a16:creationId xmlns:a16="http://schemas.microsoft.com/office/drawing/2014/main" id="{F8C9E65B-E543-4051-A269-D2933F5E7777}"/>
              </a:ext>
            </a:extLst>
          </p:cNvPr>
          <p:cNvSpPr>
            <a:spLocks xmlns:a="http://schemas.openxmlformats.org/drawingml/2006/main" noGrp="1"/>
          </p:cNvSpPr>
          <p:nvPr/>
        </p:nvSpPr>
        <p:spPr>
          <a:xfrm xmlns:a="http://schemas.openxmlformats.org/drawingml/2006/main">
            <a:off x="609600" y="4467225"/>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Five account types</a:t>
            </a:r>
          </a:p>
        </p:txBody>
      </p:sp>
      <p:sp>
        <p:nvSpPr>
          <p:cNvPr id="10" name="Customer, care professional, driver, doctor and provide">
            <a:extLst xmlns:a="http://schemas.openxmlformats.org/drawingml/2006/main">
              <a:ext uri="{FF2B5EF4-FFF2-40B4-BE49-F238E27FC236}">
                <a16:creationId xmlns:a16="http://schemas.microsoft.com/office/drawing/2014/main" id="{59176C42-3C35-4B15-BAF8-6B8BDB8B102B}"/>
              </a:ext>
            </a:extLst>
          </p:cNvPr>
          <p:cNvSpPr>
            <a:spLocks xmlns:a="http://schemas.openxmlformats.org/drawingml/2006/main" noGrp="1"/>
          </p:cNvSpPr>
          <p:nvPr/>
        </p:nvSpPr>
        <p:spPr>
          <a:xfrm xmlns:a="http://schemas.openxmlformats.org/drawingml/2006/main">
            <a:off x="609600" y="4857750"/>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Customer, care professional, driver, doctor and provider.</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c2a077ca4924792"/>
          <a:stretch xmlns:a="http://schemas.openxmlformats.org/drawingml/2006/main"/>
        </p:blipFill>
        <p:spPr>
          <a:xfrm xmlns:a="http://schemas.openxmlformats.org/drawingml/2006/main">
            <a:off x="6393656" y="1676400"/>
            <a:ext cx="1928813" cy="4286250"/>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3bd8971e0f14b7a"/>
          <a:stretch xmlns:a="http://schemas.openxmlformats.org/drawingml/2006/main"/>
        </p:blipFill>
        <p:spPr>
          <a:xfrm xmlns:a="http://schemas.openxmlformats.org/drawingml/2006/main">
            <a:off x="9144386" y="1676400"/>
            <a:ext cx="2085203" cy="4286250"/>
          </a:xfrm>
          <a:prstGeom xmlns:a="http://schemas.openxmlformats.org/drawingml/2006/main" prst="rect">
            <a:avLst/>
          </a:prstGeom>
        </p:spPr>
      </p:pic>
    </p:spTree>
    <p:extLst>
      <p:ext uri="{BB962C8B-B14F-4D97-AF65-F5344CB8AC3E}">
        <p14:creationId xmlns:p14="http://schemas.microsoft.com/office/powerpoint/2010/main" val="1710282431"/>
      </p:ext>
    </p:extLst>
  </p:cSld>
</p:sld>
</file>

<file path=ppt/slides/slide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5" name="MARKET EVIDENCE">
            <a:extLst xmlns:a="http://schemas.openxmlformats.org/drawingml/2006/main">
              <a:ext uri="{FF2B5EF4-FFF2-40B4-BE49-F238E27FC236}">
                <a16:creationId xmlns:a16="http://schemas.microsoft.com/office/drawing/2014/main" id="{D5A83FEE-BC5E-4729-90CA-3F171A482550}"/>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MARKET EVIDENCE</a:t>
            </a:r>
          </a:p>
        </p:txBody>
      </p:sp>
      <p:sp>
        <p:nvSpPr>
          <p:cNvPr id="2" name="Bangladesh context">
            <a:extLst xmlns:a="http://schemas.openxmlformats.org/drawingml/2006/main">
              <a:ext uri="{FF2B5EF4-FFF2-40B4-BE49-F238E27FC236}">
                <a16:creationId xmlns:a16="http://schemas.microsoft.com/office/drawing/2014/main" id="{C3B68F04-53DA-4B59-B4DF-2860914C6F34}"/>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Bangladesh context</a:t>
            </a:r>
          </a:p>
        </p:txBody>
      </p:sp>
      <p:sp>
        <p:nvSpPr>
          <p:cNvPr id="3" name="03">
            <a:extLst xmlns:a="http://schemas.openxmlformats.org/drawingml/2006/main">
              <a:ext uri="{FF2B5EF4-FFF2-40B4-BE49-F238E27FC236}">
                <a16:creationId xmlns:a16="http://schemas.microsoft.com/office/drawing/2014/main" id="{AEE92FF8-7ECD-45F4-B54C-6CB608BF0BB2}"/>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03</a:t>
            </a:r>
          </a:p>
        </p:txBody>
      </p:sp>
      <p:sp>
        <p:nvSpPr>
          <p:cNvPr id="4" name="CareNow 1.2.1 · Exhibition prototype · September 2026">
            <a:extLst xmlns:a="http://schemas.openxmlformats.org/drawingml/2006/main">
              <a:ext uri="{FF2B5EF4-FFF2-40B4-BE49-F238E27FC236}">
                <a16:creationId xmlns:a16="http://schemas.microsoft.com/office/drawing/2014/main" id="{99B4831D-5129-4050-AEBE-E6795EADB520}"/>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sp>
        <p:nvSpPr>
          <p:cNvPr id="5" name="175.69m">
            <a:extLst xmlns:a="http://schemas.openxmlformats.org/drawingml/2006/main">
              <a:ext uri="{FF2B5EF4-FFF2-40B4-BE49-F238E27FC236}">
                <a16:creationId xmlns:a16="http://schemas.microsoft.com/office/drawing/2014/main" id="{6A097474-000F-4F3B-B746-82331F7B5D4B}"/>
              </a:ext>
            </a:extLst>
          </p:cNvPr>
          <p:cNvSpPr>
            <a:spLocks xmlns:a="http://schemas.openxmlformats.org/drawingml/2006/main" noGrp="1"/>
          </p:cNvSpPr>
          <p:nvPr/>
        </p:nvSpPr>
        <p:spPr>
          <a:xfrm xmlns:a="http://schemas.openxmlformats.org/drawingml/2006/main">
            <a:off x="609600" y="1952625"/>
            <a:ext cx="34956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875" b="1">
                <a:solidFill>
                  <a:srgbClr val="183F35"/>
                </a:solidFill>
                <a:latin typeface="Helvetica Neue"/>
                <a:ea typeface="Helvetica Neue"/>
                <a:cs typeface="Helvetica Neue"/>
              </a:defRPr>
            </a:pPr>
            <a:r>
              <a:rPr sz="4875" b="1">
                <a:solidFill>
                  <a:srgbClr val="183F35"/>
                </a:solidFill>
                <a:latin typeface="Helvetica Neue"/>
                <a:ea typeface="Helvetica Neue"/>
                <a:cs typeface="Helvetica Neue"/>
              </a:rPr>
              <a:t>175.69m</a:t>
            </a:r>
          </a:p>
        </p:txBody>
      </p:sp>
      <p:sp>
        <p:nvSpPr>
          <p:cNvPr id="6" name="People in 2025">
            <a:extLst xmlns:a="http://schemas.openxmlformats.org/drawingml/2006/main">
              <a:ext uri="{FF2B5EF4-FFF2-40B4-BE49-F238E27FC236}">
                <a16:creationId xmlns:a16="http://schemas.microsoft.com/office/drawing/2014/main" id="{81AA015F-BEFF-4685-B7E2-54F375432212}"/>
              </a:ext>
            </a:extLst>
          </p:cNvPr>
          <p:cNvSpPr>
            <a:spLocks xmlns:a="http://schemas.openxmlformats.org/drawingml/2006/main" noGrp="1"/>
          </p:cNvSpPr>
          <p:nvPr/>
        </p:nvSpPr>
        <p:spPr>
          <a:xfrm xmlns:a="http://schemas.openxmlformats.org/drawingml/2006/main">
            <a:off x="609600" y="3143250"/>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83F35"/>
                </a:solidFill>
                <a:latin typeface="Helvetica Neue"/>
                <a:ea typeface="Helvetica Neue"/>
                <a:cs typeface="Helvetica Neue"/>
              </a:defRPr>
            </a:pPr>
            <a:r>
              <a:rPr sz="2175" b="1">
                <a:solidFill>
                  <a:srgbClr val="183F35"/>
                </a:solidFill>
                <a:latin typeface="Helvetica Neue"/>
                <a:ea typeface="Helvetica Neue"/>
                <a:cs typeface="Helvetica Neue"/>
              </a:rPr>
              <a:t>People in 2025</a:t>
            </a:r>
          </a:p>
        </p:txBody>
      </p:sp>
      <p:sp>
        <p:nvSpPr>
          <p:cNvPr id="7" name="World Bank population estimate">
            <a:extLst xmlns:a="http://schemas.openxmlformats.org/drawingml/2006/main">
              <a:ext uri="{FF2B5EF4-FFF2-40B4-BE49-F238E27FC236}">
                <a16:creationId xmlns:a16="http://schemas.microsoft.com/office/drawing/2014/main" id="{3213B676-2B96-452E-9A4E-684D80FB757D}"/>
              </a:ext>
            </a:extLst>
          </p:cNvPr>
          <p:cNvSpPr>
            <a:spLocks xmlns:a="http://schemas.openxmlformats.org/drawingml/2006/main" noGrp="1"/>
          </p:cNvSpPr>
          <p:nvPr/>
        </p:nvSpPr>
        <p:spPr>
          <a:xfrm xmlns:a="http://schemas.openxmlformats.org/drawingml/2006/main">
            <a:off x="609600" y="4057650"/>
            <a:ext cx="3476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World Bank population estimate</a:t>
            </a:r>
          </a:p>
        </p:txBody>
      </p:sp>
      <p:sp>
        <p:nvSpPr>
          <p:cNvPr id="8" name="128.99m">
            <a:extLst xmlns:a="http://schemas.openxmlformats.org/drawingml/2006/main">
              <a:ext uri="{FF2B5EF4-FFF2-40B4-BE49-F238E27FC236}">
                <a16:creationId xmlns:a16="http://schemas.microsoft.com/office/drawing/2014/main" id="{62A25482-778E-4320-AE73-ED6DA407BA03}"/>
              </a:ext>
            </a:extLst>
          </p:cNvPr>
          <p:cNvSpPr>
            <a:spLocks xmlns:a="http://schemas.openxmlformats.org/drawingml/2006/main" noGrp="1"/>
          </p:cNvSpPr>
          <p:nvPr/>
        </p:nvSpPr>
        <p:spPr>
          <a:xfrm xmlns:a="http://schemas.openxmlformats.org/drawingml/2006/main">
            <a:off x="4333875" y="1952625"/>
            <a:ext cx="34956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875" b="1">
                <a:solidFill>
                  <a:srgbClr val="183F35"/>
                </a:solidFill>
                <a:latin typeface="Helvetica Neue"/>
                <a:ea typeface="Helvetica Neue"/>
                <a:cs typeface="Helvetica Neue"/>
              </a:defRPr>
            </a:pPr>
            <a:r>
              <a:rPr sz="4875" b="1">
                <a:solidFill>
                  <a:srgbClr val="183F35"/>
                </a:solidFill>
                <a:latin typeface="Helvetica Neue"/>
                <a:ea typeface="Helvetica Neue"/>
                <a:cs typeface="Helvetica Neue"/>
              </a:rPr>
              <a:t>128.99m</a:t>
            </a:r>
          </a:p>
        </p:txBody>
      </p:sp>
      <p:sp>
        <p:nvSpPr>
          <p:cNvPr id="9" name="Internet subscriptions">
            <a:extLst xmlns:a="http://schemas.openxmlformats.org/drawingml/2006/main">
              <a:ext uri="{FF2B5EF4-FFF2-40B4-BE49-F238E27FC236}">
                <a16:creationId xmlns:a16="http://schemas.microsoft.com/office/drawing/2014/main" id="{F5B7FB1D-79A7-4BED-8E6E-FDF8B0D45E45}"/>
              </a:ext>
            </a:extLst>
          </p:cNvPr>
          <p:cNvSpPr>
            <a:spLocks xmlns:a="http://schemas.openxmlformats.org/drawingml/2006/main" noGrp="1"/>
          </p:cNvSpPr>
          <p:nvPr/>
        </p:nvSpPr>
        <p:spPr>
          <a:xfrm xmlns:a="http://schemas.openxmlformats.org/drawingml/2006/main">
            <a:off x="4333875" y="3143250"/>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83F35"/>
                </a:solidFill>
                <a:latin typeface="Helvetica Neue"/>
                <a:ea typeface="Helvetica Neue"/>
                <a:cs typeface="Helvetica Neue"/>
              </a:defRPr>
            </a:pPr>
            <a:r>
              <a:rPr sz="2175" b="1">
                <a:solidFill>
                  <a:srgbClr val="183F35"/>
                </a:solidFill>
                <a:latin typeface="Helvetica Neue"/>
                <a:ea typeface="Helvetica Neue"/>
                <a:cs typeface="Helvetica Neue"/>
              </a:rPr>
              <a:t>Internet subscriptions</a:t>
            </a:r>
          </a:p>
        </p:txBody>
      </p:sp>
      <p:sp>
        <p:nvSpPr>
          <p:cNvPr id="10" name="BTRC, January 2026">
            <a:extLst xmlns:a="http://schemas.openxmlformats.org/drawingml/2006/main">
              <a:ext uri="{FF2B5EF4-FFF2-40B4-BE49-F238E27FC236}">
                <a16:creationId xmlns:a16="http://schemas.microsoft.com/office/drawing/2014/main" id="{4F0379B2-8B39-4BE9-9D5A-82AA0092C954}"/>
              </a:ext>
            </a:extLst>
          </p:cNvPr>
          <p:cNvSpPr>
            <a:spLocks xmlns:a="http://schemas.openxmlformats.org/drawingml/2006/main" noGrp="1"/>
          </p:cNvSpPr>
          <p:nvPr/>
        </p:nvSpPr>
        <p:spPr>
          <a:xfrm xmlns:a="http://schemas.openxmlformats.org/drawingml/2006/main">
            <a:off x="4333875" y="4057650"/>
            <a:ext cx="3476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BTRC, January 2026</a:t>
            </a:r>
          </a:p>
        </p:txBody>
      </p:sp>
      <p:sp>
        <p:nvSpPr>
          <p:cNvPr id="11" name="73%">
            <a:extLst xmlns:a="http://schemas.openxmlformats.org/drawingml/2006/main">
              <a:ext uri="{FF2B5EF4-FFF2-40B4-BE49-F238E27FC236}">
                <a16:creationId xmlns:a16="http://schemas.microsoft.com/office/drawing/2014/main" id="{59DD14B2-0E07-4AF5-B745-F9991710ECC4}"/>
              </a:ext>
            </a:extLst>
          </p:cNvPr>
          <p:cNvSpPr>
            <a:spLocks xmlns:a="http://schemas.openxmlformats.org/drawingml/2006/main" noGrp="1"/>
          </p:cNvSpPr>
          <p:nvPr/>
        </p:nvSpPr>
        <p:spPr>
          <a:xfrm xmlns:a="http://schemas.openxmlformats.org/drawingml/2006/main">
            <a:off x="8058150" y="1952625"/>
            <a:ext cx="34956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875" b="1">
                <a:solidFill>
                  <a:srgbClr val="183F35"/>
                </a:solidFill>
                <a:latin typeface="Helvetica Neue"/>
                <a:ea typeface="Helvetica Neue"/>
                <a:cs typeface="Helvetica Neue"/>
              </a:defRPr>
            </a:pPr>
            <a:r>
              <a:rPr sz="4875" b="1">
                <a:solidFill>
                  <a:srgbClr val="183F35"/>
                </a:solidFill>
                <a:latin typeface="Helvetica Neue"/>
                <a:ea typeface="Helvetica Neue"/>
                <a:cs typeface="Helvetica Neue"/>
              </a:rPr>
              <a:t>73%</a:t>
            </a:r>
          </a:p>
        </p:txBody>
      </p:sp>
      <p:sp>
        <p:nvSpPr>
          <p:cNvPr id="12" name="Out-of-pocket share">
            <a:extLst xmlns:a="http://schemas.openxmlformats.org/drawingml/2006/main">
              <a:ext uri="{FF2B5EF4-FFF2-40B4-BE49-F238E27FC236}">
                <a16:creationId xmlns:a16="http://schemas.microsoft.com/office/drawing/2014/main" id="{25CC5C9F-0A20-4AF7-BC2A-5C82B704C208}"/>
              </a:ext>
            </a:extLst>
          </p:cNvPr>
          <p:cNvSpPr>
            <a:spLocks xmlns:a="http://schemas.openxmlformats.org/drawingml/2006/main" noGrp="1"/>
          </p:cNvSpPr>
          <p:nvPr/>
        </p:nvSpPr>
        <p:spPr>
          <a:xfrm xmlns:a="http://schemas.openxmlformats.org/drawingml/2006/main">
            <a:off x="8058150" y="3143250"/>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83F35"/>
                </a:solidFill>
                <a:latin typeface="Helvetica Neue"/>
                <a:ea typeface="Helvetica Neue"/>
                <a:cs typeface="Helvetica Neue"/>
              </a:defRPr>
            </a:pPr>
            <a:r>
              <a:rPr sz="2175" b="1">
                <a:solidFill>
                  <a:srgbClr val="183F35"/>
                </a:solidFill>
                <a:latin typeface="Helvetica Neue"/>
                <a:ea typeface="Helvetica Neue"/>
                <a:cs typeface="Helvetica Neue"/>
              </a:rPr>
              <a:t>Out-of-pocket share</a:t>
            </a:r>
          </a:p>
        </p:txBody>
      </p:sp>
      <p:sp>
        <p:nvSpPr>
          <p:cNvPr id="13" name="Health expenditure, 2021">
            <a:extLst xmlns:a="http://schemas.openxmlformats.org/drawingml/2006/main">
              <a:ext uri="{FF2B5EF4-FFF2-40B4-BE49-F238E27FC236}">
                <a16:creationId xmlns:a16="http://schemas.microsoft.com/office/drawing/2014/main" id="{FEEBC724-3BEC-422C-88F0-272E1988CEAB}"/>
              </a:ext>
            </a:extLst>
          </p:cNvPr>
          <p:cNvSpPr>
            <a:spLocks xmlns:a="http://schemas.openxmlformats.org/drawingml/2006/main" noGrp="1"/>
          </p:cNvSpPr>
          <p:nvPr/>
        </p:nvSpPr>
        <p:spPr>
          <a:xfrm xmlns:a="http://schemas.openxmlformats.org/drawingml/2006/main">
            <a:off x="8058150" y="4057650"/>
            <a:ext cx="3476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Health expenditure, 2021</a:t>
            </a:r>
          </a:p>
        </p:txBody>
      </p:sp>
      <p:sp>
        <p:nvSpPr>
          <p:cNvPr id="14" name="Reach, affordability and willingness to pay need separa">
            <a:extLst xmlns:a="http://schemas.openxmlformats.org/drawingml/2006/main">
              <a:ext uri="{FF2B5EF4-FFF2-40B4-BE49-F238E27FC236}">
                <a16:creationId xmlns:a16="http://schemas.microsoft.com/office/drawing/2014/main" id="{B8B793F2-90BC-49EA-830F-169EF7AD50FA}"/>
              </a:ext>
            </a:extLst>
          </p:cNvPr>
          <p:cNvSpPr>
            <a:spLocks xmlns:a="http://schemas.openxmlformats.org/drawingml/2006/main" noGrp="1"/>
          </p:cNvSpPr>
          <p:nvPr/>
        </p:nvSpPr>
        <p:spPr>
          <a:xfrm xmlns:a="http://schemas.openxmlformats.org/drawingml/2006/main">
            <a:off x="609600" y="54768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Reach, affordability and willingness to pay need separate evidence.</a:t>
            </a:r>
          </a:p>
        </p:txBody>
      </p:sp>
    </p:spTree>
    <p:extLst>
      <p:ext uri="{BB962C8B-B14F-4D97-AF65-F5344CB8AC3E}">
        <p14:creationId xmlns:p14="http://schemas.microsoft.com/office/powerpoint/2010/main" val="2042515679"/>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1" name="PRODUCT HYPOTHESIS">
            <a:extLst xmlns:a="http://schemas.openxmlformats.org/drawingml/2006/main">
              <a:ext uri="{FF2B5EF4-FFF2-40B4-BE49-F238E27FC236}">
                <a16:creationId xmlns:a16="http://schemas.microsoft.com/office/drawing/2014/main" id="{A7EE36EE-E8B2-4617-989F-1285F246D098}"/>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PRODUCT HYPOTHESIS</a:t>
            </a:r>
          </a:p>
        </p:txBody>
      </p:sp>
      <p:sp>
        <p:nvSpPr>
          <p:cNvPr id="2" name="The coordination problem">
            <a:extLst xmlns:a="http://schemas.openxmlformats.org/drawingml/2006/main">
              <a:ext uri="{FF2B5EF4-FFF2-40B4-BE49-F238E27FC236}">
                <a16:creationId xmlns:a16="http://schemas.microsoft.com/office/drawing/2014/main" id="{AD2543E3-E5D2-4C54-8108-4522F68184B6}"/>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The coordination problem</a:t>
            </a:r>
          </a:p>
        </p:txBody>
      </p:sp>
      <p:sp>
        <p:nvSpPr>
          <p:cNvPr id="3" name="04">
            <a:extLst xmlns:a="http://schemas.openxmlformats.org/drawingml/2006/main">
              <a:ext uri="{FF2B5EF4-FFF2-40B4-BE49-F238E27FC236}">
                <a16:creationId xmlns:a16="http://schemas.microsoft.com/office/drawing/2014/main" id="{60E1A36E-69A2-4B50-B931-9BA18A593E4B}"/>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04</a:t>
            </a:r>
          </a:p>
        </p:txBody>
      </p:sp>
      <p:sp>
        <p:nvSpPr>
          <p:cNvPr id="4" name="CareNow 1.2.1 · Exhibition prototype · September 2026">
            <a:extLst xmlns:a="http://schemas.openxmlformats.org/drawingml/2006/main">
              <a:ext uri="{FF2B5EF4-FFF2-40B4-BE49-F238E27FC236}">
                <a16:creationId xmlns:a16="http://schemas.microsoft.com/office/drawing/2014/main" id="{E4A63E56-9CF7-4920-A714-C6F9B3C25A1D}"/>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sp>
        <p:nvSpPr>
          <p:cNvPr id="5" name="A family organises the visit">
            <a:extLst xmlns:a="http://schemas.openxmlformats.org/drawingml/2006/main">
              <a:ext uri="{FF2B5EF4-FFF2-40B4-BE49-F238E27FC236}">
                <a16:creationId xmlns:a16="http://schemas.microsoft.com/office/drawing/2014/main" id="{1A9E5B4F-F614-468B-B751-0F602701DDAF}"/>
              </a:ext>
            </a:extLst>
          </p:cNvPr>
          <p:cNvSpPr>
            <a:spLocks xmlns:a="http://schemas.openxmlformats.org/drawingml/2006/main" noGrp="1"/>
          </p:cNvSpPr>
          <p:nvPr/>
        </p:nvSpPr>
        <p:spPr>
          <a:xfrm xmlns:a="http://schemas.openxmlformats.org/drawingml/2006/main">
            <a:off x="609600" y="17526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A family organises the visit</a:t>
            </a:r>
          </a:p>
        </p:txBody>
      </p:sp>
      <p:sp>
        <p:nvSpPr>
          <p:cNvPr id="6" name="Recipient details, contact information and timing need ">
            <a:extLst xmlns:a="http://schemas.openxmlformats.org/drawingml/2006/main">
              <a:ext uri="{FF2B5EF4-FFF2-40B4-BE49-F238E27FC236}">
                <a16:creationId xmlns:a16="http://schemas.microsoft.com/office/drawing/2014/main" id="{58FA11EB-99D7-44A5-8E20-20056CE69F24}"/>
              </a:ext>
            </a:extLst>
          </p:cNvPr>
          <p:cNvSpPr>
            <a:spLocks xmlns:a="http://schemas.openxmlformats.org/drawingml/2006/main" noGrp="1"/>
          </p:cNvSpPr>
          <p:nvPr/>
        </p:nvSpPr>
        <p:spPr>
          <a:xfrm xmlns:a="http://schemas.openxmlformats.org/drawingml/2006/main">
            <a:off x="609600" y="214312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Recipient details, contact information and timing need to stay together.</a:t>
            </a:r>
          </a:p>
        </p:txBody>
      </p:sp>
      <p:sp>
        <p:nvSpPr>
          <p:cNvPr id="7" name="A provider assigns the work">
            <a:extLst xmlns:a="http://schemas.openxmlformats.org/drawingml/2006/main">
              <a:ext uri="{FF2B5EF4-FFF2-40B4-BE49-F238E27FC236}">
                <a16:creationId xmlns:a16="http://schemas.microsoft.com/office/drawing/2014/main" id="{7C11B8F8-DB97-4FD4-9128-A5B7DC538446}"/>
              </a:ext>
            </a:extLst>
          </p:cNvPr>
          <p:cNvSpPr>
            <a:spLocks xmlns:a="http://schemas.openxmlformats.org/drawingml/2006/main" noGrp="1"/>
          </p:cNvSpPr>
          <p:nvPr/>
        </p:nvSpPr>
        <p:spPr>
          <a:xfrm xmlns:a="http://schemas.openxmlformats.org/drawingml/2006/main">
            <a:off x="609600" y="31623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A provider assigns the work</a:t>
            </a:r>
          </a:p>
        </p:txBody>
      </p:sp>
      <p:sp>
        <p:nvSpPr>
          <p:cNvPr id="8" name="Someone must confirm the person, vehicle and service sc">
            <a:extLst xmlns:a="http://schemas.openxmlformats.org/drawingml/2006/main">
              <a:ext uri="{FF2B5EF4-FFF2-40B4-BE49-F238E27FC236}">
                <a16:creationId xmlns:a16="http://schemas.microsoft.com/office/drawing/2014/main" id="{E9129ACB-0877-40AB-9005-E136C825E571}"/>
              </a:ext>
            </a:extLst>
          </p:cNvPr>
          <p:cNvSpPr>
            <a:spLocks xmlns:a="http://schemas.openxmlformats.org/drawingml/2006/main" noGrp="1"/>
          </p:cNvSpPr>
          <p:nvPr/>
        </p:nvSpPr>
        <p:spPr>
          <a:xfrm xmlns:a="http://schemas.openxmlformats.org/drawingml/2006/main">
            <a:off x="609600" y="355282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Someone must confirm the person, vehicle and service scope.</a:t>
            </a:r>
          </a:p>
        </p:txBody>
      </p:sp>
      <p:sp>
        <p:nvSpPr>
          <p:cNvPr id="9" name="The family needs a status">
            <a:extLst xmlns:a="http://schemas.openxmlformats.org/drawingml/2006/main">
              <a:ext uri="{FF2B5EF4-FFF2-40B4-BE49-F238E27FC236}">
                <a16:creationId xmlns:a16="http://schemas.microsoft.com/office/drawing/2014/main" id="{92E44E84-EFF9-4E46-B283-62224BAD3D05}"/>
              </a:ext>
            </a:extLst>
          </p:cNvPr>
          <p:cNvSpPr>
            <a:spLocks xmlns:a="http://schemas.openxmlformats.org/drawingml/2006/main" noGrp="1"/>
          </p:cNvSpPr>
          <p:nvPr/>
        </p:nvSpPr>
        <p:spPr>
          <a:xfrm xmlns:a="http://schemas.openxmlformats.org/drawingml/2006/main">
            <a:off x="609600" y="45720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The family needs a status</a:t>
            </a:r>
          </a:p>
        </p:txBody>
      </p:sp>
      <p:sp>
        <p:nvSpPr>
          <p:cNvPr id="10" name="Acceptance and arrival should be understandable without">
            <a:extLst xmlns:a="http://schemas.openxmlformats.org/drawingml/2006/main">
              <a:ext uri="{FF2B5EF4-FFF2-40B4-BE49-F238E27FC236}">
                <a16:creationId xmlns:a16="http://schemas.microsoft.com/office/drawing/2014/main" id="{5C2F5FC6-07A7-4710-AAED-78E678970E3C}"/>
              </a:ext>
            </a:extLst>
          </p:cNvPr>
          <p:cNvSpPr>
            <a:spLocks xmlns:a="http://schemas.openxmlformats.org/drawingml/2006/main" noGrp="1"/>
          </p:cNvSpPr>
          <p:nvPr/>
        </p:nvSpPr>
        <p:spPr>
          <a:xfrm xmlns:a="http://schemas.openxmlformats.org/drawingml/2006/main">
            <a:off x="609600" y="496252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Acceptance and arrival should be understandable without repeated follow-up.</a:t>
            </a:r>
          </a:p>
        </p:txBody>
      </p:sp>
    </p:spTree>
    <p:extLst>
      <p:ext uri="{BB962C8B-B14F-4D97-AF65-F5344CB8AC3E}">
        <p14:creationId xmlns:p14="http://schemas.microsoft.com/office/powerpoint/2010/main" val="75291696"/>
      </p:ext>
    </p:extLst>
  </p:cSld>
</p:sld>
</file>

<file path=ppt/slides/slide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1" name="PRODUCT">
            <a:extLst xmlns:a="http://schemas.openxmlformats.org/drawingml/2006/main">
              <a:ext uri="{FF2B5EF4-FFF2-40B4-BE49-F238E27FC236}">
                <a16:creationId xmlns:a16="http://schemas.microsoft.com/office/drawing/2014/main" id="{39F038BD-DAE2-40C6-8D03-D50414B4D37E}"/>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PRODUCT</a:t>
            </a:r>
          </a:p>
        </p:txBody>
      </p:sp>
      <p:sp>
        <p:nvSpPr>
          <p:cNvPr id="2" name="Doctor discovery and booking">
            <a:extLst xmlns:a="http://schemas.openxmlformats.org/drawingml/2006/main">
              <a:ext uri="{FF2B5EF4-FFF2-40B4-BE49-F238E27FC236}">
                <a16:creationId xmlns:a16="http://schemas.microsoft.com/office/drawing/2014/main" id="{3938557D-CF56-45C9-8B4F-6217A941AD62}"/>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Doctor discovery and booking</a:t>
            </a:r>
          </a:p>
        </p:txBody>
      </p:sp>
      <p:sp>
        <p:nvSpPr>
          <p:cNvPr id="3" name="05">
            <a:extLst xmlns:a="http://schemas.openxmlformats.org/drawingml/2006/main">
              <a:ext uri="{FF2B5EF4-FFF2-40B4-BE49-F238E27FC236}">
                <a16:creationId xmlns:a16="http://schemas.microsoft.com/office/drawing/2014/main" id="{53D9AB04-328E-457D-AD28-B3669DB66F59}"/>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05</a:t>
            </a:r>
          </a:p>
        </p:txBody>
      </p:sp>
      <p:sp>
        <p:nvSpPr>
          <p:cNvPr id="4" name="CareNow 1.2.1 · Exhibition prototype · September 2026">
            <a:extLst xmlns:a="http://schemas.openxmlformats.org/drawingml/2006/main">
              <a:ext uri="{FF2B5EF4-FFF2-40B4-BE49-F238E27FC236}">
                <a16:creationId xmlns:a16="http://schemas.microsoft.com/office/drawing/2014/main" id="{DE890681-AF76-430A-85E5-4E3EB938F344}"/>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5b52dd9f81645b1"/>
          <a:stretch xmlns:a="http://schemas.openxmlformats.org/drawingml/2006/main"/>
        </p:blipFill>
        <p:spPr>
          <a:xfrm xmlns:a="http://schemas.openxmlformats.org/drawingml/2006/main">
            <a:off x="1432084" y="1657350"/>
            <a:ext cx="1945958" cy="4324350"/>
          </a:xfrm>
          <a:prstGeom xmlns:a="http://schemas.openxmlformats.org/drawingml/2006/main" prst="rect">
            <a:avLst/>
          </a:prstGeom>
        </p:spPr>
      </p:pic>
      <p:sp>
        <p:nvSpPr>
          <p:cNvPr id="6" name="Find a specialist">
            <a:extLst xmlns:a="http://schemas.openxmlformats.org/drawingml/2006/main">
              <a:ext uri="{FF2B5EF4-FFF2-40B4-BE49-F238E27FC236}">
                <a16:creationId xmlns:a16="http://schemas.microsoft.com/office/drawing/2014/main" id="{20B3F675-E2DC-4DE2-9332-2C25B55AB429}"/>
              </a:ext>
            </a:extLst>
          </p:cNvPr>
          <p:cNvSpPr>
            <a:spLocks xmlns:a="http://schemas.openxmlformats.org/drawingml/2006/main" noGrp="1"/>
          </p:cNvSpPr>
          <p:nvPr/>
        </p:nvSpPr>
        <p:spPr>
          <a:xfrm xmlns:a="http://schemas.openxmlformats.org/drawingml/2006/main">
            <a:off x="1028700" y="6067425"/>
            <a:ext cx="2752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83F35"/>
                </a:solidFill>
                <a:latin typeface="Helvetica Neue"/>
                <a:ea typeface="Helvetica Neue"/>
                <a:cs typeface="Helvetica Neue"/>
              </a:defRPr>
            </a:pPr>
            <a:r>
              <a:rPr sz="1275" b="1">
                <a:solidFill>
                  <a:srgbClr val="183F35"/>
                </a:solidFill>
                <a:latin typeface="Helvetica Neue"/>
                <a:ea typeface="Helvetica Neue"/>
                <a:cs typeface="Helvetica Neue"/>
              </a:rPr>
              <a:t>Find a specialist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99776d13a90447a"/>
          <a:stretch xmlns:a="http://schemas.openxmlformats.org/drawingml/2006/main"/>
        </p:blipFill>
        <p:spPr>
          <a:xfrm xmlns:a="http://schemas.openxmlformats.org/drawingml/2006/main">
            <a:off x="4622959" y="1657350"/>
            <a:ext cx="1945958" cy="4324350"/>
          </a:xfrm>
          <a:prstGeom xmlns:a="http://schemas.openxmlformats.org/drawingml/2006/main" prst="rect">
            <a:avLst/>
          </a:prstGeom>
        </p:spPr>
      </p:pic>
      <p:sp>
        <p:nvSpPr>
          <p:cNvPr id="8" name="Review a demo profile">
            <a:extLst xmlns:a="http://schemas.openxmlformats.org/drawingml/2006/main">
              <a:ext uri="{FF2B5EF4-FFF2-40B4-BE49-F238E27FC236}">
                <a16:creationId xmlns:a16="http://schemas.microsoft.com/office/drawing/2014/main" id="{6E743FD6-1D30-4A5C-B472-2A4BBC0CFB01}"/>
              </a:ext>
            </a:extLst>
          </p:cNvPr>
          <p:cNvSpPr>
            <a:spLocks xmlns:a="http://schemas.openxmlformats.org/drawingml/2006/main" noGrp="1"/>
          </p:cNvSpPr>
          <p:nvPr/>
        </p:nvSpPr>
        <p:spPr>
          <a:xfrm xmlns:a="http://schemas.openxmlformats.org/drawingml/2006/main">
            <a:off x="4219575" y="6067425"/>
            <a:ext cx="2752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83F35"/>
                </a:solidFill>
                <a:latin typeface="Helvetica Neue"/>
                <a:ea typeface="Helvetica Neue"/>
                <a:cs typeface="Helvetica Neue"/>
              </a:defRPr>
            </a:pPr>
            <a:r>
              <a:rPr sz="1275" b="1">
                <a:solidFill>
                  <a:srgbClr val="183F35"/>
                </a:solidFill>
                <a:latin typeface="Helvetica Neue"/>
                <a:ea typeface="Helvetica Neue"/>
                <a:cs typeface="Helvetica Neue"/>
              </a:rPr>
              <a:t>Review a demo profile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8bc4c87ea2740f4"/>
          <a:stretch xmlns:a="http://schemas.openxmlformats.org/drawingml/2006/main"/>
        </p:blipFill>
        <p:spPr>
          <a:xfrm xmlns:a="http://schemas.openxmlformats.org/drawingml/2006/main">
            <a:off x="7813834" y="1657350"/>
            <a:ext cx="1945958" cy="4324350"/>
          </a:xfrm>
          <a:prstGeom xmlns:a="http://schemas.openxmlformats.org/drawingml/2006/main" prst="rect">
            <a:avLst/>
          </a:prstGeom>
        </p:spPr>
      </p:pic>
      <p:sp>
        <p:nvSpPr>
          <p:cNvPr id="10" name="Choose recipient and time">
            <a:extLst xmlns:a="http://schemas.openxmlformats.org/drawingml/2006/main">
              <a:ext uri="{FF2B5EF4-FFF2-40B4-BE49-F238E27FC236}">
                <a16:creationId xmlns:a16="http://schemas.microsoft.com/office/drawing/2014/main" id="{F00D690F-48CD-480A-8322-BDD0BE188D49}"/>
              </a:ext>
            </a:extLst>
          </p:cNvPr>
          <p:cNvSpPr>
            <a:spLocks xmlns:a="http://schemas.openxmlformats.org/drawingml/2006/main" noGrp="1"/>
          </p:cNvSpPr>
          <p:nvPr/>
        </p:nvSpPr>
        <p:spPr>
          <a:xfrm xmlns:a="http://schemas.openxmlformats.org/drawingml/2006/main">
            <a:off x="7410450" y="6067425"/>
            <a:ext cx="2752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83F35"/>
                </a:solidFill>
                <a:latin typeface="Helvetica Neue"/>
                <a:ea typeface="Helvetica Neue"/>
                <a:cs typeface="Helvetica Neue"/>
              </a:defRPr>
            </a:pPr>
            <a:r>
              <a:rPr sz="1275" b="1">
                <a:solidFill>
                  <a:srgbClr val="183F35"/>
                </a:solidFill>
                <a:latin typeface="Helvetica Neue"/>
                <a:ea typeface="Helvetica Neue"/>
                <a:cs typeface="Helvetica Neue"/>
              </a:rPr>
              <a:t>Choose recipient and time</a:t>
            </a:r>
          </a:p>
        </p:txBody>
      </p:sp>
    </p:spTree>
    <p:extLst>
      <p:ext uri="{BB962C8B-B14F-4D97-AF65-F5344CB8AC3E}">
        <p14:creationId xmlns:p14="http://schemas.microsoft.com/office/powerpoint/2010/main" val="364938191"/>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1" name="PRODUCT">
            <a:extLst xmlns:a="http://schemas.openxmlformats.org/drawingml/2006/main">
              <a:ext uri="{FF2B5EF4-FFF2-40B4-BE49-F238E27FC236}">
                <a16:creationId xmlns:a16="http://schemas.microsoft.com/office/drawing/2014/main" id="{3D2E634F-1903-4DDF-94CB-BFFE78561CC3}"/>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PRODUCT</a:t>
            </a:r>
          </a:p>
        </p:txBody>
      </p:sp>
      <p:sp>
        <p:nvSpPr>
          <p:cNvPr id="2" name="Home care requests">
            <a:extLst xmlns:a="http://schemas.openxmlformats.org/drawingml/2006/main">
              <a:ext uri="{FF2B5EF4-FFF2-40B4-BE49-F238E27FC236}">
                <a16:creationId xmlns:a16="http://schemas.microsoft.com/office/drawing/2014/main" id="{DD78C713-AF9B-4E7C-91BB-DE63E5C646F7}"/>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Home care requests</a:t>
            </a:r>
          </a:p>
        </p:txBody>
      </p:sp>
      <p:sp>
        <p:nvSpPr>
          <p:cNvPr id="3" name="06">
            <a:extLst xmlns:a="http://schemas.openxmlformats.org/drawingml/2006/main">
              <a:ext uri="{FF2B5EF4-FFF2-40B4-BE49-F238E27FC236}">
                <a16:creationId xmlns:a16="http://schemas.microsoft.com/office/drawing/2014/main" id="{E2008E16-2AE5-43EE-ACE9-9FDD0F53FF4C}"/>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06</a:t>
            </a:r>
          </a:p>
        </p:txBody>
      </p:sp>
      <p:sp>
        <p:nvSpPr>
          <p:cNvPr id="4" name="CareNow 1.2.1 · Exhibition prototype · September 2026">
            <a:extLst xmlns:a="http://schemas.openxmlformats.org/drawingml/2006/main">
              <a:ext uri="{FF2B5EF4-FFF2-40B4-BE49-F238E27FC236}">
                <a16:creationId xmlns:a16="http://schemas.microsoft.com/office/drawing/2014/main" id="{B3C86CF0-2D75-49D4-BF40-CEC9C08152D2}"/>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ea94f1aae5c4f9b"/>
          <a:stretch xmlns:a="http://schemas.openxmlformats.org/drawingml/2006/main"/>
        </p:blipFill>
        <p:spPr>
          <a:xfrm xmlns:a="http://schemas.openxmlformats.org/drawingml/2006/main">
            <a:off x="1432084" y="1657350"/>
            <a:ext cx="1945958" cy="4324350"/>
          </a:xfrm>
          <a:prstGeom xmlns:a="http://schemas.openxmlformats.org/drawingml/2006/main" prst="rect">
            <a:avLst/>
          </a:prstGeom>
        </p:spPr>
      </p:pic>
      <p:sp>
        <p:nvSpPr>
          <p:cNvPr id="6" name="Explore services">
            <a:extLst xmlns:a="http://schemas.openxmlformats.org/drawingml/2006/main">
              <a:ext uri="{FF2B5EF4-FFF2-40B4-BE49-F238E27FC236}">
                <a16:creationId xmlns:a16="http://schemas.microsoft.com/office/drawing/2014/main" id="{8A9CB544-8BC6-482D-B5CA-212A6DC79E9E}"/>
              </a:ext>
            </a:extLst>
          </p:cNvPr>
          <p:cNvSpPr>
            <a:spLocks xmlns:a="http://schemas.openxmlformats.org/drawingml/2006/main" noGrp="1"/>
          </p:cNvSpPr>
          <p:nvPr/>
        </p:nvSpPr>
        <p:spPr>
          <a:xfrm xmlns:a="http://schemas.openxmlformats.org/drawingml/2006/main">
            <a:off x="1028700" y="6067425"/>
            <a:ext cx="2752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83F35"/>
                </a:solidFill>
                <a:latin typeface="Helvetica Neue"/>
                <a:ea typeface="Helvetica Neue"/>
                <a:cs typeface="Helvetica Neue"/>
              </a:defRPr>
            </a:pPr>
            <a:r>
              <a:rPr sz="1275" b="1">
                <a:solidFill>
                  <a:srgbClr val="183F35"/>
                </a:solidFill>
                <a:latin typeface="Helvetica Neue"/>
                <a:ea typeface="Helvetica Neue"/>
                <a:cs typeface="Helvetica Neue"/>
              </a:rPr>
              <a:t>Explore services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3f063b5d7f0424f"/>
          <a:stretch xmlns:a="http://schemas.openxmlformats.org/drawingml/2006/main"/>
        </p:blipFill>
        <p:spPr>
          <a:xfrm xmlns:a="http://schemas.openxmlformats.org/drawingml/2006/main">
            <a:off x="4622959" y="1657350"/>
            <a:ext cx="1945958" cy="4324350"/>
          </a:xfrm>
          <a:prstGeom xmlns:a="http://schemas.openxmlformats.org/drawingml/2006/main" prst="rect">
            <a:avLst/>
          </a:prstGeom>
        </p:spPr>
      </p:pic>
      <p:sp>
        <p:nvSpPr>
          <p:cNvPr id="8" name="Inspect service scope">
            <a:extLst xmlns:a="http://schemas.openxmlformats.org/drawingml/2006/main">
              <a:ext uri="{FF2B5EF4-FFF2-40B4-BE49-F238E27FC236}">
                <a16:creationId xmlns:a16="http://schemas.microsoft.com/office/drawing/2014/main" id="{05573A51-6D18-4401-9C6C-F7EB30A6CDD8}"/>
              </a:ext>
            </a:extLst>
          </p:cNvPr>
          <p:cNvSpPr>
            <a:spLocks xmlns:a="http://schemas.openxmlformats.org/drawingml/2006/main" noGrp="1"/>
          </p:cNvSpPr>
          <p:nvPr/>
        </p:nvSpPr>
        <p:spPr>
          <a:xfrm xmlns:a="http://schemas.openxmlformats.org/drawingml/2006/main">
            <a:off x="4219575" y="6067425"/>
            <a:ext cx="2752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83F35"/>
                </a:solidFill>
                <a:latin typeface="Helvetica Neue"/>
                <a:ea typeface="Helvetica Neue"/>
                <a:cs typeface="Helvetica Neue"/>
              </a:defRPr>
            </a:pPr>
            <a:r>
              <a:rPr sz="1275" b="1">
                <a:solidFill>
                  <a:srgbClr val="183F35"/>
                </a:solidFill>
                <a:latin typeface="Helvetica Neue"/>
                <a:ea typeface="Helvetica Neue"/>
                <a:cs typeface="Helvetica Neue"/>
              </a:rPr>
              <a:t>Inspect service scope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a8951bf0cb54f10"/>
          <a:stretch xmlns:a="http://schemas.openxmlformats.org/drawingml/2006/main"/>
        </p:blipFill>
        <p:spPr>
          <a:xfrm xmlns:a="http://schemas.openxmlformats.org/drawingml/2006/main">
            <a:off x="7813834" y="1657350"/>
            <a:ext cx="1945958" cy="4324350"/>
          </a:xfrm>
          <a:prstGeom xmlns:a="http://schemas.openxmlformats.org/drawingml/2006/main" prst="rect">
            <a:avLst/>
          </a:prstGeom>
        </p:spPr>
      </p:pic>
      <p:sp>
        <p:nvSpPr>
          <p:cNvPr id="10" name="Arrange a visit">
            <a:extLst xmlns:a="http://schemas.openxmlformats.org/drawingml/2006/main">
              <a:ext uri="{FF2B5EF4-FFF2-40B4-BE49-F238E27FC236}">
                <a16:creationId xmlns:a16="http://schemas.microsoft.com/office/drawing/2014/main" id="{93E97F75-0A4A-44B1-A675-6EA5D7D4D7A5}"/>
              </a:ext>
            </a:extLst>
          </p:cNvPr>
          <p:cNvSpPr>
            <a:spLocks xmlns:a="http://schemas.openxmlformats.org/drawingml/2006/main" noGrp="1"/>
          </p:cNvSpPr>
          <p:nvPr/>
        </p:nvSpPr>
        <p:spPr>
          <a:xfrm xmlns:a="http://schemas.openxmlformats.org/drawingml/2006/main">
            <a:off x="7410450" y="6067425"/>
            <a:ext cx="2752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83F35"/>
                </a:solidFill>
                <a:latin typeface="Helvetica Neue"/>
                <a:ea typeface="Helvetica Neue"/>
                <a:cs typeface="Helvetica Neue"/>
              </a:defRPr>
            </a:pPr>
            <a:r>
              <a:rPr sz="1275" b="1">
                <a:solidFill>
                  <a:srgbClr val="183F35"/>
                </a:solidFill>
                <a:latin typeface="Helvetica Neue"/>
                <a:ea typeface="Helvetica Neue"/>
                <a:cs typeface="Helvetica Neue"/>
              </a:rPr>
              <a:t>Arrange a visit</a:t>
            </a:r>
          </a:p>
        </p:txBody>
      </p:sp>
    </p:spTree>
    <p:extLst>
      <p:ext uri="{BB962C8B-B14F-4D97-AF65-F5344CB8AC3E}">
        <p14:creationId xmlns:p14="http://schemas.microsoft.com/office/powerpoint/2010/main" val="851553350"/>
      </p:ext>
    </p:extLst>
  </p:cSld>
</p:sld>
</file>

<file path=ppt/slides/slide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PRODUCT">
            <a:extLst xmlns:a="http://schemas.openxmlformats.org/drawingml/2006/main">
              <a:ext uri="{FF2B5EF4-FFF2-40B4-BE49-F238E27FC236}">
                <a16:creationId xmlns:a16="http://schemas.microsoft.com/office/drawing/2014/main" id="{342CFDF4-EAE1-4474-B30A-3993CE52D743}"/>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PRODUCT</a:t>
            </a:r>
          </a:p>
        </p:txBody>
      </p:sp>
      <p:sp>
        <p:nvSpPr>
          <p:cNvPr id="2" name="Care status and arrival visibility">
            <a:extLst xmlns:a="http://schemas.openxmlformats.org/drawingml/2006/main">
              <a:ext uri="{FF2B5EF4-FFF2-40B4-BE49-F238E27FC236}">
                <a16:creationId xmlns:a16="http://schemas.microsoft.com/office/drawing/2014/main" id="{92348B84-4FB8-4227-940F-0B365764DE48}"/>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Care status and arrival visibility</a:t>
            </a:r>
          </a:p>
        </p:txBody>
      </p:sp>
      <p:sp>
        <p:nvSpPr>
          <p:cNvPr id="3" name="07">
            <a:extLst xmlns:a="http://schemas.openxmlformats.org/drawingml/2006/main">
              <a:ext uri="{FF2B5EF4-FFF2-40B4-BE49-F238E27FC236}">
                <a16:creationId xmlns:a16="http://schemas.microsoft.com/office/drawing/2014/main" id="{7B8B5224-5791-4874-BA03-F55BD1C291E8}"/>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07</a:t>
            </a:r>
          </a:p>
        </p:txBody>
      </p:sp>
      <p:sp>
        <p:nvSpPr>
          <p:cNvPr id="4" name="CareNow 1.2.1 · Exhibition prototype · September 2026">
            <a:extLst xmlns:a="http://schemas.openxmlformats.org/drawingml/2006/main">
              <a:ext uri="{FF2B5EF4-FFF2-40B4-BE49-F238E27FC236}">
                <a16:creationId xmlns:a16="http://schemas.microsoft.com/office/drawing/2014/main" id="{9612BCD1-46ED-4488-A6A7-33123251656A}"/>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0defd416a7942eb"/>
          <a:stretch xmlns:a="http://schemas.openxmlformats.org/drawingml/2006/main"/>
        </p:blipFill>
        <p:spPr>
          <a:xfrm xmlns:a="http://schemas.openxmlformats.org/drawingml/2006/main">
            <a:off x="3003709" y="1657350"/>
            <a:ext cx="1945958" cy="4324350"/>
          </a:xfrm>
          <a:prstGeom xmlns:a="http://schemas.openxmlformats.org/drawingml/2006/main" prst="rect">
            <a:avLst/>
          </a:prstGeom>
        </p:spPr>
      </p:pic>
      <p:sp>
        <p:nvSpPr>
          <p:cNvPr id="6" name="Ordered job status">
            <a:extLst xmlns:a="http://schemas.openxmlformats.org/drawingml/2006/main">
              <a:ext uri="{FF2B5EF4-FFF2-40B4-BE49-F238E27FC236}">
                <a16:creationId xmlns:a16="http://schemas.microsoft.com/office/drawing/2014/main" id="{427E1D3F-46AD-4A28-B5A9-3A6167D4543F}"/>
              </a:ext>
            </a:extLst>
          </p:cNvPr>
          <p:cNvSpPr>
            <a:spLocks xmlns:a="http://schemas.openxmlformats.org/drawingml/2006/main" noGrp="1"/>
          </p:cNvSpPr>
          <p:nvPr/>
        </p:nvSpPr>
        <p:spPr>
          <a:xfrm xmlns:a="http://schemas.openxmlformats.org/drawingml/2006/main">
            <a:off x="2600325" y="6067425"/>
            <a:ext cx="2752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83F35"/>
                </a:solidFill>
                <a:latin typeface="Helvetica Neue"/>
                <a:ea typeface="Helvetica Neue"/>
                <a:cs typeface="Helvetica Neue"/>
              </a:defRPr>
            </a:pPr>
            <a:r>
              <a:rPr sz="1275" b="1">
                <a:solidFill>
                  <a:srgbClr val="183F35"/>
                </a:solidFill>
                <a:latin typeface="Helvetica Neue"/>
                <a:ea typeface="Helvetica Neue"/>
                <a:cs typeface="Helvetica Neue"/>
              </a:rPr>
              <a:t>Ordered job status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385f11c9348491c"/>
          <a:stretch xmlns:a="http://schemas.openxmlformats.org/drawingml/2006/main"/>
        </p:blipFill>
        <p:spPr>
          <a:xfrm xmlns:a="http://schemas.openxmlformats.org/drawingml/2006/main">
            <a:off x="7480459" y="1657350"/>
            <a:ext cx="1945958" cy="4324350"/>
          </a:xfrm>
          <a:prstGeom xmlns:a="http://schemas.openxmlformats.org/drawingml/2006/main" prst="rect">
            <a:avLst/>
          </a:prstGeom>
        </p:spPr>
      </p:pic>
      <p:sp>
        <p:nvSpPr>
          <p:cNvPr id="8" name="Simulated care team location">
            <a:extLst xmlns:a="http://schemas.openxmlformats.org/drawingml/2006/main">
              <a:ext uri="{FF2B5EF4-FFF2-40B4-BE49-F238E27FC236}">
                <a16:creationId xmlns:a16="http://schemas.microsoft.com/office/drawing/2014/main" id="{6A3B4000-ABC2-4D58-8BF3-0469A2CE5161}"/>
              </a:ext>
            </a:extLst>
          </p:cNvPr>
          <p:cNvSpPr>
            <a:spLocks xmlns:a="http://schemas.openxmlformats.org/drawingml/2006/main" noGrp="1"/>
          </p:cNvSpPr>
          <p:nvPr/>
        </p:nvSpPr>
        <p:spPr>
          <a:xfrm xmlns:a="http://schemas.openxmlformats.org/drawingml/2006/main">
            <a:off x="7077075" y="6067425"/>
            <a:ext cx="2752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83F35"/>
                </a:solidFill>
                <a:latin typeface="Helvetica Neue"/>
                <a:ea typeface="Helvetica Neue"/>
                <a:cs typeface="Helvetica Neue"/>
              </a:defRPr>
            </a:pPr>
            <a:r>
              <a:rPr sz="1275" b="1">
                <a:solidFill>
                  <a:srgbClr val="183F35"/>
                </a:solidFill>
                <a:latin typeface="Helvetica Neue"/>
                <a:ea typeface="Helvetica Neue"/>
                <a:cs typeface="Helvetica Neue"/>
              </a:rPr>
              <a:t>Simulated care team location</a:t>
            </a:r>
          </a:p>
        </p:txBody>
      </p:sp>
    </p:spTree>
    <p:extLst>
      <p:ext uri="{BB962C8B-B14F-4D97-AF65-F5344CB8AC3E}">
        <p14:creationId xmlns:p14="http://schemas.microsoft.com/office/powerpoint/2010/main" val="2057381306"/>
      </p:ext>
    </p:extLst>
  </p:cSld>
</p:sld>
</file>

<file path=ppt/slides/slide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PRODUCT">
            <a:extLst xmlns:a="http://schemas.openxmlformats.org/drawingml/2006/main">
              <a:ext uri="{FF2B5EF4-FFF2-40B4-BE49-F238E27FC236}">
                <a16:creationId xmlns:a16="http://schemas.microsoft.com/office/drawing/2014/main" id="{B3AD4988-9273-41FB-AEBD-C37D3671B3A0}"/>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PRODUCT</a:t>
            </a:r>
          </a:p>
        </p:txBody>
      </p:sp>
      <p:sp>
        <p:nvSpPr>
          <p:cNvPr id="2" name="Transport with street maps and road routes">
            <a:extLst xmlns:a="http://schemas.openxmlformats.org/drawingml/2006/main">
              <a:ext uri="{FF2B5EF4-FFF2-40B4-BE49-F238E27FC236}">
                <a16:creationId xmlns:a16="http://schemas.microsoft.com/office/drawing/2014/main" id="{237CEBC7-2077-4CCE-AC06-F5A2DC3464A7}"/>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Transport with street maps and road routes</a:t>
            </a:r>
          </a:p>
        </p:txBody>
      </p:sp>
      <p:sp>
        <p:nvSpPr>
          <p:cNvPr id="3" name="08">
            <a:extLst xmlns:a="http://schemas.openxmlformats.org/drawingml/2006/main">
              <a:ext uri="{FF2B5EF4-FFF2-40B4-BE49-F238E27FC236}">
                <a16:creationId xmlns:a16="http://schemas.microsoft.com/office/drawing/2014/main" id="{1DB9B9BB-D4EE-41C8-88D2-36EB074FF167}"/>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08</a:t>
            </a:r>
          </a:p>
        </p:txBody>
      </p:sp>
      <p:sp>
        <p:nvSpPr>
          <p:cNvPr id="4" name="CareNow 1.2.1 · Exhibition prototype · September 2026">
            <a:extLst xmlns:a="http://schemas.openxmlformats.org/drawingml/2006/main">
              <a:ext uri="{FF2B5EF4-FFF2-40B4-BE49-F238E27FC236}">
                <a16:creationId xmlns:a16="http://schemas.microsoft.com/office/drawing/2014/main" id="{0B04C8E3-2144-4E1E-A209-73DDE58C5FF2}"/>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sp>
        <p:nvSpPr>
          <p:cNvPr id="5" name="Four vehicle classes">
            <a:extLst xmlns:a="http://schemas.openxmlformats.org/drawingml/2006/main">
              <a:ext uri="{FF2B5EF4-FFF2-40B4-BE49-F238E27FC236}">
                <a16:creationId xmlns:a16="http://schemas.microsoft.com/office/drawing/2014/main" id="{0685920C-2334-4507-9D5F-7B62F8F931D5}"/>
              </a:ext>
            </a:extLst>
          </p:cNvPr>
          <p:cNvSpPr>
            <a:spLocks xmlns:a="http://schemas.openxmlformats.org/drawingml/2006/main" noGrp="1"/>
          </p:cNvSpPr>
          <p:nvPr/>
        </p:nvSpPr>
        <p:spPr>
          <a:xfrm xmlns:a="http://schemas.openxmlformats.org/drawingml/2006/main">
            <a:off x="609600" y="1743075"/>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Four vehicle classes</a:t>
            </a:r>
          </a:p>
        </p:txBody>
      </p:sp>
      <p:sp>
        <p:nvSpPr>
          <p:cNvPr id="6" name="Ambulance, accessible van, truck and minibus.">
            <a:extLst xmlns:a="http://schemas.openxmlformats.org/drawingml/2006/main">
              <a:ext uri="{FF2B5EF4-FFF2-40B4-BE49-F238E27FC236}">
                <a16:creationId xmlns:a16="http://schemas.microsoft.com/office/drawing/2014/main" id="{8CDADE87-4E09-4F10-B99F-5E1A53BD3082}"/>
              </a:ext>
            </a:extLst>
          </p:cNvPr>
          <p:cNvSpPr>
            <a:spLocks xmlns:a="http://schemas.openxmlformats.org/drawingml/2006/main" noGrp="1"/>
          </p:cNvSpPr>
          <p:nvPr/>
        </p:nvSpPr>
        <p:spPr>
          <a:xfrm xmlns:a="http://schemas.openxmlformats.org/drawingml/2006/main">
            <a:off x="609600" y="2133600"/>
            <a:ext cx="609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Ambulance, accessible van, truck and minibus.</a:t>
            </a:r>
          </a:p>
        </p:txBody>
      </p:sp>
      <p:sp>
        <p:nvSpPr>
          <p:cNvPr id="7" name="Relevant booking details">
            <a:extLst xmlns:a="http://schemas.openxmlformats.org/drawingml/2006/main">
              <a:ext uri="{FF2B5EF4-FFF2-40B4-BE49-F238E27FC236}">
                <a16:creationId xmlns:a16="http://schemas.microsoft.com/office/drawing/2014/main" id="{FA758460-4415-4AFC-9161-0EC24B417FE6}"/>
              </a:ext>
            </a:extLst>
          </p:cNvPr>
          <p:cNvSpPr>
            <a:spLocks xmlns:a="http://schemas.openxmlformats.org/drawingml/2006/main" noGrp="1"/>
          </p:cNvSpPr>
          <p:nvPr/>
        </p:nvSpPr>
        <p:spPr>
          <a:xfrm xmlns:a="http://schemas.openxmlformats.org/drawingml/2006/main">
            <a:off x="609600" y="3124200"/>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Relevant booking details</a:t>
            </a:r>
          </a:p>
        </p:txBody>
      </p:sp>
      <p:sp>
        <p:nvSpPr>
          <p:cNvPr id="8" name="Cargo, capacity, passenger count and scheduled departur">
            <a:extLst xmlns:a="http://schemas.openxmlformats.org/drawingml/2006/main">
              <a:ext uri="{FF2B5EF4-FFF2-40B4-BE49-F238E27FC236}">
                <a16:creationId xmlns:a16="http://schemas.microsoft.com/office/drawing/2014/main" id="{3A3A268F-70C8-4229-A21C-EF61703ED52E}"/>
              </a:ext>
            </a:extLst>
          </p:cNvPr>
          <p:cNvSpPr>
            <a:spLocks xmlns:a="http://schemas.openxmlformats.org/drawingml/2006/main" noGrp="1"/>
          </p:cNvSpPr>
          <p:nvPr/>
        </p:nvSpPr>
        <p:spPr>
          <a:xfrm xmlns:a="http://schemas.openxmlformats.org/drawingml/2006/main">
            <a:off x="609600" y="3514725"/>
            <a:ext cx="609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Cargo, capacity, passenger count and scheduled departure.</a:t>
            </a:r>
          </a:p>
        </p:txBody>
      </p:sp>
      <p:sp>
        <p:nvSpPr>
          <p:cNvPr id="9" name="Responsive booking controls">
            <a:extLst xmlns:a="http://schemas.openxmlformats.org/drawingml/2006/main">
              <a:ext uri="{FF2B5EF4-FFF2-40B4-BE49-F238E27FC236}">
                <a16:creationId xmlns:a16="http://schemas.microsoft.com/office/drawing/2014/main" id="{14EAFB97-FB3E-45FD-A310-982BF7398468}"/>
              </a:ext>
            </a:extLst>
          </p:cNvPr>
          <p:cNvSpPr>
            <a:spLocks xmlns:a="http://schemas.openxmlformats.org/drawingml/2006/main" noGrp="1"/>
          </p:cNvSpPr>
          <p:nvPr/>
        </p:nvSpPr>
        <p:spPr>
          <a:xfrm xmlns:a="http://schemas.openxmlformats.org/drawingml/2006/main">
            <a:off x="609600" y="4505325"/>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Responsive booking controls</a:t>
            </a:r>
          </a:p>
        </p:txBody>
      </p:sp>
      <p:sp>
        <p:nvSpPr>
          <p:cNvPr id="10" name="Scrollable compact layout and an animated drawer on tal">
            <a:extLst xmlns:a="http://schemas.openxmlformats.org/drawingml/2006/main">
              <a:ext uri="{FF2B5EF4-FFF2-40B4-BE49-F238E27FC236}">
                <a16:creationId xmlns:a16="http://schemas.microsoft.com/office/drawing/2014/main" id="{7A091AC8-C1AC-47BD-A789-CAF614DC2401}"/>
              </a:ext>
            </a:extLst>
          </p:cNvPr>
          <p:cNvSpPr>
            <a:spLocks xmlns:a="http://schemas.openxmlformats.org/drawingml/2006/main" noGrp="1"/>
          </p:cNvSpPr>
          <p:nvPr/>
        </p:nvSpPr>
        <p:spPr>
          <a:xfrm xmlns:a="http://schemas.openxmlformats.org/drawingml/2006/main">
            <a:off x="609600" y="4895850"/>
            <a:ext cx="609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Scrollable compact layout and an animated drawer on taller phones.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6c6b4d194a0941ba"/>
          <a:stretch xmlns:a="http://schemas.openxmlformats.org/drawingml/2006/main"/>
        </p:blipFill>
        <p:spPr>
          <a:xfrm xmlns:a="http://schemas.openxmlformats.org/drawingml/2006/main">
            <a:off x="8305800" y="1628775"/>
            <a:ext cx="2057400" cy="4572000"/>
          </a:xfrm>
          <a:prstGeom xmlns:a="http://schemas.openxmlformats.org/drawingml/2006/main" prst="rect">
            <a:avLst/>
          </a:prstGeom>
        </p:spPr>
      </p:pic>
    </p:spTree>
    <p:extLst>
      <p:ext uri="{BB962C8B-B14F-4D97-AF65-F5344CB8AC3E}">
        <p14:creationId xmlns:p14="http://schemas.microsoft.com/office/powerpoint/2010/main" val="2096242536"/>
      </p:ext>
    </p:extLst>
  </p:cSld>
</p:sld>
</file>

<file path=ppt/slides/slide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3" name="SERVICE SCOPE">
            <a:extLst xmlns:a="http://schemas.openxmlformats.org/drawingml/2006/main">
              <a:ext uri="{FF2B5EF4-FFF2-40B4-BE49-F238E27FC236}">
                <a16:creationId xmlns:a16="http://schemas.microsoft.com/office/drawing/2014/main" id="{E294CDE1-3222-4652-81EA-8D7CFF24A0B9}"/>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SERVICE SCOPE</a:t>
            </a:r>
          </a:p>
        </p:txBody>
      </p:sp>
      <p:sp>
        <p:nvSpPr>
          <p:cNvPr id="2" name="Broader transport in the same product">
            <a:extLst xmlns:a="http://schemas.openxmlformats.org/drawingml/2006/main">
              <a:ext uri="{FF2B5EF4-FFF2-40B4-BE49-F238E27FC236}">
                <a16:creationId xmlns:a16="http://schemas.microsoft.com/office/drawing/2014/main" id="{C6087A8E-08AF-4E60-8EA8-F788E3EF845B}"/>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Broader transport in the same product</a:t>
            </a:r>
          </a:p>
        </p:txBody>
      </p:sp>
      <p:sp>
        <p:nvSpPr>
          <p:cNvPr id="3" name="09">
            <a:extLst xmlns:a="http://schemas.openxmlformats.org/drawingml/2006/main">
              <a:ext uri="{FF2B5EF4-FFF2-40B4-BE49-F238E27FC236}">
                <a16:creationId xmlns:a16="http://schemas.microsoft.com/office/drawing/2014/main" id="{E4985943-1335-4CDC-AFF2-2324C7CD3119}"/>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09</a:t>
            </a:r>
          </a:p>
        </p:txBody>
      </p:sp>
      <p:sp>
        <p:nvSpPr>
          <p:cNvPr id="4" name="CareNow 1.2.1 · Exhibition prototype · September 2026">
            <a:extLst xmlns:a="http://schemas.openxmlformats.org/drawingml/2006/main">
              <a:ext uri="{FF2B5EF4-FFF2-40B4-BE49-F238E27FC236}">
                <a16:creationId xmlns:a16="http://schemas.microsoft.com/office/drawing/2014/main" id="{8030A233-1DD6-4FA8-9128-4A5D38828C58}"/>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8b8390edd434721"/>
          <a:srcRect xmlns:a="http://schemas.openxmlformats.org/drawingml/2006/main" l="9369" t="0" r="9369" b="0"/>
          <a:stretch xmlns:a="http://schemas.openxmlformats.org/drawingml/2006/main">
            <a:fillRect l="0" t="0" r="0" b="0"/>
          </a:stretch>
        </p:blipFill>
        <p:spPr>
          <a:xfrm xmlns:a="http://schemas.openxmlformats.org/drawingml/2006/main">
            <a:off x="5943600" y="1704975"/>
            <a:ext cx="5638800" cy="3905250"/>
          </a:xfrm>
          <a:prstGeom xmlns:a="http://schemas.openxmlformats.org/drawingml/2006/main" prst="rect">
            <a:avLst/>
          </a:prstGeom>
        </p:spPr>
      </p:pic>
      <p:sp>
        <p:nvSpPr>
          <p:cNvPr id="6" name="Assisted travel">
            <a:extLst xmlns:a="http://schemas.openxmlformats.org/drawingml/2006/main">
              <a:ext uri="{FF2B5EF4-FFF2-40B4-BE49-F238E27FC236}">
                <a16:creationId xmlns:a16="http://schemas.microsoft.com/office/drawing/2014/main" id="{AB76E1C9-22F1-47F1-868D-DB5F93ED05CC}"/>
              </a:ext>
            </a:extLst>
          </p:cNvPr>
          <p:cNvSpPr>
            <a:spLocks xmlns:a="http://schemas.openxmlformats.org/drawingml/2006/main" noGrp="1"/>
          </p:cNvSpPr>
          <p:nvPr/>
        </p:nvSpPr>
        <p:spPr>
          <a:xfrm xmlns:a="http://schemas.openxmlformats.org/drawingml/2006/main">
            <a:off x="609600" y="182880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Assisted travel</a:t>
            </a:r>
          </a:p>
        </p:txBody>
      </p:sp>
      <p:sp>
        <p:nvSpPr>
          <p:cNvPr id="7" name="Vehicle suitability and reliable pickup.">
            <a:extLst xmlns:a="http://schemas.openxmlformats.org/drawingml/2006/main">
              <a:ext uri="{FF2B5EF4-FFF2-40B4-BE49-F238E27FC236}">
                <a16:creationId xmlns:a16="http://schemas.microsoft.com/office/drawing/2014/main" id="{93CFFC22-2A4C-496B-9905-E8E81924FDC8}"/>
              </a:ext>
            </a:extLst>
          </p:cNvPr>
          <p:cNvSpPr>
            <a:spLocks xmlns:a="http://schemas.openxmlformats.org/drawingml/2006/main" noGrp="1"/>
          </p:cNvSpPr>
          <p:nvPr/>
        </p:nvSpPr>
        <p:spPr>
          <a:xfrm xmlns:a="http://schemas.openxmlformats.org/drawingml/2006/main">
            <a:off x="609600" y="2219325"/>
            <a:ext cx="4857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Vehicle suitability and reliable pickup.</a:t>
            </a:r>
          </a:p>
        </p:txBody>
      </p:sp>
      <p:sp>
        <p:nvSpPr>
          <p:cNvPr id="8" name="Household cargo">
            <a:extLst xmlns:a="http://schemas.openxmlformats.org/drawingml/2006/main">
              <a:ext uri="{FF2B5EF4-FFF2-40B4-BE49-F238E27FC236}">
                <a16:creationId xmlns:a16="http://schemas.microsoft.com/office/drawing/2014/main" id="{C8F78C23-6185-4BFF-8C27-7D525024CF52}"/>
              </a:ext>
            </a:extLst>
          </p:cNvPr>
          <p:cNvSpPr>
            <a:spLocks xmlns:a="http://schemas.openxmlformats.org/drawingml/2006/main" noGrp="1"/>
          </p:cNvSpPr>
          <p:nvPr/>
        </p:nvSpPr>
        <p:spPr>
          <a:xfrm xmlns:a="http://schemas.openxmlformats.org/drawingml/2006/main">
            <a:off x="609600" y="304800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Household cargo</a:t>
            </a:r>
          </a:p>
        </p:txBody>
      </p:sp>
      <p:sp>
        <p:nvSpPr>
          <p:cNvPr id="9" name="Capacity, loading details and timing.">
            <a:extLst xmlns:a="http://schemas.openxmlformats.org/drawingml/2006/main">
              <a:ext uri="{FF2B5EF4-FFF2-40B4-BE49-F238E27FC236}">
                <a16:creationId xmlns:a16="http://schemas.microsoft.com/office/drawing/2014/main" id="{36528284-8CCC-454B-B53F-97D4A70EF879}"/>
              </a:ext>
            </a:extLst>
          </p:cNvPr>
          <p:cNvSpPr>
            <a:spLocks xmlns:a="http://schemas.openxmlformats.org/drawingml/2006/main" noGrp="1"/>
          </p:cNvSpPr>
          <p:nvPr/>
        </p:nvSpPr>
        <p:spPr>
          <a:xfrm xmlns:a="http://schemas.openxmlformats.org/drawingml/2006/main">
            <a:off x="609600" y="3438525"/>
            <a:ext cx="4857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Capacity, loading details and timing.</a:t>
            </a:r>
          </a:p>
        </p:txBody>
      </p:sp>
      <p:sp>
        <p:nvSpPr>
          <p:cNvPr id="10" name="Group journeys">
            <a:extLst xmlns:a="http://schemas.openxmlformats.org/drawingml/2006/main">
              <a:ext uri="{FF2B5EF4-FFF2-40B4-BE49-F238E27FC236}">
                <a16:creationId xmlns:a16="http://schemas.microsoft.com/office/drawing/2014/main" id="{E0888649-3924-4F66-88FB-1D11B77D90E4}"/>
              </a:ext>
            </a:extLst>
          </p:cNvPr>
          <p:cNvSpPr>
            <a:spLocks xmlns:a="http://schemas.openxmlformats.org/drawingml/2006/main" noGrp="1"/>
          </p:cNvSpPr>
          <p:nvPr/>
        </p:nvSpPr>
        <p:spPr>
          <a:xfrm xmlns:a="http://schemas.openxmlformats.org/drawingml/2006/main">
            <a:off x="609600" y="426720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Group journeys</a:t>
            </a:r>
          </a:p>
        </p:txBody>
      </p:sp>
      <p:sp>
        <p:nvSpPr>
          <p:cNvPr id="11" name="Passenger count and whole-vehicle hire.">
            <a:extLst xmlns:a="http://schemas.openxmlformats.org/drawingml/2006/main">
              <a:ext uri="{FF2B5EF4-FFF2-40B4-BE49-F238E27FC236}">
                <a16:creationId xmlns:a16="http://schemas.microsoft.com/office/drawing/2014/main" id="{BFF6C19D-29DB-412D-B509-76555913188F}"/>
              </a:ext>
            </a:extLst>
          </p:cNvPr>
          <p:cNvSpPr>
            <a:spLocks xmlns:a="http://schemas.openxmlformats.org/drawingml/2006/main" noGrp="1"/>
          </p:cNvSpPr>
          <p:nvPr/>
        </p:nvSpPr>
        <p:spPr>
          <a:xfrm xmlns:a="http://schemas.openxmlformats.org/drawingml/2006/main">
            <a:off x="609600" y="4657725"/>
            <a:ext cx="4857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Passenger count and whole-vehicle hire.</a:t>
            </a:r>
          </a:p>
        </p:txBody>
      </p:sp>
      <p:sp>
        <p:nvSpPr>
          <p:cNvPr id="12" name="AI-generated concept illustration">
            <a:extLst xmlns:a="http://schemas.openxmlformats.org/drawingml/2006/main">
              <a:ext uri="{FF2B5EF4-FFF2-40B4-BE49-F238E27FC236}">
                <a16:creationId xmlns:a16="http://schemas.microsoft.com/office/drawing/2014/main" id="{74262812-F1BA-4ED4-8520-47AA0BFC7949}"/>
              </a:ext>
            </a:extLst>
          </p:cNvPr>
          <p:cNvSpPr>
            <a:spLocks xmlns:a="http://schemas.openxmlformats.org/drawingml/2006/main" noGrp="1"/>
          </p:cNvSpPr>
          <p:nvPr/>
        </p:nvSpPr>
        <p:spPr>
          <a:xfrm xmlns:a="http://schemas.openxmlformats.org/drawingml/2006/main">
            <a:off x="6134100" y="5762625"/>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61726B"/>
                </a:solidFill>
                <a:latin typeface="Helvetica Neue"/>
                <a:ea typeface="Helvetica Neue"/>
                <a:cs typeface="Helvetica Neue"/>
              </a:defRPr>
            </a:pPr>
            <a:r>
              <a:rPr sz="1275" b="0">
                <a:solidFill>
                  <a:srgbClr val="61726B"/>
                </a:solidFill>
                <a:latin typeface="Helvetica Neue"/>
                <a:ea typeface="Helvetica Neue"/>
                <a:cs typeface="Helvetica Neue"/>
              </a:rPr>
              <a:t>AI-generated concept illustration</a:t>
            </a:r>
          </a:p>
        </p:txBody>
      </p:sp>
    </p:spTree>
    <p:extLst>
      <p:ext uri="{BB962C8B-B14F-4D97-AF65-F5344CB8AC3E}">
        <p14:creationId xmlns:p14="http://schemas.microsoft.com/office/powerpoint/2010/main" val="402614307"/>
      </p:ext>
    </p:extLst>
  </p:cSld>
</p:sld>
</file>

<file path=ppt/slides/slide1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1" name="PRODUCT">
            <a:extLst xmlns:a="http://schemas.openxmlformats.org/drawingml/2006/main">
              <a:ext uri="{FF2B5EF4-FFF2-40B4-BE49-F238E27FC236}">
                <a16:creationId xmlns:a16="http://schemas.microsoft.com/office/drawing/2014/main" id="{A60A9F47-84D9-4D53-B5B9-AE302A79D5F0}"/>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PRODUCT</a:t>
            </a:r>
          </a:p>
        </p:txBody>
      </p:sp>
      <p:sp>
        <p:nvSpPr>
          <p:cNvPr id="2" name="Family routines and records">
            <a:extLst xmlns:a="http://schemas.openxmlformats.org/drawingml/2006/main">
              <a:ext uri="{FF2B5EF4-FFF2-40B4-BE49-F238E27FC236}">
                <a16:creationId xmlns:a16="http://schemas.microsoft.com/office/drawing/2014/main" id="{A7B66139-7C37-41F8-92EE-DC503EB14BDE}"/>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Family routines and records</a:t>
            </a:r>
          </a:p>
        </p:txBody>
      </p:sp>
      <p:sp>
        <p:nvSpPr>
          <p:cNvPr id="3" name="10">
            <a:extLst xmlns:a="http://schemas.openxmlformats.org/drawingml/2006/main">
              <a:ext uri="{FF2B5EF4-FFF2-40B4-BE49-F238E27FC236}">
                <a16:creationId xmlns:a16="http://schemas.microsoft.com/office/drawing/2014/main" id="{3D81F366-0A7D-4A7E-B899-06E0870D80B2}"/>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10</a:t>
            </a:r>
          </a:p>
        </p:txBody>
      </p:sp>
      <p:sp>
        <p:nvSpPr>
          <p:cNvPr id="4" name="CareNow 1.2.1 · Exhibition prototype · September 2026">
            <a:extLst xmlns:a="http://schemas.openxmlformats.org/drawingml/2006/main">
              <a:ext uri="{FF2B5EF4-FFF2-40B4-BE49-F238E27FC236}">
                <a16:creationId xmlns:a16="http://schemas.microsoft.com/office/drawing/2014/main" id="{F1F33474-AD6F-40F9-A168-A3C30ED7F004}"/>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3a864dd92d144aa"/>
          <a:stretch xmlns:a="http://schemas.openxmlformats.org/drawingml/2006/main"/>
        </p:blipFill>
        <p:spPr>
          <a:xfrm xmlns:a="http://schemas.openxmlformats.org/drawingml/2006/main">
            <a:off x="1432084" y="1657350"/>
            <a:ext cx="1945958" cy="4324350"/>
          </a:xfrm>
          <a:prstGeom xmlns:a="http://schemas.openxmlformats.org/drawingml/2006/main" prst="rect">
            <a:avLst/>
          </a:prstGeom>
        </p:spPr>
      </p:pic>
      <p:sp>
        <p:nvSpPr>
          <p:cNvPr id="6" name="Motherhood timeline">
            <a:extLst xmlns:a="http://schemas.openxmlformats.org/drawingml/2006/main">
              <a:ext uri="{FF2B5EF4-FFF2-40B4-BE49-F238E27FC236}">
                <a16:creationId xmlns:a16="http://schemas.microsoft.com/office/drawing/2014/main" id="{BC515266-E58A-4965-8C07-FED7F6405C42}"/>
              </a:ext>
            </a:extLst>
          </p:cNvPr>
          <p:cNvSpPr>
            <a:spLocks xmlns:a="http://schemas.openxmlformats.org/drawingml/2006/main" noGrp="1"/>
          </p:cNvSpPr>
          <p:nvPr/>
        </p:nvSpPr>
        <p:spPr>
          <a:xfrm xmlns:a="http://schemas.openxmlformats.org/drawingml/2006/main">
            <a:off x="1028700" y="6067425"/>
            <a:ext cx="2752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83F35"/>
                </a:solidFill>
                <a:latin typeface="Helvetica Neue"/>
                <a:ea typeface="Helvetica Neue"/>
                <a:cs typeface="Helvetica Neue"/>
              </a:defRPr>
            </a:pPr>
            <a:r>
              <a:rPr sz="1275" b="1">
                <a:solidFill>
                  <a:srgbClr val="183F35"/>
                </a:solidFill>
                <a:latin typeface="Helvetica Neue"/>
                <a:ea typeface="Helvetica Neue"/>
                <a:cs typeface="Helvetica Neue"/>
              </a:rPr>
              <a:t>Motherhood timeline</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f54e8a77bb9463e"/>
          <a:stretch xmlns:a="http://schemas.openxmlformats.org/drawingml/2006/main"/>
        </p:blipFill>
        <p:spPr>
          <a:xfrm xmlns:a="http://schemas.openxmlformats.org/drawingml/2006/main">
            <a:off x="4622959" y="1657350"/>
            <a:ext cx="1945958" cy="4324350"/>
          </a:xfrm>
          <a:prstGeom xmlns:a="http://schemas.openxmlformats.org/drawingml/2006/main" prst="rect">
            <a:avLst/>
          </a:prstGeom>
        </p:spPr>
      </p:pic>
      <p:sp>
        <p:nvSpPr>
          <p:cNvPr id="8" name="Daily child routines">
            <a:extLst xmlns:a="http://schemas.openxmlformats.org/drawingml/2006/main">
              <a:ext uri="{FF2B5EF4-FFF2-40B4-BE49-F238E27FC236}">
                <a16:creationId xmlns:a16="http://schemas.microsoft.com/office/drawing/2014/main" id="{7E1ED273-C5FF-48A8-92AB-FA2339100BD0}"/>
              </a:ext>
            </a:extLst>
          </p:cNvPr>
          <p:cNvSpPr>
            <a:spLocks xmlns:a="http://schemas.openxmlformats.org/drawingml/2006/main" noGrp="1"/>
          </p:cNvSpPr>
          <p:nvPr/>
        </p:nvSpPr>
        <p:spPr>
          <a:xfrm xmlns:a="http://schemas.openxmlformats.org/drawingml/2006/main">
            <a:off x="4219575" y="6067425"/>
            <a:ext cx="2752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83F35"/>
                </a:solidFill>
                <a:latin typeface="Helvetica Neue"/>
                <a:ea typeface="Helvetica Neue"/>
                <a:cs typeface="Helvetica Neue"/>
              </a:defRPr>
            </a:pPr>
            <a:r>
              <a:rPr sz="1275" b="1">
                <a:solidFill>
                  <a:srgbClr val="183F35"/>
                </a:solidFill>
                <a:latin typeface="Helvetica Neue"/>
                <a:ea typeface="Helvetica Neue"/>
                <a:cs typeface="Helvetica Neue"/>
              </a:rPr>
              <a:t>Daily child routines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5cbe9e8624e4afd"/>
          <a:stretch xmlns:a="http://schemas.openxmlformats.org/drawingml/2006/main"/>
        </p:blipFill>
        <p:spPr>
          <a:xfrm xmlns:a="http://schemas.openxmlformats.org/drawingml/2006/main">
            <a:off x="7813834" y="1657350"/>
            <a:ext cx="1945958" cy="4324350"/>
          </a:xfrm>
          <a:prstGeom xmlns:a="http://schemas.openxmlformats.org/drawingml/2006/main" prst="rect">
            <a:avLst/>
          </a:prstGeom>
        </p:spPr>
      </p:pic>
      <p:sp>
        <p:nvSpPr>
          <p:cNvPr id="10" name="Family records">
            <a:extLst xmlns:a="http://schemas.openxmlformats.org/drawingml/2006/main">
              <a:ext uri="{FF2B5EF4-FFF2-40B4-BE49-F238E27FC236}">
                <a16:creationId xmlns:a16="http://schemas.microsoft.com/office/drawing/2014/main" id="{0FB05C88-4C94-4ED7-ACD8-899C6384BD56}"/>
              </a:ext>
            </a:extLst>
          </p:cNvPr>
          <p:cNvSpPr>
            <a:spLocks xmlns:a="http://schemas.openxmlformats.org/drawingml/2006/main" noGrp="1"/>
          </p:cNvSpPr>
          <p:nvPr/>
        </p:nvSpPr>
        <p:spPr>
          <a:xfrm xmlns:a="http://schemas.openxmlformats.org/drawingml/2006/main">
            <a:off x="7410450" y="6067425"/>
            <a:ext cx="2752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83F35"/>
                </a:solidFill>
                <a:latin typeface="Helvetica Neue"/>
                <a:ea typeface="Helvetica Neue"/>
                <a:cs typeface="Helvetica Neue"/>
              </a:defRPr>
            </a:pPr>
            <a:r>
              <a:rPr sz="1275" b="1">
                <a:solidFill>
                  <a:srgbClr val="183F35"/>
                </a:solidFill>
                <a:latin typeface="Helvetica Neue"/>
                <a:ea typeface="Helvetica Neue"/>
                <a:cs typeface="Helvetica Neue"/>
              </a:rPr>
              <a:t>Family records</a:t>
            </a:r>
          </a:p>
        </p:txBody>
      </p:sp>
    </p:spTree>
    <p:extLst>
      <p:ext uri="{BB962C8B-B14F-4D97-AF65-F5344CB8AC3E}">
        <p14:creationId xmlns:p14="http://schemas.microsoft.com/office/powerpoint/2010/main" val="389594872"/>
      </p:ext>
    </p:extLst>
  </p:cSld>
</p:sld>
</file>

<file path=ppt/slides/slide1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1" name="PRODUCT">
            <a:extLst xmlns:a="http://schemas.openxmlformats.org/drawingml/2006/main">
              <a:ext uri="{FF2B5EF4-FFF2-40B4-BE49-F238E27FC236}">
                <a16:creationId xmlns:a16="http://schemas.microsoft.com/office/drawing/2014/main" id="{60B38E5D-0330-4A5F-82FA-24C968404B3D}"/>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PRODUCT</a:t>
            </a:r>
          </a:p>
        </p:txBody>
      </p:sp>
      <p:sp>
        <p:nvSpPr>
          <p:cNvPr id="2" name="Professional workspaces">
            <a:extLst xmlns:a="http://schemas.openxmlformats.org/drawingml/2006/main">
              <a:ext uri="{FF2B5EF4-FFF2-40B4-BE49-F238E27FC236}">
                <a16:creationId xmlns:a16="http://schemas.microsoft.com/office/drawing/2014/main" id="{EA319F34-6FEC-4308-9B7B-9595631A7B5C}"/>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Professional workspaces</a:t>
            </a:r>
          </a:p>
        </p:txBody>
      </p:sp>
      <p:sp>
        <p:nvSpPr>
          <p:cNvPr id="3" name="11">
            <a:extLst xmlns:a="http://schemas.openxmlformats.org/drawingml/2006/main">
              <a:ext uri="{FF2B5EF4-FFF2-40B4-BE49-F238E27FC236}">
                <a16:creationId xmlns:a16="http://schemas.microsoft.com/office/drawing/2014/main" id="{FB4C56D2-E2ED-4206-BC9D-909C4077E086}"/>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11</a:t>
            </a:r>
          </a:p>
        </p:txBody>
      </p:sp>
      <p:sp>
        <p:nvSpPr>
          <p:cNvPr id="4" name="CareNow 1.2.1 · Exhibition prototype · September 2026">
            <a:extLst xmlns:a="http://schemas.openxmlformats.org/drawingml/2006/main">
              <a:ext uri="{FF2B5EF4-FFF2-40B4-BE49-F238E27FC236}">
                <a16:creationId xmlns:a16="http://schemas.microsoft.com/office/drawing/2014/main" id="{0E053481-9EF0-4A17-8B67-879E52DEAB8D}"/>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4addbb1881e4ac4"/>
          <a:stretch xmlns:a="http://schemas.openxmlformats.org/drawingml/2006/main"/>
        </p:blipFill>
        <p:spPr>
          <a:xfrm xmlns:a="http://schemas.openxmlformats.org/drawingml/2006/main">
            <a:off x="1353194" y="1657350"/>
            <a:ext cx="2103738" cy="4324350"/>
          </a:xfrm>
          <a:prstGeom xmlns:a="http://schemas.openxmlformats.org/drawingml/2006/main" prst="rect">
            <a:avLst/>
          </a:prstGeom>
        </p:spPr>
      </p:pic>
      <p:sp>
        <p:nvSpPr>
          <p:cNvPr id="6" name="Provider operations">
            <a:extLst xmlns:a="http://schemas.openxmlformats.org/drawingml/2006/main">
              <a:ext uri="{FF2B5EF4-FFF2-40B4-BE49-F238E27FC236}">
                <a16:creationId xmlns:a16="http://schemas.microsoft.com/office/drawing/2014/main" id="{E53123B5-843F-46AE-A5D0-1F6612455032}"/>
              </a:ext>
            </a:extLst>
          </p:cNvPr>
          <p:cNvSpPr>
            <a:spLocks xmlns:a="http://schemas.openxmlformats.org/drawingml/2006/main" noGrp="1"/>
          </p:cNvSpPr>
          <p:nvPr/>
        </p:nvSpPr>
        <p:spPr>
          <a:xfrm xmlns:a="http://schemas.openxmlformats.org/drawingml/2006/main">
            <a:off x="1028700" y="6067425"/>
            <a:ext cx="2752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83F35"/>
                </a:solidFill>
                <a:latin typeface="Helvetica Neue"/>
                <a:ea typeface="Helvetica Neue"/>
                <a:cs typeface="Helvetica Neue"/>
              </a:defRPr>
            </a:pPr>
            <a:r>
              <a:rPr sz="1275" b="1">
                <a:solidFill>
                  <a:srgbClr val="183F35"/>
                </a:solidFill>
                <a:latin typeface="Helvetica Neue"/>
                <a:ea typeface="Helvetica Neue"/>
                <a:cs typeface="Helvetica Neue"/>
              </a:rPr>
              <a:t>Provider operations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fc034e369cf4406"/>
          <a:stretch xmlns:a="http://schemas.openxmlformats.org/drawingml/2006/main"/>
        </p:blipFill>
        <p:spPr>
          <a:xfrm xmlns:a="http://schemas.openxmlformats.org/drawingml/2006/main">
            <a:off x="4544069" y="1657350"/>
            <a:ext cx="2103738" cy="4324350"/>
          </a:xfrm>
          <a:prstGeom xmlns:a="http://schemas.openxmlformats.org/drawingml/2006/main" prst="rect">
            <a:avLst/>
          </a:prstGeom>
        </p:spPr>
      </p:pic>
      <p:sp>
        <p:nvSpPr>
          <p:cNvPr id="8" name="Care professional">
            <a:extLst xmlns:a="http://schemas.openxmlformats.org/drawingml/2006/main">
              <a:ext uri="{FF2B5EF4-FFF2-40B4-BE49-F238E27FC236}">
                <a16:creationId xmlns:a16="http://schemas.microsoft.com/office/drawing/2014/main" id="{490259F8-FD40-4003-B13A-AB8845EF547A}"/>
              </a:ext>
            </a:extLst>
          </p:cNvPr>
          <p:cNvSpPr>
            <a:spLocks xmlns:a="http://schemas.openxmlformats.org/drawingml/2006/main" noGrp="1"/>
          </p:cNvSpPr>
          <p:nvPr/>
        </p:nvSpPr>
        <p:spPr>
          <a:xfrm xmlns:a="http://schemas.openxmlformats.org/drawingml/2006/main">
            <a:off x="4219575" y="6067425"/>
            <a:ext cx="2752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83F35"/>
                </a:solidFill>
                <a:latin typeface="Helvetica Neue"/>
                <a:ea typeface="Helvetica Neue"/>
                <a:cs typeface="Helvetica Neue"/>
              </a:defRPr>
            </a:pPr>
            <a:r>
              <a:rPr sz="1275" b="1">
                <a:solidFill>
                  <a:srgbClr val="183F35"/>
                </a:solidFill>
                <a:latin typeface="Helvetica Neue"/>
                <a:ea typeface="Helvetica Neue"/>
                <a:cs typeface="Helvetica Neue"/>
              </a:rPr>
              <a:t>Care professional</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7de0354fba1441f6"/>
          <a:stretch xmlns:a="http://schemas.openxmlformats.org/drawingml/2006/main"/>
        </p:blipFill>
        <p:spPr>
          <a:xfrm xmlns:a="http://schemas.openxmlformats.org/drawingml/2006/main">
            <a:off x="7734944" y="1657350"/>
            <a:ext cx="2103738" cy="4324350"/>
          </a:xfrm>
          <a:prstGeom xmlns:a="http://schemas.openxmlformats.org/drawingml/2006/main" prst="rect">
            <a:avLst/>
          </a:prstGeom>
        </p:spPr>
      </p:pic>
      <p:sp>
        <p:nvSpPr>
          <p:cNvPr id="10" name="Doctor">
            <a:extLst xmlns:a="http://schemas.openxmlformats.org/drawingml/2006/main">
              <a:ext uri="{FF2B5EF4-FFF2-40B4-BE49-F238E27FC236}">
                <a16:creationId xmlns:a16="http://schemas.microsoft.com/office/drawing/2014/main" id="{11F82929-3345-465C-BBB5-CB66625F3C19}"/>
              </a:ext>
            </a:extLst>
          </p:cNvPr>
          <p:cNvSpPr>
            <a:spLocks xmlns:a="http://schemas.openxmlformats.org/drawingml/2006/main" noGrp="1"/>
          </p:cNvSpPr>
          <p:nvPr/>
        </p:nvSpPr>
        <p:spPr>
          <a:xfrm xmlns:a="http://schemas.openxmlformats.org/drawingml/2006/main">
            <a:off x="7410450" y="6067425"/>
            <a:ext cx="2752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83F35"/>
                </a:solidFill>
                <a:latin typeface="Helvetica Neue"/>
                <a:ea typeface="Helvetica Neue"/>
                <a:cs typeface="Helvetica Neue"/>
              </a:defRPr>
            </a:pPr>
            <a:r>
              <a:rPr sz="1275" b="1">
                <a:solidFill>
                  <a:srgbClr val="183F35"/>
                </a:solidFill>
                <a:latin typeface="Helvetica Neue"/>
                <a:ea typeface="Helvetica Neue"/>
                <a:cs typeface="Helvetica Neue"/>
              </a:rPr>
              <a:t>Doctor</a:t>
            </a:r>
          </a:p>
        </p:txBody>
      </p:sp>
    </p:spTree>
    <p:extLst>
      <p:ext uri="{BB962C8B-B14F-4D97-AF65-F5344CB8AC3E}">
        <p14:creationId xmlns:p14="http://schemas.microsoft.com/office/powerpoint/2010/main" val="1751491536"/>
      </p:ext>
    </p:extLst>
  </p:cSld>
</p:sld>
</file>

<file path=ppt/slides/slide1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READINESS">
            <a:extLst xmlns:a="http://schemas.openxmlformats.org/drawingml/2006/main">
              <a:ext uri="{FF2B5EF4-FFF2-40B4-BE49-F238E27FC236}">
                <a16:creationId xmlns:a16="http://schemas.microsoft.com/office/drawing/2014/main" id="{AF0E4ECA-5A27-4EA3-BCFA-B6B51607DB42}"/>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READINESS</a:t>
            </a:r>
          </a:p>
        </p:txBody>
      </p:sp>
      <p:sp>
        <p:nvSpPr>
          <p:cNvPr id="2" name="Working demo and production requirements">
            <a:extLst xmlns:a="http://schemas.openxmlformats.org/drawingml/2006/main">
              <a:ext uri="{FF2B5EF4-FFF2-40B4-BE49-F238E27FC236}">
                <a16:creationId xmlns:a16="http://schemas.microsoft.com/office/drawing/2014/main" id="{C3C9C05D-617E-46A9-AD08-29CC211106F4}"/>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Working demo and production requirements</a:t>
            </a:r>
          </a:p>
        </p:txBody>
      </p:sp>
      <p:sp>
        <p:nvSpPr>
          <p:cNvPr id="3" name="12">
            <a:extLst xmlns:a="http://schemas.openxmlformats.org/drawingml/2006/main">
              <a:ext uri="{FF2B5EF4-FFF2-40B4-BE49-F238E27FC236}">
                <a16:creationId xmlns:a16="http://schemas.microsoft.com/office/drawing/2014/main" id="{94016A6D-120D-47C8-9456-059F73AEF516}"/>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12</a:t>
            </a:r>
          </a:p>
        </p:txBody>
      </p:sp>
      <p:sp>
        <p:nvSpPr>
          <p:cNvPr id="4" name="CareNow 1.2.1 · Exhibition prototype · September 2026">
            <a:extLst xmlns:a="http://schemas.openxmlformats.org/drawingml/2006/main">
              <a:ext uri="{FF2B5EF4-FFF2-40B4-BE49-F238E27FC236}">
                <a16:creationId xmlns:a16="http://schemas.microsoft.com/office/drawing/2014/main" id="{020828AE-090E-4828-8A1F-539C5C8CF705}"/>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graphicFrame>
        <p:nvGraphicFramePr>
          <p:cNvPr id="10" name=""/>
          <p:cNvGraphicFramePr/>
          <p:nvPr/>
        </p:nvGraphicFramePr>
        <p:xfrm>
          <a:off xmlns:a="http://schemas.openxmlformats.org/drawingml/2006/main" x="609600" y="1724025"/>
          <a:ext xmlns:a="http://schemas.openxmlformats.org/drawingml/2006/main" cx="10972800" cy="4238625"/>
        </p:xfrm>
        <a:graphic xmlns:a="http://schemas.openxmlformats.org/drawingml/2006/main">
          <a:graphicData uri="http://schemas.openxmlformats.org/drawingml/2006/table">
            <a:tbl>
              <a:tblPr/>
              <a:tblGrid>
                <a:gridCol w="2095500"/>
                <a:gridCol w="3905250"/>
                <a:gridCol w="4972050"/>
              </a:tblGrid>
              <a:tr h="706438">
                <a:tc>
                  <a:txBody>
                    <a:bodyPr>
                      <a:noAutofit/>
                    </a:bodyPr>
                    <a:lstStyle/>
                    <a:p>
                      <a:r>
                        <a:rPr sz="1725" b="1">
                          <a:solidFill>
                            <a:srgbClr val="FFFFFF"/>
                          </a:solidFill>
                          <a:latin typeface="Helvetica Neue"/>
                          <a:ea typeface="Helvetica Neue"/>
                          <a:cs typeface="Helvetica Neue"/>
                        </a:rPr>
                        <a:t>Area</a:t>
                      </a:r>
                    </a:p>
                  </a:txBody>
                  <a:tcPr marL="133350" marR="133350" marT="95250" marB="95250" anchor="ctr">
                    <a:solidFill>
                      <a:srgbClr val="1B5142"/>
                    </a:solidFill>
                  </a:tcPr>
                </a:tc>
                <a:tc>
                  <a:txBody>
                    <a:bodyPr>
                      <a:noAutofit/>
                    </a:bodyPr>
                    <a:lstStyle/>
                    <a:p>
                      <a:r>
                        <a:rPr sz="1725" b="1">
                          <a:solidFill>
                            <a:srgbClr val="FFFFFF"/>
                          </a:solidFill>
                          <a:latin typeface="Helvetica Neue"/>
                          <a:ea typeface="Helvetica Neue"/>
                          <a:cs typeface="Helvetica Neue"/>
                        </a:rPr>
                        <a:t>Working demonstration</a:t>
                      </a:r>
                    </a:p>
                  </a:txBody>
                  <a:tcPr marL="133350" marR="133350" marT="95250" marB="95250" anchor="ctr">
                    <a:solidFill>
                      <a:srgbClr val="1B5142"/>
                    </a:solidFill>
                  </a:tcPr>
                </a:tc>
                <a:tc>
                  <a:txBody>
                    <a:bodyPr>
                      <a:noAutofit/>
                    </a:bodyPr>
                    <a:lstStyle/>
                    <a:p>
                      <a:r>
                        <a:rPr sz="1725" b="1">
                          <a:solidFill>
                            <a:srgbClr val="FFFFFF"/>
                          </a:solidFill>
                          <a:latin typeface="Helvetica Neue"/>
                          <a:ea typeface="Helvetica Neue"/>
                          <a:cs typeface="Helvetica Neue"/>
                        </a:rPr>
                        <a:t>Before real operation</a:t>
                      </a:r>
                    </a:p>
                  </a:txBody>
                  <a:tcPr marL="133350" marR="133350" marT="95250" marB="95250" anchor="ctr">
                    <a:solidFill>
                      <a:srgbClr val="1B5142"/>
                    </a:solidFill>
                  </a:tcPr>
                </a:tc>
              </a:tr>
              <a:tr h="706438">
                <a:tc>
                  <a:txBody>
                    <a:bodyPr>
                      <a:noAutofit/>
                    </a:bodyPr>
                    <a:lstStyle/>
                    <a:p>
                      <a:r>
                        <a:rPr sz="1725" b="0">
                          <a:solidFill>
                            <a:srgbClr val="183F35"/>
                          </a:solidFill>
                          <a:latin typeface="Helvetica Neue"/>
                          <a:ea typeface="Helvetica Neue"/>
                          <a:cs typeface="Helvetica Neue"/>
                        </a:rPr>
                        <a:t>Bookings</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Forms, state and history</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Supplier capacity and operating rules</a:t>
                      </a:r>
                    </a:p>
                  </a:txBody>
                  <a:tcPr marL="133350" marR="133350" marT="95250" marB="95250" anchor="ctr">
                    <a:solidFill>
                      <a:srgbClr val="FFFFFF"/>
                    </a:solidFill>
                  </a:tcPr>
                </a:tc>
              </a:tr>
              <a:tr h="706438">
                <a:tc>
                  <a:txBody>
                    <a:bodyPr>
                      <a:noAutofit/>
                    </a:bodyPr>
                    <a:lstStyle/>
                    <a:p>
                      <a:r>
                        <a:rPr sz="1725" b="0">
                          <a:solidFill>
                            <a:srgbClr val="183F35"/>
                          </a:solidFill>
                          <a:latin typeface="Helvetica Neue"/>
                          <a:ea typeface="Helvetica Neue"/>
                          <a:cs typeface="Helvetica Neue"/>
                        </a:rPr>
                        <a:t>Maps</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Street tiles and route simulation</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Consented GPS and dispatch</a:t>
                      </a:r>
                    </a:p>
                  </a:txBody>
                  <a:tcPr marL="133350" marR="133350" marT="95250" marB="95250" anchor="ctr">
                    <a:solidFill>
                      <a:srgbClr val="EDF2ED"/>
                    </a:solidFill>
                  </a:tcPr>
                </a:tc>
              </a:tr>
              <a:tr h="706438">
                <a:tc>
                  <a:txBody>
                    <a:bodyPr>
                      <a:noAutofit/>
                    </a:bodyPr>
                    <a:lstStyle/>
                    <a:p>
                      <a:r>
                        <a:rPr sz="1725" b="0">
                          <a:solidFill>
                            <a:srgbClr val="183F35"/>
                          </a:solidFill>
                          <a:latin typeface="Helvetica Neue"/>
                          <a:ea typeface="Helvetica Neue"/>
                          <a:cs typeface="Helvetica Neue"/>
                        </a:rPr>
                        <a:t>Consultation</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Messages and simulated call</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Verified clinicians and real communications</a:t>
                      </a:r>
                    </a:p>
                  </a:txBody>
                  <a:tcPr marL="133350" marR="133350" marT="95250" marB="95250" anchor="ctr">
                    <a:solidFill>
                      <a:srgbClr val="FFFFFF"/>
                    </a:solidFill>
                  </a:tcPr>
                </a:tc>
              </a:tr>
              <a:tr h="706438">
                <a:tc>
                  <a:txBody>
                    <a:bodyPr>
                      <a:noAutofit/>
                    </a:bodyPr>
                    <a:lstStyle/>
                    <a:p>
                      <a:r>
                        <a:rPr sz="1725" b="0">
                          <a:solidFill>
                            <a:srgbClr val="183F35"/>
                          </a:solidFill>
                          <a:latin typeface="Helvetica Neue"/>
                          <a:ea typeface="Helvetica Neue"/>
                          <a:cs typeface="Helvetica Neue"/>
                        </a:rPr>
                        <a:t>Accounts</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Five roles in one demo session</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Identity, consent and permissions</a:t>
                      </a:r>
                    </a:p>
                  </a:txBody>
                  <a:tcPr marL="133350" marR="133350" marT="95250" marB="95250" anchor="ctr">
                    <a:solidFill>
                      <a:srgbClr val="EDF2ED"/>
                    </a:solidFill>
                  </a:tcPr>
                </a:tc>
              </a:tr>
              <a:tr h="706438">
                <a:tc>
                  <a:txBody>
                    <a:bodyPr>
                      <a:noAutofit/>
                    </a:bodyPr>
                    <a:lstStyle/>
                    <a:p>
                      <a:r>
                        <a:rPr sz="1725" b="0">
                          <a:solidFill>
                            <a:srgbClr val="183F35"/>
                          </a:solidFill>
                          <a:latin typeface="Helvetica Neue"/>
                          <a:ea typeface="Helvetica Neue"/>
                          <a:cs typeface="Helvetica Neue"/>
                        </a:rPr>
                        <a:t>Payments</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Fictional fares and earnings</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Collection, settlement and refunds</a:t>
                      </a:r>
                    </a:p>
                  </a:txBody>
                  <a:tcPr marL="133350" marR="133350" marT="95250" marB="95250" anchor="ctr">
                    <a:solidFill>
                      <a:srgbClr val="FFFFFF"/>
                    </a:solidFill>
                  </a:tcPr>
                </a:tc>
              </a:tr>
            </a:tbl>
          </a:graphicData>
        </a:graphic>
      </p:graphicFrame>
    </p:spTree>
    <p:extLst>
      <p:ext uri="{BB962C8B-B14F-4D97-AF65-F5344CB8AC3E}">
        <p14:creationId xmlns:p14="http://schemas.microsoft.com/office/powerpoint/2010/main" val="384915667"/>
      </p:ext>
    </p:extLst>
  </p:cSld>
</p:sld>
</file>

<file path=ppt/slides/slide1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7" name="MARKET REVIEW">
            <a:extLst xmlns:a="http://schemas.openxmlformats.org/drawingml/2006/main">
              <a:ext uri="{FF2B5EF4-FFF2-40B4-BE49-F238E27FC236}">
                <a16:creationId xmlns:a16="http://schemas.microsoft.com/office/drawing/2014/main" id="{6C90DB6B-AD91-4F4A-82E0-317C364CED09}"/>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MARKET REVIEW</a:t>
            </a:r>
          </a:p>
        </p:txBody>
      </p:sp>
      <p:sp>
        <p:nvSpPr>
          <p:cNvPr id="2" name="Competition and adjacent services">
            <a:extLst xmlns:a="http://schemas.openxmlformats.org/drawingml/2006/main">
              <a:ext uri="{FF2B5EF4-FFF2-40B4-BE49-F238E27FC236}">
                <a16:creationId xmlns:a16="http://schemas.microsoft.com/office/drawing/2014/main" id="{0DAD770B-F0D0-4148-AE6A-CF8398346FB6}"/>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Competition and adjacent services</a:t>
            </a:r>
          </a:p>
        </p:txBody>
      </p:sp>
      <p:sp>
        <p:nvSpPr>
          <p:cNvPr id="3" name="13">
            <a:extLst xmlns:a="http://schemas.openxmlformats.org/drawingml/2006/main">
              <a:ext uri="{FF2B5EF4-FFF2-40B4-BE49-F238E27FC236}">
                <a16:creationId xmlns:a16="http://schemas.microsoft.com/office/drawing/2014/main" id="{386212F6-B297-4F84-A55B-5C9281ECD1E4}"/>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13</a:t>
            </a:r>
          </a:p>
        </p:txBody>
      </p:sp>
      <p:sp>
        <p:nvSpPr>
          <p:cNvPr id="4" name="CareNow 1.2.1 · Exhibition prototype · September 2026">
            <a:extLst xmlns:a="http://schemas.openxmlformats.org/drawingml/2006/main">
              <a:ext uri="{FF2B5EF4-FFF2-40B4-BE49-F238E27FC236}">
                <a16:creationId xmlns:a16="http://schemas.microsoft.com/office/drawing/2014/main" id="{32C22260-8699-4576-9BC9-E3EE1B467F3E}"/>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graphicFrame>
        <p:nvGraphicFramePr>
          <p:cNvPr id="11" name=""/>
          <p:cNvGraphicFramePr/>
          <p:nvPr/>
        </p:nvGraphicFramePr>
        <p:xfrm>
          <a:off xmlns:a="http://schemas.openxmlformats.org/drawingml/2006/main" x="609600" y="1733550"/>
          <a:ext xmlns:a="http://schemas.openxmlformats.org/drawingml/2006/main" cx="10972800" cy="4000500"/>
        </p:xfrm>
        <a:graphic xmlns:a="http://schemas.openxmlformats.org/drawingml/2006/main">
          <a:graphicData uri="http://schemas.openxmlformats.org/drawingml/2006/table">
            <a:tbl>
              <a:tblPr/>
              <a:tblGrid>
                <a:gridCol w="2667000"/>
                <a:gridCol w="4762500"/>
                <a:gridCol w="3543300"/>
              </a:tblGrid>
              <a:tr h="666750">
                <a:tc>
                  <a:txBody>
                    <a:bodyPr>
                      <a:noAutofit/>
                    </a:bodyPr>
                    <a:lstStyle/>
                    <a:p>
                      <a:r>
                        <a:rPr sz="1725" b="1">
                          <a:solidFill>
                            <a:srgbClr val="FFFFFF"/>
                          </a:solidFill>
                          <a:latin typeface="Helvetica Neue"/>
                          <a:ea typeface="Helvetica Neue"/>
                          <a:cs typeface="Helvetica Neue"/>
                        </a:rPr>
                        <a:t>Organisation</a:t>
                      </a:r>
                    </a:p>
                  </a:txBody>
                  <a:tcPr marL="133350" marR="133350" marT="95250" marB="95250" anchor="ctr">
                    <a:solidFill>
                      <a:srgbClr val="1B5142"/>
                    </a:solidFill>
                  </a:tcPr>
                </a:tc>
                <a:tc>
                  <a:txBody>
                    <a:bodyPr>
                      <a:noAutofit/>
                    </a:bodyPr>
                    <a:lstStyle/>
                    <a:p>
                      <a:r>
                        <a:rPr sz="1725" b="1">
                          <a:solidFill>
                            <a:srgbClr val="FFFFFF"/>
                          </a:solidFill>
                          <a:latin typeface="Helvetica Neue"/>
                          <a:ea typeface="Helvetica Neue"/>
                          <a:cs typeface="Helvetica Neue"/>
                        </a:rPr>
                        <a:t>Public offering</a:t>
                      </a:r>
                    </a:p>
                  </a:txBody>
                  <a:tcPr marL="133350" marR="133350" marT="95250" marB="95250" anchor="ctr">
                    <a:solidFill>
                      <a:srgbClr val="1B5142"/>
                    </a:solidFill>
                  </a:tcPr>
                </a:tc>
                <a:tc>
                  <a:txBody>
                    <a:bodyPr>
                      <a:noAutofit/>
                    </a:bodyPr>
                    <a:lstStyle/>
                    <a:p>
                      <a:r>
                        <a:rPr sz="1725" b="1">
                          <a:solidFill>
                            <a:srgbClr val="FFFFFF"/>
                          </a:solidFill>
                          <a:latin typeface="Helvetica Neue"/>
                          <a:ea typeface="Helvetica Neue"/>
                          <a:cs typeface="Helvetica Neue"/>
                        </a:rPr>
                        <a:t>Overlap</a:t>
                      </a:r>
                    </a:p>
                  </a:txBody>
                  <a:tcPr marL="133350" marR="133350" marT="95250" marB="95250" anchor="ctr">
                    <a:solidFill>
                      <a:srgbClr val="1B5142"/>
                    </a:solidFill>
                  </a:tcPr>
                </a:tc>
              </a:tr>
              <a:tr h="666750">
                <a:tc>
                  <a:txBody>
                    <a:bodyPr>
                      <a:noAutofit/>
                    </a:bodyPr>
                    <a:lstStyle/>
                    <a:p>
                      <a:r>
                        <a:rPr sz="1725" b="0">
                          <a:solidFill>
                            <a:srgbClr val="183F35"/>
                          </a:solidFill>
                          <a:latin typeface="Helvetica Neue"/>
                          <a:ea typeface="Helvetica Neue"/>
                          <a:cs typeface="Helvetica Neue"/>
                        </a:rPr>
                        <a:t>DocTime</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Video consultation</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Doctor access</a:t>
                      </a:r>
                    </a:p>
                  </a:txBody>
                  <a:tcPr marL="133350" marR="133350" marT="95250" marB="95250" anchor="ctr">
                    <a:solidFill>
                      <a:srgbClr val="FFFFFF"/>
                    </a:solidFill>
                  </a:tcPr>
                </a:tc>
              </a:tr>
              <a:tr h="666750">
                <a:tc>
                  <a:txBody>
                    <a:bodyPr>
                      <a:noAutofit/>
                    </a:bodyPr>
                    <a:lstStyle/>
                    <a:p>
                      <a:r>
                        <a:rPr sz="1725" b="0">
                          <a:solidFill>
                            <a:srgbClr val="183F35"/>
                          </a:solidFill>
                          <a:latin typeface="Helvetica Neue"/>
                          <a:ea typeface="Helvetica Neue"/>
                          <a:cs typeface="Helvetica Neue"/>
                        </a:rPr>
                        <a:t>Praava Ghore Lab</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Home sample collection</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Diagnostics</a:t>
                      </a:r>
                    </a:p>
                  </a:txBody>
                  <a:tcPr marL="133350" marR="133350" marT="95250" marB="95250" anchor="ctr">
                    <a:solidFill>
                      <a:srgbClr val="EDF2ED"/>
                    </a:solidFill>
                  </a:tcPr>
                </a:tc>
              </a:tr>
              <a:tr h="666750">
                <a:tc>
                  <a:txBody>
                    <a:bodyPr>
                      <a:noAutofit/>
                    </a:bodyPr>
                    <a:lstStyle/>
                    <a:p>
                      <a:r>
                        <a:rPr sz="1725" b="0">
                          <a:solidFill>
                            <a:srgbClr val="183F35"/>
                          </a:solidFill>
                          <a:latin typeface="Helvetica Neue"/>
                          <a:ea typeface="Helvetica Neue"/>
                          <a:cs typeface="Helvetica Neue"/>
                        </a:rPr>
                        <a:t>HelloTask</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Domestic worker service</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Household assistance</a:t>
                      </a:r>
                    </a:p>
                  </a:txBody>
                  <a:tcPr marL="133350" marR="133350" marT="95250" marB="95250" anchor="ctr">
                    <a:solidFill>
                      <a:srgbClr val="FFFFFF"/>
                    </a:solidFill>
                  </a:tcPr>
                </a:tc>
              </a:tr>
              <a:tr h="666750">
                <a:tc>
                  <a:txBody>
                    <a:bodyPr>
                      <a:noAutofit/>
                    </a:bodyPr>
                    <a:lstStyle/>
                    <a:p>
                      <a:r>
                        <a:rPr sz="1725" b="0">
                          <a:solidFill>
                            <a:srgbClr val="183F35"/>
                          </a:solidFill>
                          <a:latin typeface="Helvetica Neue"/>
                          <a:ea typeface="Helvetica Neue"/>
                          <a:cs typeface="Helvetica Neue"/>
                        </a:rPr>
                        <a:t>Truck Lagbe</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Truck hire and logistics</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General transport</a:t>
                      </a:r>
                    </a:p>
                  </a:txBody>
                  <a:tcPr marL="133350" marR="133350" marT="95250" marB="95250" anchor="ctr">
                    <a:solidFill>
                      <a:srgbClr val="EDF2ED"/>
                    </a:solidFill>
                  </a:tcPr>
                </a:tc>
              </a:tr>
              <a:tr h="666750">
                <a:tc>
                  <a:txBody>
                    <a:bodyPr>
                      <a:noAutofit/>
                    </a:bodyPr>
                    <a:lstStyle/>
                    <a:p>
                      <a:r>
                        <a:rPr sz="1725" b="0">
                          <a:solidFill>
                            <a:srgbClr val="183F35"/>
                          </a:solidFill>
                          <a:latin typeface="Helvetica Neue"/>
                          <a:ea typeface="Helvetica Neue"/>
                          <a:cs typeface="Helvetica Neue"/>
                        </a:rPr>
                        <a:t>Shohoz</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Bus, train and flight tickets</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Travel booking</a:t>
                      </a:r>
                    </a:p>
                  </a:txBody>
                  <a:tcPr marL="133350" marR="133350" marT="95250" marB="95250" anchor="ctr">
                    <a:solidFill>
                      <a:srgbClr val="FFFFFF"/>
                    </a:solidFill>
                  </a:tcPr>
                </a:tc>
              </a:tr>
            </a:tbl>
          </a:graphicData>
        </a:graphic>
      </p:graphicFrame>
      <p:sp>
        <p:nvSpPr>
          <p:cNvPr id="6" name="CareNow tests continuity across a family’s service jour">
            <a:extLst xmlns:a="http://schemas.openxmlformats.org/drawingml/2006/main">
              <a:ext uri="{FF2B5EF4-FFF2-40B4-BE49-F238E27FC236}">
                <a16:creationId xmlns:a16="http://schemas.microsoft.com/office/drawing/2014/main" id="{41E361E4-0146-4FAC-8D56-44AF55C70302}"/>
              </a:ext>
            </a:extLst>
          </p:cNvPr>
          <p:cNvSpPr>
            <a:spLocks xmlns:a="http://schemas.openxmlformats.org/drawingml/2006/main" noGrp="1"/>
          </p:cNvSpPr>
          <p:nvPr/>
        </p:nvSpPr>
        <p:spPr>
          <a:xfrm xmlns:a="http://schemas.openxmlformats.org/drawingml/2006/main">
            <a:off x="609600" y="595312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83F35"/>
                </a:solidFill>
                <a:latin typeface="Helvetica Neue"/>
                <a:ea typeface="Helvetica Neue"/>
                <a:cs typeface="Helvetica Neue"/>
              </a:defRPr>
            </a:pPr>
            <a:r>
              <a:rPr sz="1800" b="0">
                <a:solidFill>
                  <a:srgbClr val="183F35"/>
                </a:solidFill>
                <a:latin typeface="Helvetica Neue"/>
                <a:ea typeface="Helvetica Neue"/>
                <a:cs typeface="Helvetica Neue"/>
              </a:rPr>
              <a:t>CareNow tests continuity across a family’s service journey.</a:t>
            </a:r>
          </a:p>
        </p:txBody>
      </p:sp>
    </p:spTree>
    <p:extLst>
      <p:ext uri="{BB962C8B-B14F-4D97-AF65-F5344CB8AC3E}">
        <p14:creationId xmlns:p14="http://schemas.microsoft.com/office/powerpoint/2010/main" val="2086351620"/>
      </p:ext>
    </p:extLst>
  </p:cSld>
</p:sld>
</file>

<file path=ppt/slides/slide1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PLANNING ASSUMPTIONS">
            <a:extLst xmlns:a="http://schemas.openxmlformats.org/drawingml/2006/main">
              <a:ext uri="{FF2B5EF4-FFF2-40B4-BE49-F238E27FC236}">
                <a16:creationId xmlns:a16="http://schemas.microsoft.com/office/drawing/2014/main" id="{572B0D2C-A661-4EE0-AA06-9739E34ABB45}"/>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PLANNING ASSUMPTIONS</a:t>
            </a:r>
          </a:p>
        </p:txBody>
      </p:sp>
      <p:sp>
        <p:nvSpPr>
          <p:cNvPr id="2" name="Bottom-up opportunity scenarios">
            <a:extLst xmlns:a="http://schemas.openxmlformats.org/drawingml/2006/main">
              <a:ext uri="{FF2B5EF4-FFF2-40B4-BE49-F238E27FC236}">
                <a16:creationId xmlns:a16="http://schemas.microsoft.com/office/drawing/2014/main" id="{7D0B6978-CCC7-4331-A98C-D114C8928947}"/>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Bottom-up opportunity scenarios</a:t>
            </a:r>
          </a:p>
        </p:txBody>
      </p:sp>
      <p:sp>
        <p:nvSpPr>
          <p:cNvPr id="3" name="14">
            <a:extLst xmlns:a="http://schemas.openxmlformats.org/drawingml/2006/main">
              <a:ext uri="{FF2B5EF4-FFF2-40B4-BE49-F238E27FC236}">
                <a16:creationId xmlns:a16="http://schemas.microsoft.com/office/drawing/2014/main" id="{A83CD3C1-651C-4EAE-B4B5-20A4010CBFCE}"/>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14</a:t>
            </a:r>
          </a:p>
        </p:txBody>
      </p:sp>
      <p:sp>
        <p:nvSpPr>
          <p:cNvPr id="4" name="CareNow 1.2.1 · Exhibition prototype · September 2026">
            <a:extLst xmlns:a="http://schemas.openxmlformats.org/drawingml/2006/main">
              <a:ext uri="{FF2B5EF4-FFF2-40B4-BE49-F238E27FC236}">
                <a16:creationId xmlns:a16="http://schemas.microsoft.com/office/drawing/2014/main" id="{265ADF13-40CA-4F23-98B5-C95F360BF225}"/>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graphicFrame>
        <p:nvGraphicFramePr>
          <p:cNvPr id="13" name="Chart"/>
          <p:cNvGraphicFramePr/>
          <p:nvPr/>
        </p:nvGraphicFramePr>
        <p:xfrm>
          <a:off xmlns:a="http://schemas.openxmlformats.org/drawingml/2006/main" x="609600" y="1924050"/>
          <a:ext xmlns:a="http://schemas.openxmlformats.org/drawingml/2006/main" cx="7048500" cy="3800475"/>
        </p:xfrm>
        <a:graphic xmlns:a="http://schemas.openxmlformats.org/drawingml/2006/main">
          <a:graphicData uri="http://schemas.openxmlformats.org/drawingml/2006/chart">
            <c:chart xmlns:r="http://schemas.openxmlformats.org/officeDocument/2006/relationships" xmlns:c="http://schemas.openxmlformats.org/drawingml/2006/chart" r:id="R16635b30bf0e4e8e"/>
          </a:graphicData>
        </a:graphic>
      </p:graphicFrame>
      <p:sp>
        <p:nvSpPr>
          <p:cNvPr id="6" name="BDT million&#10;Annual service value">
            <a:extLst xmlns:a="http://schemas.openxmlformats.org/drawingml/2006/main">
              <a:ext uri="{FF2B5EF4-FFF2-40B4-BE49-F238E27FC236}">
                <a16:creationId xmlns:a16="http://schemas.microsoft.com/office/drawing/2014/main" id="{9128F703-A8DD-4002-A603-1CFAFF1EE11F}"/>
              </a:ext>
            </a:extLst>
          </p:cNvPr>
          <p:cNvSpPr>
            <a:spLocks xmlns:a="http://schemas.openxmlformats.org/drawingml/2006/main" noGrp="1"/>
          </p:cNvSpPr>
          <p:nvPr/>
        </p:nvSpPr>
        <p:spPr>
          <a:xfrm xmlns:a="http://schemas.openxmlformats.org/drawingml/2006/main">
            <a:off x="8001000" y="1962150"/>
            <a:ext cx="3371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83F35"/>
                </a:solidFill>
                <a:latin typeface="Helvetica Neue"/>
                <a:ea typeface="Helvetica Neue"/>
                <a:cs typeface="Helvetica Neue"/>
              </a:defRPr>
            </a:pPr>
            <a:r>
              <a:rPr sz="1950" b="1">
                <a:solidFill>
                  <a:srgbClr val="183F35"/>
                </a:solidFill>
                <a:latin typeface="Helvetica Neue"/>
                <a:ea typeface="Helvetica Neue"/>
                <a:cs typeface="Helvetica Neue"/>
              </a:rPr>
              <a:t>BDT million</a:t>
            </a:r>
          </a:p>
          <a:p xmlns:a="http://schemas.openxmlformats.org/drawingml/2006/main">
            <a:pPr>
              <a:defRPr sz="1950" b="1">
                <a:solidFill>
                  <a:srgbClr val="183F35"/>
                </a:solidFill>
                <a:latin typeface="Helvetica Neue"/>
                <a:ea typeface="Helvetica Neue"/>
                <a:cs typeface="Helvetica Neue"/>
              </a:defRPr>
            </a:pPr>
            <a:r>
              <a:rPr sz="1950" b="1">
                <a:solidFill>
                  <a:srgbClr val="183F35"/>
                </a:solidFill>
                <a:latin typeface="Helvetica Neue"/>
                <a:ea typeface="Helvetica Neue"/>
                <a:cs typeface="Helvetica Neue"/>
              </a:rPr>
              <a:t>Annual service value</a:t>
            </a:r>
          </a:p>
        </p:txBody>
      </p:sp>
      <p:sp>
        <p:nvSpPr>
          <p:cNvPr id="7" name="2.4 bookings per year&#10;BDT 1,500 per booking&#10;12% platfor">
            <a:extLst xmlns:a="http://schemas.openxmlformats.org/drawingml/2006/main">
              <a:ext uri="{FF2B5EF4-FFF2-40B4-BE49-F238E27FC236}">
                <a16:creationId xmlns:a16="http://schemas.microsoft.com/office/drawing/2014/main" id="{6CD30833-CE77-4730-8E91-9BB9FCFB0593}"/>
              </a:ext>
            </a:extLst>
          </p:cNvPr>
          <p:cNvSpPr>
            <a:spLocks xmlns:a="http://schemas.openxmlformats.org/drawingml/2006/main" noGrp="1"/>
          </p:cNvSpPr>
          <p:nvPr/>
        </p:nvSpPr>
        <p:spPr>
          <a:xfrm xmlns:a="http://schemas.openxmlformats.org/drawingml/2006/main">
            <a:off x="8001000" y="3105150"/>
            <a:ext cx="33718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83F35"/>
                </a:solidFill>
                <a:latin typeface="Helvetica Neue"/>
                <a:ea typeface="Helvetica Neue"/>
                <a:cs typeface="Helvetica Neue"/>
              </a:defRPr>
            </a:pPr>
            <a:r>
              <a:rPr sz="1950" b="0">
                <a:solidFill>
                  <a:srgbClr val="183F35"/>
                </a:solidFill>
                <a:latin typeface="Helvetica Neue"/>
                <a:ea typeface="Helvetica Neue"/>
                <a:cs typeface="Helvetica Neue"/>
              </a:rPr>
              <a:t>2.4 bookings per year</a:t>
            </a:r>
          </a:p>
          <a:p xmlns:a="http://schemas.openxmlformats.org/drawingml/2006/main">
            <a:pPr>
              <a:defRPr sz="1950" b="0">
                <a:solidFill>
                  <a:srgbClr val="183F35"/>
                </a:solidFill>
                <a:latin typeface="Helvetica Neue"/>
                <a:ea typeface="Helvetica Neue"/>
                <a:cs typeface="Helvetica Neue"/>
              </a:defRPr>
            </a:pPr>
            <a:r>
              <a:rPr sz="1950" b="0">
                <a:solidFill>
                  <a:srgbClr val="183F35"/>
                </a:solidFill>
                <a:latin typeface="Helvetica Neue"/>
                <a:ea typeface="Helvetica Neue"/>
                <a:cs typeface="Helvetica Neue"/>
              </a:rPr>
              <a:t>BDT 1,500 per booking</a:t>
            </a:r>
          </a:p>
          <a:p xmlns:a="http://schemas.openxmlformats.org/drawingml/2006/main">
            <a:pPr>
              <a:defRPr sz="1950" b="0">
                <a:solidFill>
                  <a:srgbClr val="183F35"/>
                </a:solidFill>
                <a:latin typeface="Helvetica Neue"/>
                <a:ea typeface="Helvetica Neue"/>
                <a:cs typeface="Helvetica Neue"/>
              </a:defRPr>
            </a:pPr>
            <a:r>
              <a:rPr sz="1950" b="0">
                <a:solidFill>
                  <a:srgbClr val="183F35"/>
                </a:solidFill>
                <a:latin typeface="Helvetica Neue"/>
                <a:ea typeface="Helvetica Neue"/>
                <a:cs typeface="Helvetica Neue"/>
              </a:rPr>
              <a:t>12% platform fee</a:t>
            </a:r>
          </a:p>
        </p:txBody>
      </p:sp>
      <p:sp>
        <p:nvSpPr>
          <p:cNvPr id="8" name="Independent illustrative scenarios&#10;No customer traction">
            <a:extLst xmlns:a="http://schemas.openxmlformats.org/drawingml/2006/main">
              <a:ext uri="{FF2B5EF4-FFF2-40B4-BE49-F238E27FC236}">
                <a16:creationId xmlns:a16="http://schemas.microsoft.com/office/drawing/2014/main" id="{75A6ADA0-462C-48C1-9F28-F4EF7F3084E3}"/>
              </a:ext>
            </a:extLst>
          </p:cNvPr>
          <p:cNvSpPr>
            <a:spLocks xmlns:a="http://schemas.openxmlformats.org/drawingml/2006/main" noGrp="1"/>
          </p:cNvSpPr>
          <p:nvPr/>
        </p:nvSpPr>
        <p:spPr>
          <a:xfrm xmlns:a="http://schemas.openxmlformats.org/drawingml/2006/main">
            <a:off x="8001000" y="5048250"/>
            <a:ext cx="337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1726B"/>
                </a:solidFill>
                <a:latin typeface="Helvetica Neue"/>
                <a:ea typeface="Helvetica Neue"/>
                <a:cs typeface="Helvetica Neue"/>
              </a:defRPr>
            </a:pPr>
            <a:r>
              <a:rPr sz="1650" b="0">
                <a:solidFill>
                  <a:srgbClr val="61726B"/>
                </a:solidFill>
                <a:latin typeface="Helvetica Neue"/>
                <a:ea typeface="Helvetica Neue"/>
                <a:cs typeface="Helvetica Neue"/>
              </a:rPr>
              <a:t>Independent illustrative scenarios</a:t>
            </a:r>
          </a:p>
          <a:p xmlns:a="http://schemas.openxmlformats.org/drawingml/2006/main">
            <a:pPr>
              <a:defRPr sz="1650" b="0">
                <a:solidFill>
                  <a:srgbClr val="61726B"/>
                </a:solidFill>
                <a:latin typeface="Helvetica Neue"/>
                <a:ea typeface="Helvetica Neue"/>
                <a:cs typeface="Helvetica Neue"/>
              </a:defRPr>
            </a:pPr>
            <a:r>
              <a:rPr sz="1650" b="0">
                <a:solidFill>
                  <a:srgbClr val="61726B"/>
                </a:solidFill>
                <a:latin typeface="Helvetica Neue"/>
                <a:ea typeface="Helvetica Neue"/>
                <a:cs typeface="Helvetica Neue"/>
              </a:rPr>
              <a:t>No customer traction claimed</a:t>
            </a:r>
          </a:p>
        </p:txBody>
      </p:sp>
    </p:spTree>
    <p:extLst>
      <p:ext uri="{BB962C8B-B14F-4D97-AF65-F5344CB8AC3E}">
        <p14:creationId xmlns:p14="http://schemas.microsoft.com/office/powerpoint/2010/main" val="135189189"/>
      </p:ext>
    </p:extLst>
  </p:cSld>
</p:sld>
</file>

<file path=ppt/slides/slide1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0" name="PLANNING ASSUMPTIONS">
            <a:extLst xmlns:a="http://schemas.openxmlformats.org/drawingml/2006/main">
              <a:ext uri="{FF2B5EF4-FFF2-40B4-BE49-F238E27FC236}">
                <a16:creationId xmlns:a16="http://schemas.microsoft.com/office/drawing/2014/main" id="{0E29852B-EB83-44D1-B257-003B987A8BAC}"/>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PLANNING ASSUMPTIONS</a:t>
            </a:r>
          </a:p>
        </p:txBody>
      </p:sp>
      <p:sp>
        <p:nvSpPr>
          <p:cNvPr id="2" name="Unit economics need repeat use">
            <a:extLst xmlns:a="http://schemas.openxmlformats.org/drawingml/2006/main">
              <a:ext uri="{FF2B5EF4-FFF2-40B4-BE49-F238E27FC236}">
                <a16:creationId xmlns:a16="http://schemas.microsoft.com/office/drawing/2014/main" id="{80830D36-BC9B-426D-924F-CA43BCA4162F}"/>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Unit economics need repeat use</a:t>
            </a:r>
          </a:p>
        </p:txBody>
      </p:sp>
      <p:sp>
        <p:nvSpPr>
          <p:cNvPr id="3" name="15">
            <a:extLst xmlns:a="http://schemas.openxmlformats.org/drawingml/2006/main">
              <a:ext uri="{FF2B5EF4-FFF2-40B4-BE49-F238E27FC236}">
                <a16:creationId xmlns:a16="http://schemas.microsoft.com/office/drawing/2014/main" id="{107839F6-D2F1-4659-90E9-0F6332062A7E}"/>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15</a:t>
            </a:r>
          </a:p>
        </p:txBody>
      </p:sp>
      <p:sp>
        <p:nvSpPr>
          <p:cNvPr id="4" name="CareNow 1.2.1 · Exhibition prototype · September 2026">
            <a:extLst xmlns:a="http://schemas.openxmlformats.org/drawingml/2006/main">
              <a:ext uri="{FF2B5EF4-FFF2-40B4-BE49-F238E27FC236}">
                <a16:creationId xmlns:a16="http://schemas.microsoft.com/office/drawing/2014/main" id="{3EFE553B-A45F-4593-A48E-7F1D445969DB}"/>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sp>
        <p:nvSpPr>
          <p:cNvPr id="5" name="BDT 100">
            <a:extLst xmlns:a="http://schemas.openxmlformats.org/drawingml/2006/main">
              <a:ext uri="{FF2B5EF4-FFF2-40B4-BE49-F238E27FC236}">
                <a16:creationId xmlns:a16="http://schemas.microsoft.com/office/drawing/2014/main" id="{BA07E09B-5BB5-4F18-A59B-EC1A8F44DD20}"/>
              </a:ext>
            </a:extLst>
          </p:cNvPr>
          <p:cNvSpPr>
            <a:spLocks xmlns:a="http://schemas.openxmlformats.org/drawingml/2006/main" noGrp="1"/>
          </p:cNvSpPr>
          <p:nvPr/>
        </p:nvSpPr>
        <p:spPr>
          <a:xfrm xmlns:a="http://schemas.openxmlformats.org/drawingml/2006/main">
            <a:off x="609600" y="1885950"/>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025" b="1">
                <a:solidFill>
                  <a:srgbClr val="183F35"/>
                </a:solidFill>
                <a:latin typeface="Helvetica Neue"/>
                <a:ea typeface="Helvetica Neue"/>
                <a:cs typeface="Helvetica Neue"/>
              </a:defRPr>
            </a:pPr>
            <a:r>
              <a:rPr sz="5025" b="1">
                <a:solidFill>
                  <a:srgbClr val="183F35"/>
                </a:solidFill>
                <a:latin typeface="Helvetica Neue"/>
                <a:ea typeface="Helvetica Neue"/>
                <a:cs typeface="Helvetica Neue"/>
              </a:rPr>
              <a:t>BDT 100</a:t>
            </a:r>
          </a:p>
        </p:txBody>
      </p:sp>
      <p:sp>
        <p:nvSpPr>
          <p:cNvPr id="6" name="Contribution per completed booking">
            <a:extLst xmlns:a="http://schemas.openxmlformats.org/drawingml/2006/main">
              <a:ext uri="{FF2B5EF4-FFF2-40B4-BE49-F238E27FC236}">
                <a16:creationId xmlns:a16="http://schemas.microsoft.com/office/drawing/2014/main" id="{66674190-53EC-42AA-983C-D508CEABB5AE}"/>
              </a:ext>
            </a:extLst>
          </p:cNvPr>
          <p:cNvSpPr>
            <a:spLocks xmlns:a="http://schemas.openxmlformats.org/drawingml/2006/main" noGrp="1"/>
          </p:cNvSpPr>
          <p:nvPr/>
        </p:nvSpPr>
        <p:spPr>
          <a:xfrm xmlns:a="http://schemas.openxmlformats.org/drawingml/2006/main">
            <a:off x="609600" y="2867025"/>
            <a:ext cx="5334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83F35"/>
                </a:solidFill>
                <a:latin typeface="Helvetica Neue"/>
                <a:ea typeface="Helvetica Neue"/>
                <a:cs typeface="Helvetica Neue"/>
              </a:defRPr>
            </a:pPr>
            <a:r>
              <a:rPr sz="2175" b="0">
                <a:solidFill>
                  <a:srgbClr val="183F35"/>
                </a:solidFill>
                <a:latin typeface="Helvetica Neue"/>
                <a:ea typeface="Helvetica Neue"/>
                <a:cs typeface="Helvetica Neue"/>
              </a:rPr>
              <a:t>Contribution per completed booking</a:t>
            </a:r>
          </a:p>
        </p:txBody>
      </p:sp>
      <p:sp>
        <p:nvSpPr>
          <p:cNvPr id="7" name="BDT 600 acquisition cost requires&#10;6 completed bookings ">
            <a:extLst xmlns:a="http://schemas.openxmlformats.org/drawingml/2006/main">
              <a:ext uri="{FF2B5EF4-FFF2-40B4-BE49-F238E27FC236}">
                <a16:creationId xmlns:a16="http://schemas.microsoft.com/office/drawing/2014/main" id="{D0849686-FE02-47A0-A25B-E8ABB0F1A0AD}"/>
              </a:ext>
            </a:extLst>
          </p:cNvPr>
          <p:cNvSpPr>
            <a:spLocks xmlns:a="http://schemas.openxmlformats.org/drawingml/2006/main" noGrp="1"/>
          </p:cNvSpPr>
          <p:nvPr/>
        </p:nvSpPr>
        <p:spPr>
          <a:xfrm xmlns:a="http://schemas.openxmlformats.org/drawingml/2006/main">
            <a:off x="609600" y="3971925"/>
            <a:ext cx="533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83F35"/>
                </a:solidFill>
                <a:latin typeface="Helvetica Neue"/>
                <a:ea typeface="Helvetica Neue"/>
                <a:cs typeface="Helvetica Neue"/>
              </a:defRPr>
            </a:pPr>
            <a:r>
              <a:rPr sz="2325" b="1">
                <a:solidFill>
                  <a:srgbClr val="183F35"/>
                </a:solidFill>
                <a:latin typeface="Helvetica Neue"/>
                <a:ea typeface="Helvetica Neue"/>
                <a:cs typeface="Helvetica Neue"/>
              </a:rPr>
              <a:t>BDT 600 acquisition cost requires</a:t>
            </a:r>
          </a:p>
          <a:p xmlns:a="http://schemas.openxmlformats.org/drawingml/2006/main">
            <a:pPr>
              <a:defRPr sz="2325" b="1">
                <a:solidFill>
                  <a:srgbClr val="183F35"/>
                </a:solidFill>
                <a:latin typeface="Helvetica Neue"/>
                <a:ea typeface="Helvetica Neue"/>
                <a:cs typeface="Helvetica Neue"/>
              </a:defRPr>
            </a:pPr>
            <a:r>
              <a:rPr sz="2325" b="1">
                <a:solidFill>
                  <a:srgbClr val="183F35"/>
                </a:solidFill>
                <a:latin typeface="Helvetica Neue"/>
                <a:ea typeface="Helvetica Neue"/>
                <a:cs typeface="Helvetica Neue"/>
              </a:rPr>
              <a:t>6 completed bookings to repay.</a:t>
            </a:r>
          </a:p>
        </p:txBody>
      </p:sp>
      <p:graphicFrame>
        <p:nvGraphicFramePr>
          <p:cNvPr id="17" name=""/>
          <p:cNvGraphicFramePr/>
          <p:nvPr/>
        </p:nvGraphicFramePr>
        <p:xfrm>
          <a:off xmlns:a="http://schemas.openxmlformats.org/drawingml/2006/main" x="6429375" y="2095500"/>
          <a:ext xmlns:a="http://schemas.openxmlformats.org/drawingml/2006/main" cx="5143500" cy="2571750"/>
        </p:xfrm>
        <a:graphic xmlns:a="http://schemas.openxmlformats.org/drawingml/2006/main">
          <a:graphicData uri="http://schemas.openxmlformats.org/drawingml/2006/table">
            <a:tbl>
              <a:tblPr/>
              <a:tblGrid>
                <a:gridCol w="1190625"/>
                <a:gridCol w="1762125"/>
                <a:gridCol w="2190750"/>
              </a:tblGrid>
              <a:tr h="642938">
                <a:tc>
                  <a:txBody>
                    <a:bodyPr>
                      <a:noAutofit/>
                    </a:bodyPr>
                    <a:lstStyle/>
                    <a:p>
                      <a:r>
                        <a:rPr sz="1725" b="1">
                          <a:solidFill>
                            <a:srgbClr val="FFFFFF"/>
                          </a:solidFill>
                          <a:latin typeface="Helvetica Neue"/>
                          <a:ea typeface="Helvetica Neue"/>
                          <a:cs typeface="Helvetica Neue"/>
                        </a:rPr>
                        <a:t>Fee</a:t>
                      </a:r>
                    </a:p>
                  </a:txBody>
                  <a:tcPr marL="133350" marR="133350" marT="95250" marB="95250" anchor="ctr">
                    <a:solidFill>
                      <a:srgbClr val="1B5142"/>
                    </a:solidFill>
                  </a:tcPr>
                </a:tc>
                <a:tc>
                  <a:txBody>
                    <a:bodyPr>
                      <a:noAutofit/>
                    </a:bodyPr>
                    <a:lstStyle/>
                    <a:p>
                      <a:r>
                        <a:rPr sz="1725" b="1">
                          <a:solidFill>
                            <a:srgbClr val="FFFFFF"/>
                          </a:solidFill>
                          <a:latin typeface="Helvetica Neue"/>
                          <a:ea typeface="Helvetica Neue"/>
                          <a:cs typeface="Helvetica Neue"/>
                        </a:rPr>
                        <a:t>Contribution</a:t>
                      </a:r>
                    </a:p>
                  </a:txBody>
                  <a:tcPr marL="133350" marR="133350" marT="95250" marB="95250" anchor="ctr">
                    <a:solidFill>
                      <a:srgbClr val="1B5142"/>
                    </a:solidFill>
                  </a:tcPr>
                </a:tc>
                <a:tc>
                  <a:txBody>
                    <a:bodyPr>
                      <a:noAutofit/>
                    </a:bodyPr>
                    <a:lstStyle/>
                    <a:p>
                      <a:r>
                        <a:rPr sz="1725" b="1">
                          <a:solidFill>
                            <a:srgbClr val="FFFFFF"/>
                          </a:solidFill>
                          <a:latin typeface="Helvetica Neue"/>
                          <a:ea typeface="Helvetica Neue"/>
                          <a:cs typeface="Helvetica Neue"/>
                        </a:rPr>
                        <a:t>CAC payback</a:t>
                      </a:r>
                    </a:p>
                  </a:txBody>
                  <a:tcPr marL="133350" marR="133350" marT="95250" marB="95250" anchor="ctr">
                    <a:solidFill>
                      <a:srgbClr val="1B5142"/>
                    </a:solidFill>
                  </a:tcPr>
                </a:tc>
              </a:tr>
              <a:tr h="642938">
                <a:tc>
                  <a:txBody>
                    <a:bodyPr>
                      <a:noAutofit/>
                    </a:bodyPr>
                    <a:lstStyle/>
                    <a:p>
                      <a:r>
                        <a:rPr sz="1725" b="0">
                          <a:solidFill>
                            <a:srgbClr val="183F35"/>
                          </a:solidFill>
                          <a:latin typeface="Helvetica Neue"/>
                          <a:ea typeface="Helvetica Neue"/>
                          <a:cs typeface="Helvetica Neue"/>
                        </a:rPr>
                        <a:t>10%</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BDT 70</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9 orders</a:t>
                      </a:r>
                    </a:p>
                  </a:txBody>
                  <a:tcPr marL="133350" marR="133350" marT="95250" marB="95250" anchor="ctr">
                    <a:solidFill>
                      <a:srgbClr val="FFFFFF"/>
                    </a:solidFill>
                  </a:tcPr>
                </a:tc>
              </a:tr>
              <a:tr h="642938">
                <a:tc>
                  <a:txBody>
                    <a:bodyPr>
                      <a:noAutofit/>
                    </a:bodyPr>
                    <a:lstStyle/>
                    <a:p>
                      <a:r>
                        <a:rPr sz="1725" b="0">
                          <a:solidFill>
                            <a:srgbClr val="183F35"/>
                          </a:solidFill>
                          <a:latin typeface="Helvetica Neue"/>
                          <a:ea typeface="Helvetica Neue"/>
                          <a:cs typeface="Helvetica Neue"/>
                        </a:rPr>
                        <a:t>12%</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BDT 100</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6 orders</a:t>
                      </a:r>
                    </a:p>
                  </a:txBody>
                  <a:tcPr marL="133350" marR="133350" marT="95250" marB="95250" anchor="ctr">
                    <a:solidFill>
                      <a:srgbClr val="EDF2ED"/>
                    </a:solidFill>
                  </a:tcPr>
                </a:tc>
              </a:tr>
              <a:tr h="642938">
                <a:tc>
                  <a:txBody>
                    <a:bodyPr>
                      <a:noAutofit/>
                    </a:bodyPr>
                    <a:lstStyle/>
                    <a:p>
                      <a:r>
                        <a:rPr sz="1725" b="0">
                          <a:solidFill>
                            <a:srgbClr val="183F35"/>
                          </a:solidFill>
                          <a:latin typeface="Helvetica Neue"/>
                          <a:ea typeface="Helvetica Neue"/>
                          <a:cs typeface="Helvetica Neue"/>
                        </a:rPr>
                        <a:t>15%</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BDT 145</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5 orders</a:t>
                      </a:r>
                    </a:p>
                  </a:txBody>
                  <a:tcPr marL="133350" marR="133350" marT="95250" marB="95250" anchor="ctr">
                    <a:solidFill>
                      <a:srgbClr val="FFFFFF"/>
                    </a:solidFill>
                  </a:tcPr>
                </a:tc>
              </a:tr>
            </a:tbl>
          </a:graphicData>
        </a:graphic>
      </p:graphicFrame>
      <p:sp>
        <p:nvSpPr>
          <p:cNvPr id="9" name="Variable costs and demand are unmeasured.">
            <a:extLst xmlns:a="http://schemas.openxmlformats.org/drawingml/2006/main">
              <a:ext uri="{FF2B5EF4-FFF2-40B4-BE49-F238E27FC236}">
                <a16:creationId xmlns:a16="http://schemas.microsoft.com/office/drawing/2014/main" id="{44D99F3A-7390-43A8-81D1-902C80EB4C8F}"/>
              </a:ext>
            </a:extLst>
          </p:cNvPr>
          <p:cNvSpPr>
            <a:spLocks xmlns:a="http://schemas.openxmlformats.org/drawingml/2006/main" noGrp="1"/>
          </p:cNvSpPr>
          <p:nvPr/>
        </p:nvSpPr>
        <p:spPr>
          <a:xfrm xmlns:a="http://schemas.openxmlformats.org/drawingml/2006/main">
            <a:off x="6429375" y="5200650"/>
            <a:ext cx="5095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61726B"/>
                </a:solidFill>
                <a:latin typeface="Helvetica Neue"/>
                <a:ea typeface="Helvetica Neue"/>
                <a:cs typeface="Helvetica Neue"/>
              </a:defRPr>
            </a:pPr>
            <a:r>
              <a:rPr sz="1800" b="0">
                <a:solidFill>
                  <a:srgbClr val="61726B"/>
                </a:solidFill>
                <a:latin typeface="Helvetica Neue"/>
                <a:ea typeface="Helvetica Neue"/>
                <a:cs typeface="Helvetica Neue"/>
              </a:rPr>
              <a:t>Variable costs and demand are unmeasured.</a:t>
            </a:r>
          </a:p>
        </p:txBody>
      </p:sp>
    </p:spTree>
    <p:extLst>
      <p:ext uri="{BB962C8B-B14F-4D97-AF65-F5344CB8AC3E}">
        <p14:creationId xmlns:p14="http://schemas.microsoft.com/office/powerpoint/2010/main" val="603898031"/>
      </p:ext>
    </p:extLst>
  </p:cSld>
</p:sld>
</file>

<file path=ppt/slides/slide1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ILLUSTRATIVE BDT BUDGET">
            <a:extLst xmlns:a="http://schemas.openxmlformats.org/drawingml/2006/main">
              <a:ext uri="{FF2B5EF4-FFF2-40B4-BE49-F238E27FC236}">
                <a16:creationId xmlns:a16="http://schemas.microsoft.com/office/drawing/2014/main" id="{04709CD3-8D88-4772-B635-C2E91BCBF568}"/>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ILLUSTRATIVE BDT BUDGET</a:t>
            </a:r>
          </a:p>
        </p:txBody>
      </p:sp>
      <p:sp>
        <p:nvSpPr>
          <p:cNvPr id="2" name="Six-month pilot budget">
            <a:extLst xmlns:a="http://schemas.openxmlformats.org/drawingml/2006/main">
              <a:ext uri="{FF2B5EF4-FFF2-40B4-BE49-F238E27FC236}">
                <a16:creationId xmlns:a16="http://schemas.microsoft.com/office/drawing/2014/main" id="{A0D22512-104C-4EAD-9315-57160B621B4D}"/>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Six-month pilot budget</a:t>
            </a:r>
          </a:p>
        </p:txBody>
      </p:sp>
      <p:sp>
        <p:nvSpPr>
          <p:cNvPr id="3" name="16">
            <a:extLst xmlns:a="http://schemas.openxmlformats.org/drawingml/2006/main">
              <a:ext uri="{FF2B5EF4-FFF2-40B4-BE49-F238E27FC236}">
                <a16:creationId xmlns:a16="http://schemas.microsoft.com/office/drawing/2014/main" id="{4C9E5CDF-1E18-45E8-99E7-591D27B9E31A}"/>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16</a:t>
            </a:r>
          </a:p>
        </p:txBody>
      </p:sp>
      <p:sp>
        <p:nvSpPr>
          <p:cNvPr id="4" name="CareNow 1.2.1 · Exhibition prototype · September 2026">
            <a:extLst xmlns:a="http://schemas.openxmlformats.org/drawingml/2006/main">
              <a:ext uri="{FF2B5EF4-FFF2-40B4-BE49-F238E27FC236}">
                <a16:creationId xmlns:a16="http://schemas.microsoft.com/office/drawing/2014/main" id="{6C1A7FFA-C00B-4F12-8693-E16A73B6C563}"/>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graphicFrame>
        <p:nvGraphicFramePr>
          <p:cNvPr id="13" name="Chart"/>
          <p:cNvGraphicFramePr/>
          <p:nvPr/>
        </p:nvGraphicFramePr>
        <p:xfrm>
          <a:off xmlns:a="http://schemas.openxmlformats.org/drawingml/2006/main" x="609600" y="1733550"/>
          <a:ext xmlns:a="http://schemas.openxmlformats.org/drawingml/2006/main" cx="7620000" cy="4314825"/>
        </p:xfrm>
        <a:graphic xmlns:a="http://schemas.openxmlformats.org/drawingml/2006/main">
          <a:graphicData uri="http://schemas.openxmlformats.org/drawingml/2006/chart">
            <c:chart xmlns:r="http://schemas.openxmlformats.org/officeDocument/2006/relationships" xmlns:c="http://schemas.openxmlformats.org/drawingml/2006/chart" r:id="R7085a53adb33427d"/>
          </a:graphicData>
        </a:graphic>
      </p:graphicFrame>
      <p:sp>
        <p:nvSpPr>
          <p:cNvPr id="6" name="23.69 lakh">
            <a:extLst xmlns:a="http://schemas.openxmlformats.org/drawingml/2006/main">
              <a:ext uri="{FF2B5EF4-FFF2-40B4-BE49-F238E27FC236}">
                <a16:creationId xmlns:a16="http://schemas.microsoft.com/office/drawing/2014/main" id="{E278C095-C2D3-49C9-A53E-F132A9BBAB72}"/>
              </a:ext>
            </a:extLst>
          </p:cNvPr>
          <p:cNvSpPr>
            <a:spLocks xmlns:a="http://schemas.openxmlformats.org/drawingml/2006/main" noGrp="1"/>
          </p:cNvSpPr>
          <p:nvPr/>
        </p:nvSpPr>
        <p:spPr>
          <a:xfrm xmlns:a="http://schemas.openxmlformats.org/drawingml/2006/main">
            <a:off x="8505825" y="2009775"/>
            <a:ext cx="309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825" b="1">
                <a:solidFill>
                  <a:srgbClr val="183F35"/>
                </a:solidFill>
                <a:latin typeface="Helvetica Neue"/>
                <a:ea typeface="Helvetica Neue"/>
                <a:cs typeface="Helvetica Neue"/>
              </a:defRPr>
            </a:pPr>
            <a:r>
              <a:rPr sz="3825" b="1">
                <a:solidFill>
                  <a:srgbClr val="183F35"/>
                </a:solidFill>
                <a:latin typeface="Helvetica Neue"/>
                <a:ea typeface="Helvetica Neue"/>
                <a:cs typeface="Helvetica Neue"/>
              </a:rPr>
              <a:t>23.69 lakh</a:t>
            </a:r>
          </a:p>
        </p:txBody>
      </p:sp>
      <p:sp>
        <p:nvSpPr>
          <p:cNvPr id="7" name="BDT 2.369 million&#10;Including 15% contingency">
            <a:extLst xmlns:a="http://schemas.openxmlformats.org/drawingml/2006/main">
              <a:ext uri="{FF2B5EF4-FFF2-40B4-BE49-F238E27FC236}">
                <a16:creationId xmlns:a16="http://schemas.microsoft.com/office/drawing/2014/main" id="{3D4B01F8-83D6-466B-B6C1-A9A2791EDA0E}"/>
              </a:ext>
            </a:extLst>
          </p:cNvPr>
          <p:cNvSpPr>
            <a:spLocks xmlns:a="http://schemas.openxmlformats.org/drawingml/2006/main" noGrp="1"/>
          </p:cNvSpPr>
          <p:nvPr/>
        </p:nvSpPr>
        <p:spPr>
          <a:xfrm xmlns:a="http://schemas.openxmlformats.org/drawingml/2006/main">
            <a:off x="8524875" y="3162300"/>
            <a:ext cx="2933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83F35"/>
                </a:solidFill>
                <a:latin typeface="Helvetica Neue"/>
                <a:ea typeface="Helvetica Neue"/>
                <a:cs typeface="Helvetica Neue"/>
              </a:defRPr>
            </a:pPr>
            <a:r>
              <a:rPr sz="1950" b="0">
                <a:solidFill>
                  <a:srgbClr val="183F35"/>
                </a:solidFill>
                <a:latin typeface="Helvetica Neue"/>
                <a:ea typeface="Helvetica Neue"/>
                <a:cs typeface="Helvetica Neue"/>
              </a:rPr>
              <a:t>BDT 2.369 million</a:t>
            </a:r>
          </a:p>
          <a:p xmlns:a="http://schemas.openxmlformats.org/drawingml/2006/main">
            <a:pPr>
              <a:defRPr sz="1950" b="0">
                <a:solidFill>
                  <a:srgbClr val="183F35"/>
                </a:solidFill>
                <a:latin typeface="Helvetica Neue"/>
                <a:ea typeface="Helvetica Neue"/>
                <a:cs typeface="Helvetica Neue"/>
              </a:defRPr>
            </a:pPr>
            <a:r>
              <a:rPr sz="1950" b="0">
                <a:solidFill>
                  <a:srgbClr val="183F35"/>
                </a:solidFill>
                <a:latin typeface="Helvetica Neue"/>
                <a:ea typeface="Helvetica Neue"/>
                <a:cs typeface="Helvetica Neue"/>
              </a:rPr>
              <a:t>Including 15% contingency</a:t>
            </a:r>
          </a:p>
        </p:txBody>
      </p:sp>
      <p:sp>
        <p:nvSpPr>
          <p:cNvPr id="8" name="Budget bars show&#10;BDT thousand">
            <a:extLst xmlns:a="http://schemas.openxmlformats.org/drawingml/2006/main">
              <a:ext uri="{FF2B5EF4-FFF2-40B4-BE49-F238E27FC236}">
                <a16:creationId xmlns:a16="http://schemas.microsoft.com/office/drawing/2014/main" id="{1F4FC69D-C212-40C3-AF73-51EE54D0E07D}"/>
              </a:ext>
            </a:extLst>
          </p:cNvPr>
          <p:cNvSpPr>
            <a:spLocks xmlns:a="http://schemas.openxmlformats.org/drawingml/2006/main" noGrp="1"/>
          </p:cNvSpPr>
          <p:nvPr/>
        </p:nvSpPr>
        <p:spPr>
          <a:xfrm xmlns:a="http://schemas.openxmlformats.org/drawingml/2006/main">
            <a:off x="8524875" y="5095875"/>
            <a:ext cx="293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1726B"/>
                </a:solidFill>
                <a:latin typeface="Helvetica Neue"/>
                <a:ea typeface="Helvetica Neue"/>
                <a:cs typeface="Helvetica Neue"/>
              </a:defRPr>
            </a:pPr>
            <a:r>
              <a:rPr sz="1650" b="0">
                <a:solidFill>
                  <a:srgbClr val="61726B"/>
                </a:solidFill>
                <a:latin typeface="Helvetica Neue"/>
                <a:ea typeface="Helvetica Neue"/>
                <a:cs typeface="Helvetica Neue"/>
              </a:rPr>
              <a:t>Budget bars show</a:t>
            </a:r>
          </a:p>
          <a:p xmlns:a="http://schemas.openxmlformats.org/drawingml/2006/main">
            <a:pPr>
              <a:defRPr sz="1650" b="0">
                <a:solidFill>
                  <a:srgbClr val="61726B"/>
                </a:solidFill>
                <a:latin typeface="Helvetica Neue"/>
                <a:ea typeface="Helvetica Neue"/>
                <a:cs typeface="Helvetica Neue"/>
              </a:defRPr>
            </a:pPr>
            <a:r>
              <a:rPr sz="1650" b="0">
                <a:solidFill>
                  <a:srgbClr val="61726B"/>
                </a:solidFill>
                <a:latin typeface="Helvetica Neue"/>
                <a:ea typeface="Helvetica Neue"/>
                <a:cs typeface="Helvetica Neue"/>
              </a:rPr>
              <a:t>BDT thousand</a:t>
            </a:r>
          </a:p>
        </p:txBody>
      </p:sp>
    </p:spTree>
    <p:extLst>
      <p:ext uri="{BB962C8B-B14F-4D97-AF65-F5344CB8AC3E}">
        <p14:creationId xmlns:p14="http://schemas.microsoft.com/office/powerpoint/2010/main" val="79952705"/>
      </p:ext>
    </p:extLst>
  </p:cSld>
</p:sld>
</file>

<file path=ppt/slides/slide1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7" name="PUBLISHED PRICING AND ASSUMPTIONS">
            <a:extLst xmlns:a="http://schemas.openxmlformats.org/drawingml/2006/main">
              <a:ext uri="{FF2B5EF4-FFF2-40B4-BE49-F238E27FC236}">
                <a16:creationId xmlns:a16="http://schemas.microsoft.com/office/drawing/2014/main" id="{21A66D5E-37E2-4A86-91CB-D655B0D3DFEE}"/>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PUBLISHED PRICING AND ASSUMPTIONS</a:t>
            </a:r>
          </a:p>
        </p:txBody>
      </p:sp>
      <p:sp>
        <p:nvSpPr>
          <p:cNvPr id="2" name="Cloud infrastructure cost">
            <a:extLst xmlns:a="http://schemas.openxmlformats.org/drawingml/2006/main">
              <a:ext uri="{FF2B5EF4-FFF2-40B4-BE49-F238E27FC236}">
                <a16:creationId xmlns:a16="http://schemas.microsoft.com/office/drawing/2014/main" id="{CC69D5F1-BBB4-4F4E-9C28-0424731E6706}"/>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Cloud infrastructure cost</a:t>
            </a:r>
          </a:p>
        </p:txBody>
      </p:sp>
      <p:sp>
        <p:nvSpPr>
          <p:cNvPr id="3" name="17">
            <a:extLst xmlns:a="http://schemas.openxmlformats.org/drawingml/2006/main">
              <a:ext uri="{FF2B5EF4-FFF2-40B4-BE49-F238E27FC236}">
                <a16:creationId xmlns:a16="http://schemas.microsoft.com/office/drawing/2014/main" id="{9C22DDAE-B619-41B4-B801-F3D1CB66187C}"/>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17</a:t>
            </a:r>
          </a:p>
        </p:txBody>
      </p:sp>
      <p:sp>
        <p:nvSpPr>
          <p:cNvPr id="4" name="CareNow 1.2.1 · Exhibition prototype · September 2026">
            <a:extLst xmlns:a="http://schemas.openxmlformats.org/drawingml/2006/main">
              <a:ext uri="{FF2B5EF4-FFF2-40B4-BE49-F238E27FC236}">
                <a16:creationId xmlns:a16="http://schemas.microsoft.com/office/drawing/2014/main" id="{C507530E-9E8B-4A6E-85C3-1CB16A152349}"/>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graphicFrame>
        <p:nvGraphicFramePr>
          <p:cNvPr id="11" name=""/>
          <p:cNvGraphicFramePr/>
          <p:nvPr/>
        </p:nvGraphicFramePr>
        <p:xfrm>
          <a:off xmlns:a="http://schemas.openxmlformats.org/drawingml/2006/main" x="609600" y="1828800"/>
          <a:ext xmlns:a="http://schemas.openxmlformats.org/drawingml/2006/main" cx="10972800" cy="2752725"/>
        </p:xfrm>
        <a:graphic xmlns:a="http://schemas.openxmlformats.org/drawingml/2006/main">
          <a:graphicData uri="http://schemas.openxmlformats.org/drawingml/2006/table">
            <a:tbl>
              <a:tblPr/>
              <a:tblGrid>
                <a:gridCol w="4953000"/>
                <a:gridCol w="2762250"/>
                <a:gridCol w="3257550"/>
              </a:tblGrid>
              <a:tr h="688181">
                <a:tc>
                  <a:txBody>
                    <a:bodyPr>
                      <a:noAutofit/>
                    </a:bodyPr>
                    <a:lstStyle/>
                    <a:p>
                      <a:r>
                        <a:rPr sz="1725" b="1">
                          <a:solidFill>
                            <a:srgbClr val="FFFFFF"/>
                          </a:solidFill>
                          <a:latin typeface="Helvetica Neue"/>
                          <a:ea typeface="Helvetica Neue"/>
                          <a:cs typeface="Helvetica Neue"/>
                        </a:rPr>
                        <a:t>Monthly Worker load</a:t>
                      </a:r>
                    </a:p>
                  </a:txBody>
                  <a:tcPr marL="133350" marR="133350" marT="95250" marB="95250" anchor="ctr">
                    <a:solidFill>
                      <a:srgbClr val="1B5142"/>
                    </a:solidFill>
                  </a:tcPr>
                </a:tc>
                <a:tc>
                  <a:txBody>
                    <a:bodyPr>
                      <a:noAutofit/>
                    </a:bodyPr>
                    <a:lstStyle/>
                    <a:p>
                      <a:r>
                        <a:rPr sz="1725" b="1">
                          <a:solidFill>
                            <a:srgbClr val="FFFFFF"/>
                          </a:solidFill>
                          <a:latin typeface="Helvetica Neue"/>
                          <a:ea typeface="Helvetica Neue"/>
                          <a:cs typeface="Helvetica Neue"/>
                        </a:rPr>
                        <a:t>CPU per request</a:t>
                      </a:r>
                    </a:p>
                  </a:txBody>
                  <a:tcPr marL="133350" marR="133350" marT="95250" marB="95250" anchor="ctr">
                    <a:solidFill>
                      <a:srgbClr val="1B5142"/>
                    </a:solidFill>
                  </a:tcPr>
                </a:tc>
                <a:tc>
                  <a:txBody>
                    <a:bodyPr>
                      <a:noAutofit/>
                    </a:bodyPr>
                    <a:lstStyle/>
                    <a:p>
                      <a:r>
                        <a:rPr sz="1725" b="1">
                          <a:solidFill>
                            <a:srgbClr val="FFFFFF"/>
                          </a:solidFill>
                          <a:latin typeface="Helvetica Neue"/>
                          <a:ea typeface="Helvetica Neue"/>
                          <a:cs typeface="Helvetica Neue"/>
                        </a:rPr>
                        <a:t>Workers estimate</a:t>
                      </a:r>
                    </a:p>
                  </a:txBody>
                  <a:tcPr marL="133350" marR="133350" marT="95250" marB="95250" anchor="ctr">
                    <a:solidFill>
                      <a:srgbClr val="1B5142"/>
                    </a:solidFill>
                  </a:tcPr>
                </a:tc>
              </a:tr>
              <a:tr h="688181">
                <a:tc>
                  <a:txBody>
                    <a:bodyPr>
                      <a:noAutofit/>
                    </a:bodyPr>
                    <a:lstStyle/>
                    <a:p>
                      <a:r>
                        <a:rPr sz="1725" b="0">
                          <a:solidFill>
                            <a:srgbClr val="183F35"/>
                          </a:solidFill>
                          <a:latin typeface="Helvetica Neue"/>
                          <a:ea typeface="Helvetica Neue"/>
                          <a:cs typeface="Helvetica Neue"/>
                        </a:rPr>
                        <a:t>1 million requests</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5 ms</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USD 5.00</a:t>
                      </a:r>
                    </a:p>
                  </a:txBody>
                  <a:tcPr marL="133350" marR="133350" marT="95250" marB="95250" anchor="ctr">
                    <a:solidFill>
                      <a:srgbClr val="FFFFFF"/>
                    </a:solidFill>
                  </a:tcPr>
                </a:tc>
              </a:tr>
              <a:tr h="688181">
                <a:tc>
                  <a:txBody>
                    <a:bodyPr>
                      <a:noAutofit/>
                    </a:bodyPr>
                    <a:lstStyle/>
                    <a:p>
                      <a:r>
                        <a:rPr sz="1725" b="0">
                          <a:solidFill>
                            <a:srgbClr val="183F35"/>
                          </a:solidFill>
                          <a:latin typeface="Helvetica Neue"/>
                          <a:ea typeface="Helvetica Neue"/>
                          <a:cs typeface="Helvetica Neue"/>
                        </a:rPr>
                        <a:t>15 million requests</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7 ms</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USD 8.00</a:t>
                      </a:r>
                    </a:p>
                  </a:txBody>
                  <a:tcPr marL="133350" marR="133350" marT="95250" marB="95250" anchor="ctr">
                    <a:solidFill>
                      <a:srgbClr val="EDF2ED"/>
                    </a:solidFill>
                  </a:tcPr>
                </a:tc>
              </a:tr>
              <a:tr h="688181">
                <a:tc>
                  <a:txBody>
                    <a:bodyPr>
                      <a:noAutofit/>
                    </a:bodyPr>
                    <a:lstStyle/>
                    <a:p>
                      <a:r>
                        <a:rPr sz="1725" b="0">
                          <a:solidFill>
                            <a:srgbClr val="183F35"/>
                          </a:solidFill>
                          <a:latin typeface="Helvetica Neue"/>
                          <a:ea typeface="Helvetica Neue"/>
                          <a:cs typeface="Helvetica Neue"/>
                        </a:rPr>
                        <a:t>20 million requests</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10 ms</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USD 11.40</a:t>
                      </a:r>
                    </a:p>
                  </a:txBody>
                  <a:tcPr marL="133350" marR="133350" marT="95250" marB="95250" anchor="ctr">
                    <a:solidFill>
                      <a:srgbClr val="FFFFFF"/>
                    </a:solidFill>
                  </a:tcPr>
                </a:tc>
              </a:tr>
            </a:tbl>
          </a:graphicData>
        </a:graphic>
      </p:graphicFrame>
      <p:sp>
        <p:nvSpPr>
          <p:cNvPr id="6" name="Early infrastructure can be inexpensive. Fulfilment, su">
            <a:extLst xmlns:a="http://schemas.openxmlformats.org/drawingml/2006/main">
              <a:ext uri="{FF2B5EF4-FFF2-40B4-BE49-F238E27FC236}">
                <a16:creationId xmlns:a16="http://schemas.microsoft.com/office/drawing/2014/main" id="{0EA27922-F3E3-4DDD-B1D2-9651E8EECF46}"/>
              </a:ext>
            </a:extLst>
          </p:cNvPr>
          <p:cNvSpPr>
            <a:spLocks xmlns:a="http://schemas.openxmlformats.org/drawingml/2006/main" noGrp="1"/>
          </p:cNvSpPr>
          <p:nvPr/>
        </p:nvSpPr>
        <p:spPr>
          <a:xfrm xmlns:a="http://schemas.openxmlformats.org/drawingml/2006/main">
            <a:off x="609600" y="50387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3F35"/>
                </a:solidFill>
                <a:latin typeface="Helvetica Neue"/>
                <a:ea typeface="Helvetica Neue"/>
                <a:cs typeface="Helvetica Neue"/>
              </a:defRPr>
            </a:pPr>
            <a:r>
              <a:rPr sz="2325" b="0">
                <a:solidFill>
                  <a:srgbClr val="183F35"/>
                </a:solidFill>
                <a:latin typeface="Helvetica Neue"/>
                <a:ea typeface="Helvetica Neue"/>
                <a:cs typeface="Helvetica Neue"/>
              </a:rPr>
              <a:t>Early infrastructure can be inexpensive. Fulfilment, support and governance still need a real budget.</a:t>
            </a:r>
          </a:p>
        </p:txBody>
      </p:sp>
    </p:spTree>
    <p:extLst>
      <p:ext uri="{BB962C8B-B14F-4D97-AF65-F5344CB8AC3E}">
        <p14:creationId xmlns:p14="http://schemas.microsoft.com/office/powerpoint/2010/main" val="953893559"/>
      </p:ext>
    </p:extLst>
  </p:cSld>
</p:sld>
</file>

<file path=ppt/slides/slide1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6" name="TECHNICAL">
            <a:extLst xmlns:a="http://schemas.openxmlformats.org/drawingml/2006/main">
              <a:ext uri="{FF2B5EF4-FFF2-40B4-BE49-F238E27FC236}">
                <a16:creationId xmlns:a16="http://schemas.microsoft.com/office/drawing/2014/main" id="{22D48998-60E3-400D-BF97-ABDD5243E9CF}"/>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TECHNICAL</a:t>
            </a:r>
          </a:p>
        </p:txBody>
      </p:sp>
      <p:sp>
        <p:nvSpPr>
          <p:cNvPr id="2" name="Application architecture">
            <a:extLst xmlns:a="http://schemas.openxmlformats.org/drawingml/2006/main">
              <a:ext uri="{FF2B5EF4-FFF2-40B4-BE49-F238E27FC236}">
                <a16:creationId xmlns:a16="http://schemas.microsoft.com/office/drawing/2014/main" id="{64ED3836-71C3-4771-B97D-BD17CA9742AC}"/>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Application architecture</a:t>
            </a:r>
          </a:p>
        </p:txBody>
      </p:sp>
      <p:sp>
        <p:nvSpPr>
          <p:cNvPr id="3" name="18">
            <a:extLst xmlns:a="http://schemas.openxmlformats.org/drawingml/2006/main">
              <a:ext uri="{FF2B5EF4-FFF2-40B4-BE49-F238E27FC236}">
                <a16:creationId xmlns:a16="http://schemas.microsoft.com/office/drawing/2014/main" id="{FA033AF2-590F-4248-B92E-EAE06B300FFF}"/>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18</a:t>
            </a:r>
          </a:p>
        </p:txBody>
      </p:sp>
      <p:sp>
        <p:nvSpPr>
          <p:cNvPr id="4" name="CareNow 1.2.1 · Exhibition prototype · September 2026">
            <a:extLst xmlns:a="http://schemas.openxmlformats.org/drawingml/2006/main">
              <a:ext uri="{FF2B5EF4-FFF2-40B4-BE49-F238E27FC236}">
                <a16:creationId xmlns:a16="http://schemas.microsoft.com/office/drawing/2014/main" id="{7D6B6B13-D5C9-414B-8638-E8FBF85B03ED}"/>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sp>
        <p:nvSpPr>
          <p:cNvPr id="5" name="Expo application&#10;PanelUI and Router">
            <a:extLst xmlns:a="http://schemas.openxmlformats.org/drawingml/2006/main">
              <a:ext uri="{FF2B5EF4-FFF2-40B4-BE49-F238E27FC236}">
                <a16:creationId xmlns:a16="http://schemas.microsoft.com/office/drawing/2014/main" id="{2B35AB53-9166-47A4-9264-CB392D461163}"/>
              </a:ext>
            </a:extLst>
          </p:cNvPr>
          <p:cNvSpPr>
            <a:spLocks xmlns:a="http://schemas.openxmlformats.org/drawingml/2006/main" noGrp="1"/>
          </p:cNvSpPr>
          <p:nvPr/>
        </p:nvSpPr>
        <p:spPr>
          <a:xfrm xmlns:a="http://schemas.openxmlformats.org/drawingml/2006/main">
            <a:off x="609600" y="1990725"/>
            <a:ext cx="3048000" cy="1190625"/>
          </a:xfrm>
          <a:prstGeom xmlns:a="http://schemas.openxmlformats.org/drawingml/2006/main" prst="rect">
            <a:avLst/>
          </a:prstGeom>
          <a:solidFill xmlns:a="http://schemas.openxmlformats.org/drawingml/2006/main">
            <a:srgbClr val="FFFFFF"/>
          </a:solidFill>
          <a:ln xmlns:a="http://schemas.openxmlformats.org/drawingml/2006/main" w="19050">
            <a:solidFill>
              <a:srgbClr val="D8E1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83F35"/>
                </a:solidFill>
                <a:latin typeface="Helvetica Neue"/>
                <a:ea typeface="Helvetica Neue"/>
                <a:cs typeface="Helvetica Neue"/>
              </a:defRPr>
            </a:pPr>
            <a:r>
              <a:rPr sz="1875" b="1">
                <a:solidFill>
                  <a:srgbClr val="183F35"/>
                </a:solidFill>
                <a:latin typeface="Helvetica Neue"/>
                <a:ea typeface="Helvetica Neue"/>
                <a:cs typeface="Helvetica Neue"/>
              </a:rPr>
              <a:t>Expo application</a:t>
            </a:r>
          </a:p>
          <a:p xmlns:a="http://schemas.openxmlformats.org/drawingml/2006/main">
            <a:pPr algn="ctr">
              <a:defRPr sz="1875" b="1">
                <a:solidFill>
                  <a:srgbClr val="183F35"/>
                </a:solidFill>
                <a:latin typeface="Helvetica Neue"/>
                <a:ea typeface="Helvetica Neue"/>
                <a:cs typeface="Helvetica Neue"/>
              </a:defRPr>
            </a:pPr>
            <a:r>
              <a:rPr sz="1875" b="1">
                <a:solidFill>
                  <a:srgbClr val="183F35"/>
                </a:solidFill>
                <a:latin typeface="Helvetica Neue"/>
                <a:ea typeface="Helvetica Neue"/>
                <a:cs typeface="Helvetica Neue"/>
              </a:rPr>
              <a:t>PanelUI and Router</a:t>
            </a:r>
          </a:p>
        </p:txBody>
      </p:sp>
      <p:sp>
        <p:nvSpPr>
          <p:cNvPr id="6" name="→">
            <a:extLst xmlns:a="http://schemas.openxmlformats.org/drawingml/2006/main">
              <a:ext uri="{FF2B5EF4-FFF2-40B4-BE49-F238E27FC236}">
                <a16:creationId xmlns:a16="http://schemas.microsoft.com/office/drawing/2014/main" id="{DD3A9A5A-461E-443F-94A4-FD14699FDFBB}"/>
              </a:ext>
            </a:extLst>
          </p:cNvPr>
          <p:cNvSpPr>
            <a:spLocks xmlns:a="http://schemas.openxmlformats.org/drawingml/2006/main" noGrp="1"/>
          </p:cNvSpPr>
          <p:nvPr/>
        </p:nvSpPr>
        <p:spPr>
          <a:xfrm xmlns:a="http://schemas.openxmlformats.org/drawingml/2006/main">
            <a:off x="3857625" y="2314575"/>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1">
                <a:solidFill>
                  <a:srgbClr val="1B5142"/>
                </a:solidFill>
                <a:latin typeface="Helvetica Neue"/>
                <a:ea typeface="Helvetica Neue"/>
                <a:cs typeface="Helvetica Neue"/>
              </a:defRPr>
            </a:pPr>
            <a:r>
              <a:rPr sz="3000" b="1">
                <a:solidFill>
                  <a:srgbClr val="1B5142"/>
                </a:solidFill>
                <a:latin typeface="Helvetica Neue"/>
                <a:ea typeface="Helvetica Neue"/>
                <a:cs typeface="Helvetica Neue"/>
              </a:rPr>
              <a:t>→</a:t>
            </a:r>
          </a:p>
        </p:txBody>
      </p:sp>
      <p:sp>
        <p:nvSpPr>
          <p:cNvPr id="7" name="Shared contracts&#10;TypeScript and Zod">
            <a:extLst xmlns:a="http://schemas.openxmlformats.org/drawingml/2006/main">
              <a:ext uri="{FF2B5EF4-FFF2-40B4-BE49-F238E27FC236}">
                <a16:creationId xmlns:a16="http://schemas.microsoft.com/office/drawing/2014/main" id="{688FC978-65AE-43E4-9C29-16CD286DFBAB}"/>
              </a:ext>
            </a:extLst>
          </p:cNvPr>
          <p:cNvSpPr>
            <a:spLocks xmlns:a="http://schemas.openxmlformats.org/drawingml/2006/main" noGrp="1"/>
          </p:cNvSpPr>
          <p:nvPr/>
        </p:nvSpPr>
        <p:spPr>
          <a:xfrm xmlns:a="http://schemas.openxmlformats.org/drawingml/2006/main">
            <a:off x="4552950" y="1990725"/>
            <a:ext cx="3048000" cy="1190625"/>
          </a:xfrm>
          <a:prstGeom xmlns:a="http://schemas.openxmlformats.org/drawingml/2006/main" prst="rect">
            <a:avLst/>
          </a:prstGeom>
          <a:solidFill xmlns:a="http://schemas.openxmlformats.org/drawingml/2006/main">
            <a:srgbClr val="FFFFFF"/>
          </a:solidFill>
          <a:ln xmlns:a="http://schemas.openxmlformats.org/drawingml/2006/main" w="19050">
            <a:solidFill>
              <a:srgbClr val="D8E1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83F35"/>
                </a:solidFill>
                <a:latin typeface="Helvetica Neue"/>
                <a:ea typeface="Helvetica Neue"/>
                <a:cs typeface="Helvetica Neue"/>
              </a:defRPr>
            </a:pPr>
            <a:r>
              <a:rPr sz="1875" b="1">
                <a:solidFill>
                  <a:srgbClr val="183F35"/>
                </a:solidFill>
                <a:latin typeface="Helvetica Neue"/>
                <a:ea typeface="Helvetica Neue"/>
                <a:cs typeface="Helvetica Neue"/>
              </a:rPr>
              <a:t>Shared contracts</a:t>
            </a:r>
          </a:p>
          <a:p xmlns:a="http://schemas.openxmlformats.org/drawingml/2006/main">
            <a:pPr algn="ctr">
              <a:defRPr sz="1875" b="1">
                <a:solidFill>
                  <a:srgbClr val="183F35"/>
                </a:solidFill>
                <a:latin typeface="Helvetica Neue"/>
                <a:ea typeface="Helvetica Neue"/>
                <a:cs typeface="Helvetica Neue"/>
              </a:defRPr>
            </a:pPr>
            <a:r>
              <a:rPr sz="1875" b="1">
                <a:solidFill>
                  <a:srgbClr val="183F35"/>
                </a:solidFill>
                <a:latin typeface="Helvetica Neue"/>
                <a:ea typeface="Helvetica Neue"/>
                <a:cs typeface="Helvetica Neue"/>
              </a:rPr>
              <a:t>TypeScript and Zod</a:t>
            </a:r>
          </a:p>
        </p:txBody>
      </p:sp>
      <p:sp>
        <p:nvSpPr>
          <p:cNvPr id="8" name="→">
            <a:extLst xmlns:a="http://schemas.openxmlformats.org/drawingml/2006/main">
              <a:ext uri="{FF2B5EF4-FFF2-40B4-BE49-F238E27FC236}">
                <a16:creationId xmlns:a16="http://schemas.microsoft.com/office/drawing/2014/main" id="{B7B63399-7FCC-466B-9200-E57720D76007}"/>
              </a:ext>
            </a:extLst>
          </p:cNvPr>
          <p:cNvSpPr>
            <a:spLocks xmlns:a="http://schemas.openxmlformats.org/drawingml/2006/main" noGrp="1"/>
          </p:cNvSpPr>
          <p:nvPr/>
        </p:nvSpPr>
        <p:spPr>
          <a:xfrm xmlns:a="http://schemas.openxmlformats.org/drawingml/2006/main">
            <a:off x="7810500" y="2314575"/>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1">
                <a:solidFill>
                  <a:srgbClr val="1B5142"/>
                </a:solidFill>
                <a:latin typeface="Helvetica Neue"/>
                <a:ea typeface="Helvetica Neue"/>
                <a:cs typeface="Helvetica Neue"/>
              </a:defRPr>
            </a:pPr>
            <a:r>
              <a:rPr sz="3000" b="1">
                <a:solidFill>
                  <a:srgbClr val="1B5142"/>
                </a:solidFill>
                <a:latin typeface="Helvetica Neue"/>
                <a:ea typeface="Helvetica Neue"/>
                <a:cs typeface="Helvetica Neue"/>
              </a:rPr>
              <a:t>→</a:t>
            </a:r>
          </a:p>
        </p:txBody>
      </p:sp>
      <p:sp>
        <p:nvSpPr>
          <p:cNvPr id="9" name="Hono API&#10;Cloudflare Workers">
            <a:extLst xmlns:a="http://schemas.openxmlformats.org/drawingml/2006/main">
              <a:ext uri="{FF2B5EF4-FFF2-40B4-BE49-F238E27FC236}">
                <a16:creationId xmlns:a16="http://schemas.microsoft.com/office/drawing/2014/main" id="{76E12B7A-2DF8-4D8A-8614-725D59832294}"/>
              </a:ext>
            </a:extLst>
          </p:cNvPr>
          <p:cNvSpPr>
            <a:spLocks xmlns:a="http://schemas.openxmlformats.org/drawingml/2006/main" noGrp="1"/>
          </p:cNvSpPr>
          <p:nvPr/>
        </p:nvSpPr>
        <p:spPr>
          <a:xfrm xmlns:a="http://schemas.openxmlformats.org/drawingml/2006/main">
            <a:off x="8505825" y="1990725"/>
            <a:ext cx="3048000" cy="1190625"/>
          </a:xfrm>
          <a:prstGeom xmlns:a="http://schemas.openxmlformats.org/drawingml/2006/main" prst="rect">
            <a:avLst/>
          </a:prstGeom>
          <a:solidFill xmlns:a="http://schemas.openxmlformats.org/drawingml/2006/main">
            <a:srgbClr val="FFFFFF"/>
          </a:solidFill>
          <a:ln xmlns:a="http://schemas.openxmlformats.org/drawingml/2006/main" w="19050">
            <a:solidFill>
              <a:srgbClr val="D8E1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83F35"/>
                </a:solidFill>
                <a:latin typeface="Helvetica Neue"/>
                <a:ea typeface="Helvetica Neue"/>
                <a:cs typeface="Helvetica Neue"/>
              </a:defRPr>
            </a:pPr>
            <a:r>
              <a:rPr sz="1875" b="1">
                <a:solidFill>
                  <a:srgbClr val="183F35"/>
                </a:solidFill>
                <a:latin typeface="Helvetica Neue"/>
                <a:ea typeface="Helvetica Neue"/>
                <a:cs typeface="Helvetica Neue"/>
              </a:rPr>
              <a:t>Hono API</a:t>
            </a:r>
          </a:p>
          <a:p xmlns:a="http://schemas.openxmlformats.org/drawingml/2006/main">
            <a:pPr algn="ctr">
              <a:defRPr sz="1875" b="1">
                <a:solidFill>
                  <a:srgbClr val="183F35"/>
                </a:solidFill>
                <a:latin typeface="Helvetica Neue"/>
                <a:ea typeface="Helvetica Neue"/>
                <a:cs typeface="Helvetica Neue"/>
              </a:defRPr>
            </a:pPr>
            <a:r>
              <a:rPr sz="1875" b="1">
                <a:solidFill>
                  <a:srgbClr val="183F35"/>
                </a:solidFill>
                <a:latin typeface="Helvetica Neue"/>
                <a:ea typeface="Helvetica Neue"/>
                <a:cs typeface="Helvetica Neue"/>
              </a:rPr>
              <a:t>Cloudflare Workers</a:t>
            </a:r>
          </a:p>
        </p:txBody>
      </p:sp>
      <p:sp>
        <p:nvSpPr>
          <p:cNvPr id="10" name="↓">
            <a:extLst xmlns:a="http://schemas.openxmlformats.org/drawingml/2006/main">
              <a:ext uri="{FF2B5EF4-FFF2-40B4-BE49-F238E27FC236}">
                <a16:creationId xmlns:a16="http://schemas.microsoft.com/office/drawing/2014/main" id="{A67E5675-C46A-4159-A433-BF95EE4A8A98}"/>
              </a:ext>
            </a:extLst>
          </p:cNvPr>
          <p:cNvSpPr>
            <a:spLocks xmlns:a="http://schemas.openxmlformats.org/drawingml/2006/main" noGrp="1"/>
          </p:cNvSpPr>
          <p:nvPr/>
        </p:nvSpPr>
        <p:spPr>
          <a:xfrm xmlns:a="http://schemas.openxmlformats.org/drawingml/2006/main">
            <a:off x="9763125" y="331470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83F35"/>
                </a:solidFill>
                <a:latin typeface="Helvetica Neue"/>
                <a:ea typeface="Helvetica Neue"/>
                <a:cs typeface="Helvetica Neue"/>
              </a:defRPr>
            </a:pPr>
            <a:r>
              <a:rPr sz="3225" b="1">
                <a:solidFill>
                  <a:srgbClr val="183F35"/>
                </a:solidFill>
                <a:latin typeface="Helvetica Neue"/>
                <a:ea typeface="Helvetica Neue"/>
                <a:cs typeface="Helvetica Neue"/>
              </a:rPr>
              <a:t>↓</a:t>
            </a:r>
          </a:p>
        </p:txBody>
      </p:sp>
      <p:sp>
        <p:nvSpPr>
          <p:cNvPr id="11" name="D1&#10;Session and attachments">
            <a:extLst xmlns:a="http://schemas.openxmlformats.org/drawingml/2006/main">
              <a:ext uri="{FF2B5EF4-FFF2-40B4-BE49-F238E27FC236}">
                <a16:creationId xmlns:a16="http://schemas.microsoft.com/office/drawing/2014/main" id="{29551A24-8EDA-4874-8C7B-092CDDF979F7}"/>
              </a:ext>
            </a:extLst>
          </p:cNvPr>
          <p:cNvSpPr>
            <a:spLocks xmlns:a="http://schemas.openxmlformats.org/drawingml/2006/main" noGrp="1"/>
          </p:cNvSpPr>
          <p:nvPr/>
        </p:nvSpPr>
        <p:spPr>
          <a:xfrm xmlns:a="http://schemas.openxmlformats.org/drawingml/2006/main">
            <a:off x="8505825" y="4105275"/>
            <a:ext cx="3048000" cy="1190625"/>
          </a:xfrm>
          <a:prstGeom xmlns:a="http://schemas.openxmlformats.org/drawingml/2006/main" prst="rect">
            <a:avLst/>
          </a:prstGeom>
          <a:solidFill xmlns:a="http://schemas.openxmlformats.org/drawingml/2006/main">
            <a:srgbClr val="FFFFFF"/>
          </a:solidFill>
          <a:ln xmlns:a="http://schemas.openxmlformats.org/drawingml/2006/main" w="19050">
            <a:solidFill>
              <a:srgbClr val="D8E1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83F35"/>
                </a:solidFill>
                <a:latin typeface="Helvetica Neue"/>
                <a:ea typeface="Helvetica Neue"/>
                <a:cs typeface="Helvetica Neue"/>
              </a:defRPr>
            </a:pPr>
            <a:r>
              <a:rPr sz="1875" b="1">
                <a:solidFill>
                  <a:srgbClr val="183F35"/>
                </a:solidFill>
                <a:latin typeface="Helvetica Neue"/>
                <a:ea typeface="Helvetica Neue"/>
                <a:cs typeface="Helvetica Neue"/>
              </a:rPr>
              <a:t>D1</a:t>
            </a:r>
          </a:p>
          <a:p xmlns:a="http://schemas.openxmlformats.org/drawingml/2006/main">
            <a:pPr algn="ctr">
              <a:defRPr sz="1875" b="1">
                <a:solidFill>
                  <a:srgbClr val="183F35"/>
                </a:solidFill>
                <a:latin typeface="Helvetica Neue"/>
                <a:ea typeface="Helvetica Neue"/>
                <a:cs typeface="Helvetica Neue"/>
              </a:defRPr>
            </a:pPr>
            <a:r>
              <a:rPr sz="1875" b="1">
                <a:solidFill>
                  <a:srgbClr val="183F35"/>
                </a:solidFill>
                <a:latin typeface="Helvetica Neue"/>
                <a:ea typeface="Helvetica Neue"/>
                <a:cs typeface="Helvetica Neue"/>
              </a:rPr>
              <a:t>Session and attachments</a:t>
            </a:r>
          </a:p>
        </p:txBody>
      </p:sp>
      <p:sp>
        <p:nvSpPr>
          <p:cNvPr id="12" name="MapLibre&#10;Street maps and routes">
            <a:extLst xmlns:a="http://schemas.openxmlformats.org/drawingml/2006/main">
              <a:ext uri="{FF2B5EF4-FFF2-40B4-BE49-F238E27FC236}">
                <a16:creationId xmlns:a16="http://schemas.microsoft.com/office/drawing/2014/main" id="{ABB1F81B-2BED-46CC-9177-E1198ACA7D5F}"/>
              </a:ext>
            </a:extLst>
          </p:cNvPr>
          <p:cNvSpPr>
            <a:spLocks xmlns:a="http://schemas.openxmlformats.org/drawingml/2006/main" noGrp="1"/>
          </p:cNvSpPr>
          <p:nvPr/>
        </p:nvSpPr>
        <p:spPr>
          <a:xfrm xmlns:a="http://schemas.openxmlformats.org/drawingml/2006/main">
            <a:off x="609600" y="4105275"/>
            <a:ext cx="3048000" cy="1190625"/>
          </a:xfrm>
          <a:prstGeom xmlns:a="http://schemas.openxmlformats.org/drawingml/2006/main" prst="rect">
            <a:avLst/>
          </a:prstGeom>
          <a:solidFill xmlns:a="http://schemas.openxmlformats.org/drawingml/2006/main">
            <a:srgbClr val="FFFFFF"/>
          </a:solidFill>
          <a:ln xmlns:a="http://schemas.openxmlformats.org/drawingml/2006/main" w="19050">
            <a:solidFill>
              <a:srgbClr val="D8E1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83F35"/>
                </a:solidFill>
                <a:latin typeface="Helvetica Neue"/>
                <a:ea typeface="Helvetica Neue"/>
                <a:cs typeface="Helvetica Neue"/>
              </a:defRPr>
            </a:pPr>
            <a:r>
              <a:rPr sz="1875" b="1">
                <a:solidFill>
                  <a:srgbClr val="183F35"/>
                </a:solidFill>
                <a:latin typeface="Helvetica Neue"/>
                <a:ea typeface="Helvetica Neue"/>
                <a:cs typeface="Helvetica Neue"/>
              </a:rPr>
              <a:t>MapLibre</a:t>
            </a:r>
          </a:p>
          <a:p xmlns:a="http://schemas.openxmlformats.org/drawingml/2006/main">
            <a:pPr algn="ctr">
              <a:defRPr sz="1875" b="1">
                <a:solidFill>
                  <a:srgbClr val="183F35"/>
                </a:solidFill>
                <a:latin typeface="Helvetica Neue"/>
                <a:ea typeface="Helvetica Neue"/>
                <a:cs typeface="Helvetica Neue"/>
              </a:defRPr>
            </a:pPr>
            <a:r>
              <a:rPr sz="1875" b="1">
                <a:solidFill>
                  <a:srgbClr val="183F35"/>
                </a:solidFill>
                <a:latin typeface="Helvetica Neue"/>
                <a:ea typeface="Helvetica Neue"/>
                <a:cs typeface="Helvetica Neue"/>
              </a:rPr>
              <a:t>Street maps and routes</a:t>
            </a:r>
          </a:p>
        </p:txBody>
      </p:sp>
      <p:sp>
        <p:nvSpPr>
          <p:cNvPr id="13" name="Offline rehearsal&#10;Separate local state">
            <a:extLst xmlns:a="http://schemas.openxmlformats.org/drawingml/2006/main">
              <a:ext uri="{FF2B5EF4-FFF2-40B4-BE49-F238E27FC236}">
                <a16:creationId xmlns:a16="http://schemas.microsoft.com/office/drawing/2014/main" id="{2E83A09D-ACD0-4AFA-BB44-DC1A4195D490}"/>
              </a:ext>
            </a:extLst>
          </p:cNvPr>
          <p:cNvSpPr>
            <a:spLocks xmlns:a="http://schemas.openxmlformats.org/drawingml/2006/main" noGrp="1"/>
          </p:cNvSpPr>
          <p:nvPr/>
        </p:nvSpPr>
        <p:spPr>
          <a:xfrm xmlns:a="http://schemas.openxmlformats.org/drawingml/2006/main">
            <a:off x="4552950" y="4105275"/>
            <a:ext cx="3048000" cy="1190625"/>
          </a:xfrm>
          <a:prstGeom xmlns:a="http://schemas.openxmlformats.org/drawingml/2006/main" prst="rect">
            <a:avLst/>
          </a:prstGeom>
          <a:solidFill xmlns:a="http://schemas.openxmlformats.org/drawingml/2006/main">
            <a:srgbClr val="FFFFFF"/>
          </a:solidFill>
          <a:ln xmlns:a="http://schemas.openxmlformats.org/drawingml/2006/main" w="19050">
            <a:solidFill>
              <a:srgbClr val="D8E1D9"/>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83F35"/>
                </a:solidFill>
                <a:latin typeface="Helvetica Neue"/>
                <a:ea typeface="Helvetica Neue"/>
                <a:cs typeface="Helvetica Neue"/>
              </a:defRPr>
            </a:pPr>
            <a:r>
              <a:rPr sz="1875" b="1">
                <a:solidFill>
                  <a:srgbClr val="183F35"/>
                </a:solidFill>
                <a:latin typeface="Helvetica Neue"/>
                <a:ea typeface="Helvetica Neue"/>
                <a:cs typeface="Helvetica Neue"/>
              </a:rPr>
              <a:t>Offline rehearsal</a:t>
            </a:r>
          </a:p>
          <a:p xmlns:a="http://schemas.openxmlformats.org/drawingml/2006/main">
            <a:pPr algn="ctr">
              <a:defRPr sz="1875" b="1">
                <a:solidFill>
                  <a:srgbClr val="183F35"/>
                </a:solidFill>
                <a:latin typeface="Helvetica Neue"/>
                <a:ea typeface="Helvetica Neue"/>
                <a:cs typeface="Helvetica Neue"/>
              </a:defRPr>
            </a:pPr>
            <a:r>
              <a:rPr sz="1875" b="1">
                <a:solidFill>
                  <a:srgbClr val="183F35"/>
                </a:solidFill>
                <a:latin typeface="Helvetica Neue"/>
                <a:ea typeface="Helvetica Neue"/>
                <a:cs typeface="Helvetica Neue"/>
              </a:rPr>
              <a:t>Separate local state</a:t>
            </a:r>
          </a:p>
        </p:txBody>
      </p:sp>
      <p:sp>
        <p:nvSpPr>
          <p:cNvPr id="14" name="Client rendering">
            <a:extLst xmlns:a="http://schemas.openxmlformats.org/drawingml/2006/main">
              <a:ext uri="{FF2B5EF4-FFF2-40B4-BE49-F238E27FC236}">
                <a16:creationId xmlns:a16="http://schemas.microsoft.com/office/drawing/2014/main" id="{C098317A-006D-4BC8-ABA5-76B0B14D772E}"/>
              </a:ext>
            </a:extLst>
          </p:cNvPr>
          <p:cNvSpPr>
            <a:spLocks xmlns:a="http://schemas.openxmlformats.org/drawingml/2006/main" noGrp="1"/>
          </p:cNvSpPr>
          <p:nvPr/>
        </p:nvSpPr>
        <p:spPr>
          <a:xfrm xmlns:a="http://schemas.openxmlformats.org/drawingml/2006/main">
            <a:off x="609600" y="561022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61726B"/>
                </a:solidFill>
                <a:latin typeface="Helvetica Neue"/>
                <a:ea typeface="Helvetica Neue"/>
                <a:cs typeface="Helvetica Neue"/>
              </a:defRPr>
            </a:pPr>
            <a:r>
              <a:rPr sz="1425" b="0">
                <a:solidFill>
                  <a:srgbClr val="61726B"/>
                </a:solidFill>
                <a:latin typeface="Helvetica Neue"/>
                <a:ea typeface="Helvetica Neue"/>
                <a:cs typeface="Helvetica Neue"/>
              </a:rPr>
              <a:t>Client rendering</a:t>
            </a:r>
          </a:p>
        </p:txBody>
      </p:sp>
      <p:sp>
        <p:nvSpPr>
          <p:cNvPr id="15" name="Bounded exhibition data">
            <a:extLst xmlns:a="http://schemas.openxmlformats.org/drawingml/2006/main">
              <a:ext uri="{FF2B5EF4-FFF2-40B4-BE49-F238E27FC236}">
                <a16:creationId xmlns:a16="http://schemas.microsoft.com/office/drawing/2014/main" id="{442BB225-89A5-407B-A7E3-3B138F6087F7}"/>
              </a:ext>
            </a:extLst>
          </p:cNvPr>
          <p:cNvSpPr>
            <a:spLocks xmlns:a="http://schemas.openxmlformats.org/drawingml/2006/main" noGrp="1"/>
          </p:cNvSpPr>
          <p:nvPr/>
        </p:nvSpPr>
        <p:spPr>
          <a:xfrm xmlns:a="http://schemas.openxmlformats.org/drawingml/2006/main">
            <a:off x="4552950" y="5610225"/>
            <a:ext cx="7019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61726B"/>
                </a:solidFill>
                <a:latin typeface="Helvetica Neue"/>
                <a:ea typeface="Helvetica Neue"/>
                <a:cs typeface="Helvetica Neue"/>
              </a:defRPr>
            </a:pPr>
            <a:r>
              <a:rPr sz="1425" b="0">
                <a:solidFill>
                  <a:srgbClr val="61726B"/>
                </a:solidFill>
                <a:latin typeface="Helvetica Neue"/>
                <a:ea typeface="Helvetica Neue"/>
                <a:cs typeface="Helvetica Neue"/>
              </a:rPr>
              <a:t>Bounded exhibition data</a:t>
            </a:r>
          </a:p>
        </p:txBody>
      </p:sp>
    </p:spTree>
    <p:extLst>
      <p:ext uri="{BB962C8B-B14F-4D97-AF65-F5344CB8AC3E}">
        <p14:creationId xmlns:p14="http://schemas.microsoft.com/office/powerpoint/2010/main" val="1387919580"/>
      </p:ext>
    </p:extLst>
  </p:cSld>
</p:sld>
</file>

<file path=ppt/slides/slide1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3" name="TECHNICAL">
            <a:extLst xmlns:a="http://schemas.openxmlformats.org/drawingml/2006/main">
              <a:ext uri="{FF2B5EF4-FFF2-40B4-BE49-F238E27FC236}">
                <a16:creationId xmlns:a16="http://schemas.microsoft.com/office/drawing/2014/main" id="{79BF58E5-CCB1-4808-8F29-8AC3ACA9D35F}"/>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TECHNICAL</a:t>
            </a:r>
          </a:p>
        </p:txBody>
      </p:sp>
      <p:sp>
        <p:nvSpPr>
          <p:cNvPr id="2" name="Data and state integrity">
            <a:extLst xmlns:a="http://schemas.openxmlformats.org/drawingml/2006/main">
              <a:ext uri="{FF2B5EF4-FFF2-40B4-BE49-F238E27FC236}">
                <a16:creationId xmlns:a16="http://schemas.microsoft.com/office/drawing/2014/main" id="{CEC4F747-F412-426B-BBBA-1671A174FAF6}"/>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Data and state integrity</a:t>
            </a:r>
          </a:p>
        </p:txBody>
      </p:sp>
      <p:sp>
        <p:nvSpPr>
          <p:cNvPr id="3" name="19">
            <a:extLst xmlns:a="http://schemas.openxmlformats.org/drawingml/2006/main">
              <a:ext uri="{FF2B5EF4-FFF2-40B4-BE49-F238E27FC236}">
                <a16:creationId xmlns:a16="http://schemas.microsoft.com/office/drawing/2014/main" id="{910FEA0F-DCD9-4290-A6CB-F728F4F035A0}"/>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19</a:t>
            </a:r>
          </a:p>
        </p:txBody>
      </p:sp>
      <p:sp>
        <p:nvSpPr>
          <p:cNvPr id="4" name="CareNow 1.2.1 · Exhibition prototype · September 2026">
            <a:extLst xmlns:a="http://schemas.openxmlformats.org/drawingml/2006/main">
              <a:ext uri="{FF2B5EF4-FFF2-40B4-BE49-F238E27FC236}">
                <a16:creationId xmlns:a16="http://schemas.microsoft.com/office/drawing/2014/main" id="{716BBD3C-636F-44A5-842C-FC8CD901C00D}"/>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sp>
        <p:nvSpPr>
          <p:cNvPr id="5" name="Shared domain objects">
            <a:extLst xmlns:a="http://schemas.openxmlformats.org/drawingml/2006/main">
              <a:ext uri="{FF2B5EF4-FFF2-40B4-BE49-F238E27FC236}">
                <a16:creationId xmlns:a16="http://schemas.microsoft.com/office/drawing/2014/main" id="{AA1F4679-7A28-475E-97F0-08A0D56E6B9F}"/>
              </a:ext>
            </a:extLst>
          </p:cNvPr>
          <p:cNvSpPr>
            <a:spLocks xmlns:a="http://schemas.openxmlformats.org/drawingml/2006/main" noGrp="1"/>
          </p:cNvSpPr>
          <p:nvPr/>
        </p:nvSpPr>
        <p:spPr>
          <a:xfrm xmlns:a="http://schemas.openxmlformats.org/drawingml/2006/main">
            <a:off x="609600" y="17335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Shared domain objects</a:t>
            </a:r>
          </a:p>
        </p:txBody>
      </p:sp>
      <p:sp>
        <p:nvSpPr>
          <p:cNvPr id="6" name="Family members, appointments, care requests and transpo">
            <a:extLst xmlns:a="http://schemas.openxmlformats.org/drawingml/2006/main">
              <a:ext uri="{FF2B5EF4-FFF2-40B4-BE49-F238E27FC236}">
                <a16:creationId xmlns:a16="http://schemas.microsoft.com/office/drawing/2014/main" id="{C4D1E329-54B3-4915-A368-01D68782CB7A}"/>
              </a:ext>
            </a:extLst>
          </p:cNvPr>
          <p:cNvSpPr>
            <a:spLocks xmlns:a="http://schemas.openxmlformats.org/drawingml/2006/main" noGrp="1"/>
          </p:cNvSpPr>
          <p:nvPr/>
        </p:nvSpPr>
        <p:spPr>
          <a:xfrm xmlns:a="http://schemas.openxmlformats.org/drawingml/2006/main">
            <a:off x="609600" y="212407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Family members, appointments, care requests and transport jobs.</a:t>
            </a:r>
          </a:p>
        </p:txBody>
      </p:sp>
      <p:sp>
        <p:nvSpPr>
          <p:cNvPr id="7" name="Ordered job transitions">
            <a:extLst xmlns:a="http://schemas.openxmlformats.org/drawingml/2006/main">
              <a:ext uri="{FF2B5EF4-FFF2-40B4-BE49-F238E27FC236}">
                <a16:creationId xmlns:a16="http://schemas.microsoft.com/office/drawing/2014/main" id="{1EE750DF-8AF2-4041-B711-76EA08C926E8}"/>
              </a:ext>
            </a:extLst>
          </p:cNvPr>
          <p:cNvSpPr>
            <a:spLocks xmlns:a="http://schemas.openxmlformats.org/drawingml/2006/main" noGrp="1"/>
          </p:cNvSpPr>
          <p:nvPr/>
        </p:nvSpPr>
        <p:spPr>
          <a:xfrm xmlns:a="http://schemas.openxmlformats.org/drawingml/2006/main">
            <a:off x="609600" y="27813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Ordered job transitions</a:t>
            </a:r>
          </a:p>
        </p:txBody>
      </p:sp>
      <p:sp>
        <p:nvSpPr>
          <p:cNvPr id="8" name="Assignments and acceptance precede travel and completio">
            <a:extLst xmlns:a="http://schemas.openxmlformats.org/drawingml/2006/main">
              <a:ext uri="{FF2B5EF4-FFF2-40B4-BE49-F238E27FC236}">
                <a16:creationId xmlns:a16="http://schemas.microsoft.com/office/drawing/2014/main" id="{DA2F3A28-CC26-489B-A31F-91380B9E6BD0}"/>
              </a:ext>
            </a:extLst>
          </p:cNvPr>
          <p:cNvSpPr>
            <a:spLocks xmlns:a="http://schemas.openxmlformats.org/drawingml/2006/main" noGrp="1"/>
          </p:cNvSpPr>
          <p:nvPr/>
        </p:nvSpPr>
        <p:spPr>
          <a:xfrm xmlns:a="http://schemas.openxmlformats.org/drawingml/2006/main">
            <a:off x="609600" y="31718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Assignments and acceptance precede travel and completion.</a:t>
            </a:r>
          </a:p>
        </p:txBody>
      </p:sp>
      <p:sp>
        <p:nvSpPr>
          <p:cNvPr id="9" name="Versioned persistence">
            <a:extLst xmlns:a="http://schemas.openxmlformats.org/drawingml/2006/main">
              <a:ext uri="{FF2B5EF4-FFF2-40B4-BE49-F238E27FC236}">
                <a16:creationId xmlns:a16="http://schemas.microsoft.com/office/drawing/2014/main" id="{8AD30DC7-017A-4B19-9858-16C7C60DF817}"/>
              </a:ext>
            </a:extLst>
          </p:cNvPr>
          <p:cNvSpPr>
            <a:spLocks xmlns:a="http://schemas.openxmlformats.org/drawingml/2006/main" noGrp="1"/>
          </p:cNvSpPr>
          <p:nvPr/>
        </p:nvSpPr>
        <p:spPr>
          <a:xfrm xmlns:a="http://schemas.openxmlformats.org/drawingml/2006/main">
            <a:off x="609600" y="38290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Versioned persistence</a:t>
            </a:r>
          </a:p>
        </p:txBody>
      </p:sp>
      <p:sp>
        <p:nvSpPr>
          <p:cNvPr id="10" name="Compare-and-swap updates prevent silent lost changes.">
            <a:extLst xmlns:a="http://schemas.openxmlformats.org/drawingml/2006/main">
              <a:ext uri="{FF2B5EF4-FFF2-40B4-BE49-F238E27FC236}">
                <a16:creationId xmlns:a16="http://schemas.microsoft.com/office/drawing/2014/main" id="{81DFE3ED-7162-4945-B92D-CD1909F82CE7}"/>
              </a:ext>
            </a:extLst>
          </p:cNvPr>
          <p:cNvSpPr>
            <a:spLocks xmlns:a="http://schemas.openxmlformats.org/drawingml/2006/main" noGrp="1"/>
          </p:cNvSpPr>
          <p:nvPr/>
        </p:nvSpPr>
        <p:spPr>
          <a:xfrm xmlns:a="http://schemas.openxmlformats.org/drawingml/2006/main">
            <a:off x="609600" y="421957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Compare-and-swap updates prevent silent lost changes.</a:t>
            </a:r>
          </a:p>
        </p:txBody>
      </p:sp>
      <p:sp>
        <p:nvSpPr>
          <p:cNvPr id="11" name="Production migration">
            <a:extLst xmlns:a="http://schemas.openxmlformats.org/drawingml/2006/main">
              <a:ext uri="{FF2B5EF4-FFF2-40B4-BE49-F238E27FC236}">
                <a16:creationId xmlns:a16="http://schemas.microsoft.com/office/drawing/2014/main" id="{83311D61-E6D6-4523-9078-F81CC39D0701}"/>
              </a:ext>
            </a:extLst>
          </p:cNvPr>
          <p:cNvSpPr>
            <a:spLocks xmlns:a="http://schemas.openxmlformats.org/drawingml/2006/main" noGrp="1"/>
          </p:cNvSpPr>
          <p:nvPr/>
        </p:nvSpPr>
        <p:spPr>
          <a:xfrm xmlns:a="http://schemas.openxmlformats.org/drawingml/2006/main">
            <a:off x="609600" y="48768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Production migration</a:t>
            </a:r>
          </a:p>
        </p:txBody>
      </p:sp>
      <p:sp>
        <p:nvSpPr>
          <p:cNvPr id="12" name="Separate identities, organisations, consent, event hist">
            <a:extLst xmlns:a="http://schemas.openxmlformats.org/drawingml/2006/main">
              <a:ext uri="{FF2B5EF4-FFF2-40B4-BE49-F238E27FC236}">
                <a16:creationId xmlns:a16="http://schemas.microsoft.com/office/drawing/2014/main" id="{C988E2E8-BBBE-4CB2-A682-3CD290D53F82}"/>
              </a:ext>
            </a:extLst>
          </p:cNvPr>
          <p:cNvSpPr>
            <a:spLocks xmlns:a="http://schemas.openxmlformats.org/drawingml/2006/main" noGrp="1"/>
          </p:cNvSpPr>
          <p:nvPr/>
        </p:nvSpPr>
        <p:spPr>
          <a:xfrm xmlns:a="http://schemas.openxmlformats.org/drawingml/2006/main">
            <a:off x="609600" y="52673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Separate identities, organisations, consent, event history and media.</a:t>
            </a:r>
          </a:p>
        </p:txBody>
      </p:sp>
    </p:spTree>
    <p:extLst>
      <p:ext uri="{BB962C8B-B14F-4D97-AF65-F5344CB8AC3E}">
        <p14:creationId xmlns:p14="http://schemas.microsoft.com/office/powerpoint/2010/main" val="2063438368"/>
      </p:ext>
    </p:extLst>
  </p:cSld>
</p:sld>
</file>

<file path=ppt/slides/slide2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7" name="TECHNICAL READINESS">
            <a:extLst xmlns:a="http://schemas.openxmlformats.org/drawingml/2006/main">
              <a:ext uri="{FF2B5EF4-FFF2-40B4-BE49-F238E27FC236}">
                <a16:creationId xmlns:a16="http://schemas.microsoft.com/office/drawing/2014/main" id="{3B424FC8-5677-4A88-864D-6E497FC09A4C}"/>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TECHNICAL READINESS</a:t>
            </a:r>
          </a:p>
        </p:txBody>
      </p:sp>
      <p:sp>
        <p:nvSpPr>
          <p:cNvPr id="2" name="Privacy and access controls">
            <a:extLst xmlns:a="http://schemas.openxmlformats.org/drawingml/2006/main">
              <a:ext uri="{FF2B5EF4-FFF2-40B4-BE49-F238E27FC236}">
                <a16:creationId xmlns:a16="http://schemas.microsoft.com/office/drawing/2014/main" id="{B087F895-4333-40B5-B2E2-2600E480A04F}"/>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Privacy and access controls</a:t>
            </a:r>
          </a:p>
        </p:txBody>
      </p:sp>
      <p:sp>
        <p:nvSpPr>
          <p:cNvPr id="3" name="20">
            <a:extLst xmlns:a="http://schemas.openxmlformats.org/drawingml/2006/main">
              <a:ext uri="{FF2B5EF4-FFF2-40B4-BE49-F238E27FC236}">
                <a16:creationId xmlns:a16="http://schemas.microsoft.com/office/drawing/2014/main" id="{5EA13C4C-1F4A-4960-82AD-8A2C433C1806}"/>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20</a:t>
            </a:r>
          </a:p>
        </p:txBody>
      </p:sp>
      <p:sp>
        <p:nvSpPr>
          <p:cNvPr id="4" name="CareNow 1.2.1 · Exhibition prototype · September 2026">
            <a:extLst xmlns:a="http://schemas.openxmlformats.org/drawingml/2006/main">
              <a:ext uri="{FF2B5EF4-FFF2-40B4-BE49-F238E27FC236}">
                <a16:creationId xmlns:a16="http://schemas.microsoft.com/office/drawing/2014/main" id="{F72F0B7B-2ED2-4F26-8040-F315101D3BE6}"/>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graphicFrame>
        <p:nvGraphicFramePr>
          <p:cNvPr id="11" name=""/>
          <p:cNvGraphicFramePr/>
          <p:nvPr/>
        </p:nvGraphicFramePr>
        <p:xfrm>
          <a:off xmlns:a="http://schemas.openxmlformats.org/drawingml/2006/main" x="609600" y="1771650"/>
          <a:ext xmlns:a="http://schemas.openxmlformats.org/drawingml/2006/main" cx="10972800" cy="3638550"/>
        </p:xfrm>
        <a:graphic xmlns:a="http://schemas.openxmlformats.org/drawingml/2006/main">
          <a:graphicData uri="http://schemas.openxmlformats.org/drawingml/2006/table">
            <a:tbl>
              <a:tblPr/>
              <a:tblGrid>
                <a:gridCol w="4953000"/>
                <a:gridCol w="6019800"/>
              </a:tblGrid>
              <a:tr h="727710">
                <a:tc>
                  <a:txBody>
                    <a:bodyPr>
                      <a:noAutofit/>
                    </a:bodyPr>
                    <a:lstStyle/>
                    <a:p>
                      <a:r>
                        <a:rPr sz="1725" b="1">
                          <a:solidFill>
                            <a:srgbClr val="FFFFFF"/>
                          </a:solidFill>
                          <a:latin typeface="Helvetica Neue"/>
                          <a:ea typeface="Helvetica Neue"/>
                          <a:cs typeface="Helvetica Neue"/>
                        </a:rPr>
                        <a:t>Implemented in the demo</a:t>
                      </a:r>
                    </a:p>
                  </a:txBody>
                  <a:tcPr marL="133350" marR="133350" marT="95250" marB="95250" anchor="ctr">
                    <a:solidFill>
                      <a:srgbClr val="1B5142"/>
                    </a:solidFill>
                  </a:tcPr>
                </a:tc>
                <a:tc>
                  <a:txBody>
                    <a:bodyPr>
                      <a:noAutofit/>
                    </a:bodyPr>
                    <a:lstStyle/>
                    <a:p>
                      <a:r>
                        <a:rPr sz="1725" b="1">
                          <a:solidFill>
                            <a:srgbClr val="FFFFFF"/>
                          </a:solidFill>
                          <a:latin typeface="Helvetica Neue"/>
                          <a:ea typeface="Helvetica Neue"/>
                          <a:cs typeface="Helvetica Neue"/>
                        </a:rPr>
                        <a:t>Required production work</a:t>
                      </a:r>
                    </a:p>
                  </a:txBody>
                  <a:tcPr marL="133350" marR="133350" marT="95250" marB="95250" anchor="ctr">
                    <a:solidFill>
                      <a:srgbClr val="1B5142"/>
                    </a:solidFill>
                  </a:tcPr>
                </a:tc>
              </a:tr>
              <a:tr h="727710">
                <a:tc>
                  <a:txBody>
                    <a:bodyPr>
                      <a:noAutofit/>
                    </a:bodyPr>
                    <a:lstStyle/>
                    <a:p>
                      <a:r>
                        <a:rPr sz="1725" b="0">
                          <a:solidFill>
                            <a:srgbClr val="183F35"/>
                          </a:solidFill>
                          <a:latin typeface="Helvetica Neue"/>
                          <a:ea typeface="Helvetica Neue"/>
                          <a:cs typeface="Helvetica Neue"/>
                        </a:rPr>
                        <a:t>Isolated session and ownership checks</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Individual identity and role permissions</a:t>
                      </a:r>
                    </a:p>
                  </a:txBody>
                  <a:tcPr marL="133350" marR="133350" marT="95250" marB="95250" anchor="ctr">
                    <a:solidFill>
                      <a:srgbClr val="FFFFFF"/>
                    </a:solidFill>
                  </a:tcPr>
                </a:tc>
              </a:tr>
              <a:tr h="727710">
                <a:tc>
                  <a:txBody>
                    <a:bodyPr>
                      <a:noAutofit/>
                    </a:bodyPr>
                    <a:lstStyle/>
                    <a:p>
                      <a:r>
                        <a:rPr sz="1725" b="0">
                          <a:solidFill>
                            <a:srgbClr val="183F35"/>
                          </a:solidFill>
                          <a:latin typeface="Helvetica Neue"/>
                          <a:ea typeface="Helvetica Neue"/>
                          <a:cs typeface="Helvetica Neue"/>
                        </a:rPr>
                        <a:t>Validated actions and prepared SQL</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Access audit and incident response</a:t>
                      </a:r>
                    </a:p>
                  </a:txBody>
                  <a:tcPr marL="133350" marR="133350" marT="95250" marB="95250" anchor="ctr">
                    <a:solidFill>
                      <a:srgbClr val="EDF2ED"/>
                    </a:solidFill>
                  </a:tcPr>
                </a:tc>
              </a:tr>
              <a:tr h="727710">
                <a:tc>
                  <a:txBody>
                    <a:bodyPr>
                      <a:noAutofit/>
                    </a:bodyPr>
                    <a:lstStyle/>
                    <a:p>
                      <a:r>
                        <a:rPr sz="1725" b="0">
                          <a:solidFill>
                            <a:srgbClr val="183F35"/>
                          </a:solidFill>
                          <a:latin typeface="Helvetica Neue"/>
                          <a:ea typeface="Helvetica Neue"/>
                          <a:cs typeface="Helvetica Neue"/>
                        </a:rPr>
                        <a:t>Attachment type and size checks</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Secure media storage and retention</a:t>
                      </a:r>
                    </a:p>
                  </a:txBody>
                  <a:tcPr marL="133350" marR="133350" marT="95250" marB="95250" anchor="ctr">
                    <a:solidFill>
                      <a:srgbClr val="FFFFFF"/>
                    </a:solidFill>
                  </a:tcPr>
                </a:tc>
              </a:tr>
              <a:tr h="727710">
                <a:tc>
                  <a:txBody>
                    <a:bodyPr>
                      <a:noAutofit/>
                    </a:bodyPr>
                    <a:lstStyle/>
                    <a:p>
                      <a:r>
                        <a:rPr sz="1725" b="0">
                          <a:solidFill>
                            <a:srgbClr val="183F35"/>
                          </a:solidFill>
                          <a:latin typeface="Helvetica Neue"/>
                          <a:ea typeface="Helvetica Neue"/>
                          <a:cs typeface="Helvetica Neue"/>
                        </a:rPr>
                        <a:t>Separate offline rehearsal</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Consent, delegation and device-loss controls</a:t>
                      </a:r>
                    </a:p>
                  </a:txBody>
                  <a:tcPr marL="133350" marR="133350" marT="95250" marB="95250" anchor="ctr">
                    <a:solidFill>
                      <a:srgbClr val="EDF2ED"/>
                    </a:solidFill>
                  </a:tcPr>
                </a:tc>
              </a:tr>
            </a:tbl>
          </a:graphicData>
        </a:graphic>
      </p:graphicFrame>
      <p:sp>
        <p:nvSpPr>
          <p:cNvPr id="6" name="No clinical security certification is claimed.">
            <a:extLst xmlns:a="http://schemas.openxmlformats.org/drawingml/2006/main">
              <a:ext uri="{FF2B5EF4-FFF2-40B4-BE49-F238E27FC236}">
                <a16:creationId xmlns:a16="http://schemas.microsoft.com/office/drawing/2014/main" id="{38EE0DF6-2E03-4757-8428-9A47C433D474}"/>
              </a:ext>
            </a:extLst>
          </p:cNvPr>
          <p:cNvSpPr>
            <a:spLocks xmlns:a="http://schemas.openxmlformats.org/drawingml/2006/main" noGrp="1"/>
          </p:cNvSpPr>
          <p:nvPr/>
        </p:nvSpPr>
        <p:spPr>
          <a:xfrm xmlns:a="http://schemas.openxmlformats.org/drawingml/2006/main">
            <a:off x="609600" y="57245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83F35"/>
                </a:solidFill>
                <a:latin typeface="Helvetica Neue"/>
                <a:ea typeface="Helvetica Neue"/>
                <a:cs typeface="Helvetica Neue"/>
              </a:defRPr>
            </a:pPr>
            <a:r>
              <a:rPr sz="1950" b="0">
                <a:solidFill>
                  <a:srgbClr val="183F35"/>
                </a:solidFill>
                <a:latin typeface="Helvetica Neue"/>
                <a:ea typeface="Helvetica Neue"/>
                <a:cs typeface="Helvetica Neue"/>
              </a:rPr>
              <a:t>No clinical security certification is claimed.</a:t>
            </a:r>
          </a:p>
        </p:txBody>
      </p:sp>
    </p:spTree>
    <p:extLst>
      <p:ext uri="{BB962C8B-B14F-4D97-AF65-F5344CB8AC3E}">
        <p14:creationId xmlns:p14="http://schemas.microsoft.com/office/powerpoint/2010/main" val="1451179771"/>
      </p:ext>
    </p:extLst>
  </p:cSld>
</p:sld>
</file>

<file path=ppt/slides/slide2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3" name="PILOT READINESS">
            <a:extLst xmlns:a="http://schemas.openxmlformats.org/drawingml/2006/main">
              <a:ext uri="{FF2B5EF4-FFF2-40B4-BE49-F238E27FC236}">
                <a16:creationId xmlns:a16="http://schemas.microsoft.com/office/drawing/2014/main" id="{14DD8C4C-D389-466E-A6C7-950EAF758CC1}"/>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PILOT READINESS</a:t>
            </a:r>
          </a:p>
        </p:txBody>
      </p:sp>
      <p:sp>
        <p:nvSpPr>
          <p:cNvPr id="2" name="Clinical and operational governance">
            <a:extLst xmlns:a="http://schemas.openxmlformats.org/drawingml/2006/main">
              <a:ext uri="{FF2B5EF4-FFF2-40B4-BE49-F238E27FC236}">
                <a16:creationId xmlns:a16="http://schemas.microsoft.com/office/drawing/2014/main" id="{337B0AF6-A03F-4FB2-AAA9-90A16AA6C25A}"/>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Clinical and operational governance</a:t>
            </a:r>
          </a:p>
        </p:txBody>
      </p:sp>
      <p:sp>
        <p:nvSpPr>
          <p:cNvPr id="3" name="21">
            <a:extLst xmlns:a="http://schemas.openxmlformats.org/drawingml/2006/main">
              <a:ext uri="{FF2B5EF4-FFF2-40B4-BE49-F238E27FC236}">
                <a16:creationId xmlns:a16="http://schemas.microsoft.com/office/drawing/2014/main" id="{3CD154F1-F974-4127-828A-FB94915113FE}"/>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21</a:t>
            </a:r>
          </a:p>
        </p:txBody>
      </p:sp>
      <p:sp>
        <p:nvSpPr>
          <p:cNvPr id="4" name="CareNow 1.2.1 · Exhibition prototype · September 2026">
            <a:extLst xmlns:a="http://schemas.openxmlformats.org/drawingml/2006/main">
              <a:ext uri="{FF2B5EF4-FFF2-40B4-BE49-F238E27FC236}">
                <a16:creationId xmlns:a16="http://schemas.microsoft.com/office/drawing/2014/main" id="{132EC86B-A34B-40C7-A55B-C4A90FC8D929}"/>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sp>
        <p:nvSpPr>
          <p:cNvPr id="5" name="Clinical accountability">
            <a:extLst xmlns:a="http://schemas.openxmlformats.org/drawingml/2006/main">
              <a:ext uri="{FF2B5EF4-FFF2-40B4-BE49-F238E27FC236}">
                <a16:creationId xmlns:a16="http://schemas.microsoft.com/office/drawing/2014/main" id="{D44DB3E1-2045-48EB-9D88-9285142AC0FB}"/>
              </a:ext>
            </a:extLst>
          </p:cNvPr>
          <p:cNvSpPr>
            <a:spLocks xmlns:a="http://schemas.openxmlformats.org/drawingml/2006/main" noGrp="1"/>
          </p:cNvSpPr>
          <p:nvPr/>
        </p:nvSpPr>
        <p:spPr>
          <a:xfrm xmlns:a="http://schemas.openxmlformats.org/drawingml/2006/main">
            <a:off x="609600" y="17526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Clinical accountability</a:t>
            </a:r>
          </a:p>
        </p:txBody>
      </p:sp>
      <p:sp>
        <p:nvSpPr>
          <p:cNvPr id="6" name="Qualified lead, verified professionals and scoped servi">
            <a:extLst xmlns:a="http://schemas.openxmlformats.org/drawingml/2006/main">
              <a:ext uri="{FF2B5EF4-FFF2-40B4-BE49-F238E27FC236}">
                <a16:creationId xmlns:a16="http://schemas.microsoft.com/office/drawing/2014/main" id="{35A030FC-7592-49BB-87E2-3333286898D9}"/>
              </a:ext>
            </a:extLst>
          </p:cNvPr>
          <p:cNvSpPr>
            <a:spLocks xmlns:a="http://schemas.openxmlformats.org/drawingml/2006/main" noGrp="1"/>
          </p:cNvSpPr>
          <p:nvPr/>
        </p:nvSpPr>
        <p:spPr>
          <a:xfrm xmlns:a="http://schemas.openxmlformats.org/drawingml/2006/main">
            <a:off x="609600" y="214312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Qualified lead, verified professionals and scoped services.</a:t>
            </a:r>
          </a:p>
        </p:txBody>
      </p:sp>
      <p:sp>
        <p:nvSpPr>
          <p:cNvPr id="7" name="Transport readiness">
            <a:extLst xmlns:a="http://schemas.openxmlformats.org/drawingml/2006/main">
              <a:ext uri="{FF2B5EF4-FFF2-40B4-BE49-F238E27FC236}">
                <a16:creationId xmlns:a16="http://schemas.microsoft.com/office/drawing/2014/main" id="{DBAB7F65-9BC6-49DF-A62C-5AC7417164A8}"/>
              </a:ext>
            </a:extLst>
          </p:cNvPr>
          <p:cNvSpPr>
            <a:spLocks xmlns:a="http://schemas.openxmlformats.org/drawingml/2006/main" noGrp="1"/>
          </p:cNvSpPr>
          <p:nvPr/>
        </p:nvSpPr>
        <p:spPr>
          <a:xfrm xmlns:a="http://schemas.openxmlformats.org/drawingml/2006/main">
            <a:off x="609600" y="28098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Transport readiness</a:t>
            </a:r>
          </a:p>
        </p:txBody>
      </p:sp>
      <p:sp>
        <p:nvSpPr>
          <p:cNvPr id="8" name="Vehicle capability, capacity, operator responsibility a">
            <a:extLst xmlns:a="http://schemas.openxmlformats.org/drawingml/2006/main">
              <a:ext uri="{FF2B5EF4-FFF2-40B4-BE49-F238E27FC236}">
                <a16:creationId xmlns:a16="http://schemas.microsoft.com/office/drawing/2014/main" id="{409FF85F-FD6A-4F6D-87C4-414B19895635}"/>
              </a:ext>
            </a:extLst>
          </p:cNvPr>
          <p:cNvSpPr>
            <a:spLocks xmlns:a="http://schemas.openxmlformats.org/drawingml/2006/main" noGrp="1"/>
          </p:cNvSpPr>
          <p:nvPr/>
        </p:nvSpPr>
        <p:spPr>
          <a:xfrm xmlns:a="http://schemas.openxmlformats.org/drawingml/2006/main">
            <a:off x="609600" y="3200400"/>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Vehicle capability, capacity, operator responsibility and escalation.</a:t>
            </a:r>
          </a:p>
        </p:txBody>
      </p:sp>
      <p:sp>
        <p:nvSpPr>
          <p:cNvPr id="9" name="Recipient and worker protection">
            <a:extLst xmlns:a="http://schemas.openxmlformats.org/drawingml/2006/main">
              <a:ext uri="{FF2B5EF4-FFF2-40B4-BE49-F238E27FC236}">
                <a16:creationId xmlns:a16="http://schemas.microsoft.com/office/drawing/2014/main" id="{3E6456B1-5D4E-4658-B37B-1BEF0F5302FB}"/>
              </a:ext>
            </a:extLst>
          </p:cNvPr>
          <p:cNvSpPr>
            <a:spLocks xmlns:a="http://schemas.openxmlformats.org/drawingml/2006/main" noGrp="1"/>
          </p:cNvSpPr>
          <p:nvPr/>
        </p:nvSpPr>
        <p:spPr>
          <a:xfrm xmlns:a="http://schemas.openxmlformats.org/drawingml/2006/main">
            <a:off x="609600" y="38671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Recipient and worker protection</a:t>
            </a:r>
          </a:p>
        </p:txBody>
      </p:sp>
      <p:sp>
        <p:nvSpPr>
          <p:cNvPr id="10" name="Consent, safeguarding and an accessible complaint route">
            <a:extLst xmlns:a="http://schemas.openxmlformats.org/drawingml/2006/main">
              <a:ext uri="{FF2B5EF4-FFF2-40B4-BE49-F238E27FC236}">
                <a16:creationId xmlns:a16="http://schemas.microsoft.com/office/drawing/2014/main" id="{EC2C1691-8101-40E6-AC2A-3A150E40C3A4}"/>
              </a:ext>
            </a:extLst>
          </p:cNvPr>
          <p:cNvSpPr>
            <a:spLocks xmlns:a="http://schemas.openxmlformats.org/drawingml/2006/main" noGrp="1"/>
          </p:cNvSpPr>
          <p:nvPr/>
        </p:nvSpPr>
        <p:spPr>
          <a:xfrm xmlns:a="http://schemas.openxmlformats.org/drawingml/2006/main">
            <a:off x="609600" y="425767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Consent, safeguarding and an accessible complaint route.</a:t>
            </a:r>
          </a:p>
        </p:txBody>
      </p:sp>
      <p:sp>
        <p:nvSpPr>
          <p:cNvPr id="11" name="Emergency boundaries">
            <a:extLst xmlns:a="http://schemas.openxmlformats.org/drawingml/2006/main">
              <a:ext uri="{FF2B5EF4-FFF2-40B4-BE49-F238E27FC236}">
                <a16:creationId xmlns:a16="http://schemas.microsoft.com/office/drawing/2014/main" id="{AF0D5477-CF26-4FFC-A81E-7040FD329CE0}"/>
              </a:ext>
            </a:extLst>
          </p:cNvPr>
          <p:cNvSpPr>
            <a:spLocks xmlns:a="http://schemas.openxmlformats.org/drawingml/2006/main" noGrp="1"/>
          </p:cNvSpPr>
          <p:nvPr/>
        </p:nvSpPr>
        <p:spPr>
          <a:xfrm xmlns:a="http://schemas.openxmlformats.org/drawingml/2006/main">
            <a:off x="609600" y="492442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Emergency boundaries</a:t>
            </a:r>
          </a:p>
        </p:txBody>
      </p:sp>
      <p:sp>
        <p:nvSpPr>
          <p:cNvPr id="12" name="The demo makes no real dispatch or clinical response pr">
            <a:extLst xmlns:a="http://schemas.openxmlformats.org/drawingml/2006/main">
              <a:ext uri="{FF2B5EF4-FFF2-40B4-BE49-F238E27FC236}">
                <a16:creationId xmlns:a16="http://schemas.microsoft.com/office/drawing/2014/main" id="{FEC0A4CC-AA16-4228-993A-82F39BCE6A9B}"/>
              </a:ext>
            </a:extLst>
          </p:cNvPr>
          <p:cNvSpPr>
            <a:spLocks xmlns:a="http://schemas.openxmlformats.org/drawingml/2006/main" noGrp="1"/>
          </p:cNvSpPr>
          <p:nvPr/>
        </p:nvSpPr>
        <p:spPr>
          <a:xfrm xmlns:a="http://schemas.openxmlformats.org/drawingml/2006/main">
            <a:off x="609600" y="5314950"/>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The demo makes no real dispatch or clinical response promise.</a:t>
            </a:r>
          </a:p>
        </p:txBody>
      </p:sp>
    </p:spTree>
    <p:extLst>
      <p:ext uri="{BB962C8B-B14F-4D97-AF65-F5344CB8AC3E}">
        <p14:creationId xmlns:p14="http://schemas.microsoft.com/office/powerpoint/2010/main" val="410518121"/>
      </p:ext>
    </p:extLst>
  </p:cSld>
</p:sld>
</file>

<file path=ppt/slides/slide2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0" name="EVALUATION PLAN">
            <a:extLst xmlns:a="http://schemas.openxmlformats.org/drawingml/2006/main">
              <a:ext uri="{FF2B5EF4-FFF2-40B4-BE49-F238E27FC236}">
                <a16:creationId xmlns:a16="http://schemas.microsoft.com/office/drawing/2014/main" id="{C8D6C58B-068A-4DFD-A22C-462E19BF3020}"/>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EVALUATION PLAN</a:t>
            </a:r>
          </a:p>
        </p:txBody>
      </p:sp>
      <p:sp>
        <p:nvSpPr>
          <p:cNvPr id="2" name="Proposed research and pilot methodology">
            <a:extLst xmlns:a="http://schemas.openxmlformats.org/drawingml/2006/main">
              <a:ext uri="{FF2B5EF4-FFF2-40B4-BE49-F238E27FC236}">
                <a16:creationId xmlns:a16="http://schemas.microsoft.com/office/drawing/2014/main" id="{BFE734D7-60E7-414F-873B-C956B0E41791}"/>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Proposed research and pilot methodology</a:t>
            </a:r>
          </a:p>
        </p:txBody>
      </p:sp>
      <p:sp>
        <p:nvSpPr>
          <p:cNvPr id="3" name="22">
            <a:extLst xmlns:a="http://schemas.openxmlformats.org/drawingml/2006/main">
              <a:ext uri="{FF2B5EF4-FFF2-40B4-BE49-F238E27FC236}">
                <a16:creationId xmlns:a16="http://schemas.microsoft.com/office/drawing/2014/main" id="{D0944E16-E537-4401-9937-438AC1B38850}"/>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22</a:t>
            </a:r>
          </a:p>
        </p:txBody>
      </p:sp>
      <p:sp>
        <p:nvSpPr>
          <p:cNvPr id="4" name="CareNow 1.2.1 · Exhibition prototype · September 2026">
            <a:extLst xmlns:a="http://schemas.openxmlformats.org/drawingml/2006/main">
              <a:ext uri="{FF2B5EF4-FFF2-40B4-BE49-F238E27FC236}">
                <a16:creationId xmlns:a16="http://schemas.microsoft.com/office/drawing/2014/main" id="{94442431-6425-40E4-A974-09BE86C3D335}"/>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sp>
        <p:nvSpPr>
          <p:cNvPr id="5" name="Discovery">
            <a:extLst xmlns:a="http://schemas.openxmlformats.org/drawingml/2006/main">
              <a:ext uri="{FF2B5EF4-FFF2-40B4-BE49-F238E27FC236}">
                <a16:creationId xmlns:a16="http://schemas.microsoft.com/office/drawing/2014/main" id="{B0B24402-9FCD-4631-B1AD-7C07EE453B59}"/>
              </a:ext>
            </a:extLst>
          </p:cNvPr>
          <p:cNvSpPr>
            <a:spLocks xmlns:a="http://schemas.openxmlformats.org/drawingml/2006/main" noGrp="1"/>
          </p:cNvSpPr>
          <p:nvPr/>
        </p:nvSpPr>
        <p:spPr>
          <a:xfrm xmlns:a="http://schemas.openxmlformats.org/drawingml/2006/main">
            <a:off x="609600" y="1895475"/>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1">
                <a:solidFill>
                  <a:srgbClr val="183F35"/>
                </a:solidFill>
                <a:latin typeface="Helvetica Neue"/>
                <a:ea typeface="Helvetica Neue"/>
                <a:cs typeface="Helvetica Neue"/>
              </a:defRPr>
            </a:pPr>
            <a:r>
              <a:rPr sz="2625" b="1">
                <a:solidFill>
                  <a:srgbClr val="183F35"/>
                </a:solidFill>
                <a:latin typeface="Helvetica Neue"/>
                <a:ea typeface="Helvetica Neue"/>
                <a:cs typeface="Helvetica Neue"/>
              </a:rPr>
              <a:t>Discovery</a:t>
            </a:r>
          </a:p>
        </p:txBody>
      </p:sp>
      <p:sp>
        <p:nvSpPr>
          <p:cNvPr id="6" name="24 household participants&#10;8 care professionals&#10;6 driver">
            <a:extLst xmlns:a="http://schemas.openxmlformats.org/drawingml/2006/main">
              <a:ext uri="{FF2B5EF4-FFF2-40B4-BE49-F238E27FC236}">
                <a16:creationId xmlns:a16="http://schemas.microsoft.com/office/drawing/2014/main" id="{741456B7-2EF9-4751-B626-B8F8B6F1FC45}"/>
              </a:ext>
            </a:extLst>
          </p:cNvPr>
          <p:cNvSpPr>
            <a:spLocks xmlns:a="http://schemas.openxmlformats.org/drawingml/2006/main" noGrp="1"/>
          </p:cNvSpPr>
          <p:nvPr/>
        </p:nvSpPr>
        <p:spPr>
          <a:xfrm xmlns:a="http://schemas.openxmlformats.org/drawingml/2006/main">
            <a:off x="609600" y="2695575"/>
            <a:ext cx="4857750" cy="2200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24 household participants</a:t>
            </a:r>
          </a:p>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8 care professionals</a:t>
            </a:r>
          </a:p>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6 drivers</a:t>
            </a:r>
          </a:p>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4 provider operators</a:t>
            </a:r>
          </a:p>
        </p:txBody>
      </p:sp>
      <p:sp>
        <p:nvSpPr>
          <p:cNvPr id="7" name="Operational evaluation">
            <a:extLst xmlns:a="http://schemas.openxmlformats.org/drawingml/2006/main">
              <a:ext uri="{FF2B5EF4-FFF2-40B4-BE49-F238E27FC236}">
                <a16:creationId xmlns:a16="http://schemas.microsoft.com/office/drawing/2014/main" id="{70FE1AB9-1195-4255-848D-F479AE1C5256}"/>
              </a:ext>
            </a:extLst>
          </p:cNvPr>
          <p:cNvSpPr>
            <a:spLocks xmlns:a="http://schemas.openxmlformats.org/drawingml/2006/main" noGrp="1"/>
          </p:cNvSpPr>
          <p:nvPr/>
        </p:nvSpPr>
        <p:spPr>
          <a:xfrm xmlns:a="http://schemas.openxmlformats.org/drawingml/2006/main">
            <a:off x="6505575" y="1895475"/>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1">
                <a:solidFill>
                  <a:srgbClr val="183F35"/>
                </a:solidFill>
                <a:latin typeface="Helvetica Neue"/>
                <a:ea typeface="Helvetica Neue"/>
                <a:cs typeface="Helvetica Neue"/>
              </a:defRPr>
            </a:pPr>
            <a:r>
              <a:rPr sz="2625" b="1">
                <a:solidFill>
                  <a:srgbClr val="183F35"/>
                </a:solidFill>
                <a:latin typeface="Helvetica Neue"/>
                <a:ea typeface="Helvetica Neue"/>
                <a:cs typeface="Helvetica Neue"/>
              </a:rPr>
              <a:t>Operational evaluation</a:t>
            </a:r>
          </a:p>
        </p:txBody>
      </p:sp>
      <p:sp>
        <p:nvSpPr>
          <p:cNvPr id="8" name="Up to 100 households&#10;A defined Dhaka service area&#10;Six w">
            <a:extLst xmlns:a="http://schemas.openxmlformats.org/drawingml/2006/main">
              <a:ext uri="{FF2B5EF4-FFF2-40B4-BE49-F238E27FC236}">
                <a16:creationId xmlns:a16="http://schemas.microsoft.com/office/drawing/2014/main" id="{B3DFE5A1-11F9-4525-BF3A-988DAD9E5831}"/>
              </a:ext>
            </a:extLst>
          </p:cNvPr>
          <p:cNvSpPr>
            <a:spLocks xmlns:a="http://schemas.openxmlformats.org/drawingml/2006/main" noGrp="1"/>
          </p:cNvSpPr>
          <p:nvPr/>
        </p:nvSpPr>
        <p:spPr>
          <a:xfrm xmlns:a="http://schemas.openxmlformats.org/drawingml/2006/main">
            <a:off x="6505575" y="2695575"/>
            <a:ext cx="4953000" cy="2200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Up to 100 households</a:t>
            </a:r>
          </a:p>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A defined Dhaka service area</a:t>
            </a:r>
          </a:p>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Six weeks after readiness gates</a:t>
            </a:r>
          </a:p>
          <a:p xmlns:a="http://schemas.openxmlformats.org/drawingml/2006/main">
            <a:pPr>
              <a:defRPr sz="2100" b="0">
                <a:solidFill>
                  <a:srgbClr val="183F35"/>
                </a:solidFill>
                <a:latin typeface="Helvetica Neue"/>
                <a:ea typeface="Helvetica Neue"/>
                <a:cs typeface="Helvetica Neue"/>
              </a:defRPr>
            </a:pPr>
            <a:r>
              <a:rPr sz="2100" b="0">
                <a:solidFill>
                  <a:srgbClr val="183F35"/>
                </a:solidFill>
                <a:latin typeface="Helvetica Neue"/>
                <a:ea typeface="Helvetica Neue"/>
                <a:cs typeface="Helvetica Neue"/>
              </a:rPr>
              <a:t>Baseline coordination comparison</a:t>
            </a:r>
          </a:p>
        </p:txBody>
      </p:sp>
      <p:sp>
        <p:nvSpPr>
          <p:cNvPr id="9" name="Observe task success, fulfilled jobs, support effort an">
            <a:extLst xmlns:a="http://schemas.openxmlformats.org/drawingml/2006/main">
              <a:ext uri="{FF2B5EF4-FFF2-40B4-BE49-F238E27FC236}">
                <a16:creationId xmlns:a16="http://schemas.microsoft.com/office/drawing/2014/main" id="{BCCC4D8D-FE36-4B1B-B864-AB7E930C098A}"/>
              </a:ext>
            </a:extLst>
          </p:cNvPr>
          <p:cNvSpPr>
            <a:spLocks xmlns:a="http://schemas.openxmlformats.org/drawingml/2006/main" noGrp="1"/>
          </p:cNvSpPr>
          <p:nvPr/>
        </p:nvSpPr>
        <p:spPr>
          <a:xfrm xmlns:a="http://schemas.openxmlformats.org/drawingml/2006/main">
            <a:off x="609600" y="55245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83F35"/>
                </a:solidFill>
                <a:latin typeface="Helvetica Neue"/>
                <a:ea typeface="Helvetica Neue"/>
                <a:cs typeface="Helvetica Neue"/>
              </a:defRPr>
            </a:pPr>
            <a:r>
              <a:rPr sz="2175" b="0">
                <a:solidFill>
                  <a:srgbClr val="183F35"/>
                </a:solidFill>
                <a:latin typeface="Helvetica Neue"/>
                <a:ea typeface="Helvetica Neue"/>
                <a:cs typeface="Helvetica Neue"/>
              </a:rPr>
              <a:t>Observe task success, fulfilled jobs, support effort and total cost.</a:t>
            </a:r>
          </a:p>
        </p:txBody>
      </p:sp>
    </p:spTree>
    <p:extLst>
      <p:ext uri="{BB962C8B-B14F-4D97-AF65-F5344CB8AC3E}">
        <p14:creationId xmlns:p14="http://schemas.microsoft.com/office/powerpoint/2010/main" val="1290651397"/>
      </p:ext>
    </p:extLst>
  </p:cSld>
</p:sld>
</file>

<file path=ppt/slides/slide2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PROPOSED TARGETS">
            <a:extLst xmlns:a="http://schemas.openxmlformats.org/drawingml/2006/main">
              <a:ext uri="{FF2B5EF4-FFF2-40B4-BE49-F238E27FC236}">
                <a16:creationId xmlns:a16="http://schemas.microsoft.com/office/drawing/2014/main" id="{F56E5960-8616-409A-84F7-E70A66EE8A02}"/>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PROPOSED TARGETS</a:t>
            </a:r>
          </a:p>
        </p:txBody>
      </p:sp>
      <p:sp>
        <p:nvSpPr>
          <p:cNvPr id="2" name="Pilot decision criteria">
            <a:extLst xmlns:a="http://schemas.openxmlformats.org/drawingml/2006/main">
              <a:ext uri="{FF2B5EF4-FFF2-40B4-BE49-F238E27FC236}">
                <a16:creationId xmlns:a16="http://schemas.microsoft.com/office/drawing/2014/main" id="{12DB0E4F-2BA9-48FA-97BB-D4E22403CA2C}"/>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Pilot decision criteria</a:t>
            </a:r>
          </a:p>
        </p:txBody>
      </p:sp>
      <p:sp>
        <p:nvSpPr>
          <p:cNvPr id="3" name="23">
            <a:extLst xmlns:a="http://schemas.openxmlformats.org/drawingml/2006/main">
              <a:ext uri="{FF2B5EF4-FFF2-40B4-BE49-F238E27FC236}">
                <a16:creationId xmlns:a16="http://schemas.microsoft.com/office/drawing/2014/main" id="{F8E01C73-D6C5-4A1F-B71B-36460F044E27}"/>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23</a:t>
            </a:r>
          </a:p>
        </p:txBody>
      </p:sp>
      <p:sp>
        <p:nvSpPr>
          <p:cNvPr id="4" name="CareNow 1.2.1 · Exhibition prototype · September 2026">
            <a:extLst xmlns:a="http://schemas.openxmlformats.org/drawingml/2006/main">
              <a:ext uri="{FF2B5EF4-FFF2-40B4-BE49-F238E27FC236}">
                <a16:creationId xmlns:a16="http://schemas.microsoft.com/office/drawing/2014/main" id="{6185A021-7F0A-48CE-90E9-A4B7B23AEFE9}"/>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graphicFrame>
        <p:nvGraphicFramePr>
          <p:cNvPr id="10" name=""/>
          <p:cNvGraphicFramePr/>
          <p:nvPr/>
        </p:nvGraphicFramePr>
        <p:xfrm>
          <a:off xmlns:a="http://schemas.openxmlformats.org/drawingml/2006/main" x="609600" y="1771650"/>
          <a:ext xmlns:a="http://schemas.openxmlformats.org/drawingml/2006/main" cx="10972800" cy="4010025"/>
        </p:xfrm>
        <a:graphic xmlns:a="http://schemas.openxmlformats.org/drawingml/2006/main">
          <a:graphicData uri="http://schemas.openxmlformats.org/drawingml/2006/table">
            <a:tbl>
              <a:tblPr/>
              <a:tblGrid>
                <a:gridCol w="4048125"/>
                <a:gridCol w="6924675"/>
              </a:tblGrid>
              <a:tr h="668338">
                <a:tc>
                  <a:txBody>
                    <a:bodyPr>
                      <a:noAutofit/>
                    </a:bodyPr>
                    <a:lstStyle/>
                    <a:p>
                      <a:r>
                        <a:rPr sz="1725" b="1">
                          <a:solidFill>
                            <a:srgbClr val="FFFFFF"/>
                          </a:solidFill>
                          <a:latin typeface="Helvetica Neue"/>
                          <a:ea typeface="Helvetica Neue"/>
                          <a:cs typeface="Helvetica Neue"/>
                        </a:rPr>
                        <a:t>Measure</a:t>
                      </a:r>
                    </a:p>
                  </a:txBody>
                  <a:tcPr marL="133350" marR="133350" marT="95250" marB="95250" anchor="ctr">
                    <a:solidFill>
                      <a:srgbClr val="1B5142"/>
                    </a:solidFill>
                  </a:tcPr>
                </a:tc>
                <a:tc>
                  <a:txBody>
                    <a:bodyPr>
                      <a:noAutofit/>
                    </a:bodyPr>
                    <a:lstStyle/>
                    <a:p>
                      <a:r>
                        <a:rPr sz="1725" b="1">
                          <a:solidFill>
                            <a:srgbClr val="FFFFFF"/>
                          </a:solidFill>
                          <a:latin typeface="Helvetica Neue"/>
                          <a:ea typeface="Helvetica Neue"/>
                          <a:cs typeface="Helvetica Neue"/>
                        </a:rPr>
                        <a:t>Proposed decision rule</a:t>
                      </a:r>
                    </a:p>
                  </a:txBody>
                  <a:tcPr marL="133350" marR="133350" marT="95250" marB="95250" anchor="ctr">
                    <a:solidFill>
                      <a:srgbClr val="1B5142"/>
                    </a:solidFill>
                  </a:tcPr>
                </a:tc>
              </a:tr>
              <a:tr h="668338">
                <a:tc>
                  <a:txBody>
                    <a:bodyPr>
                      <a:noAutofit/>
                    </a:bodyPr>
                    <a:lstStyle/>
                    <a:p>
                      <a:r>
                        <a:rPr sz="1725" b="0">
                          <a:solidFill>
                            <a:srgbClr val="183F35"/>
                          </a:solidFill>
                          <a:latin typeface="Helvetica Neue"/>
                          <a:ea typeface="Helvetica Neue"/>
                          <a:cs typeface="Helvetica Neue"/>
                        </a:rPr>
                        <a:t>Core task success</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At least 85% without coaching</a:t>
                      </a:r>
                    </a:p>
                  </a:txBody>
                  <a:tcPr marL="133350" marR="133350" marT="95250" marB="95250" anchor="ctr">
                    <a:solidFill>
                      <a:srgbClr val="FFFFFF"/>
                    </a:solidFill>
                  </a:tcPr>
                </a:tc>
              </a:tr>
              <a:tr h="668338">
                <a:tc>
                  <a:txBody>
                    <a:bodyPr>
                      <a:noAutofit/>
                    </a:bodyPr>
                    <a:lstStyle/>
                    <a:p>
                      <a:r>
                        <a:rPr sz="1725" b="0">
                          <a:solidFill>
                            <a:srgbClr val="183F35"/>
                          </a:solidFill>
                          <a:latin typeface="Helvetica Neue"/>
                          <a:ea typeface="Helvetica Neue"/>
                          <a:cs typeface="Helvetica Neue"/>
                        </a:rPr>
                        <a:t>Accepted job fulfilment</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At least 90% within defined scope</a:t>
                      </a:r>
                    </a:p>
                  </a:txBody>
                  <a:tcPr marL="133350" marR="133350" marT="95250" marB="95250" anchor="ctr">
                    <a:solidFill>
                      <a:srgbClr val="EDF2ED"/>
                    </a:solidFill>
                  </a:tcPr>
                </a:tc>
              </a:tr>
              <a:tr h="668338">
                <a:tc>
                  <a:txBody>
                    <a:bodyPr>
                      <a:noAutofit/>
                    </a:bodyPr>
                    <a:lstStyle/>
                    <a:p>
                      <a:r>
                        <a:rPr sz="1725" b="0">
                          <a:solidFill>
                            <a:srgbClr val="183F35"/>
                          </a:solidFill>
                          <a:latin typeface="Helvetica Neue"/>
                          <a:ea typeface="Helvetica Neue"/>
                          <a:cs typeface="Helvetica Neue"/>
                        </a:rPr>
                        <a:t>Coordination burden</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Lower than documented baseline</a:t>
                      </a:r>
                    </a:p>
                  </a:txBody>
                  <a:tcPr marL="133350" marR="133350" marT="95250" marB="95250" anchor="ctr">
                    <a:solidFill>
                      <a:srgbClr val="FFFFFF"/>
                    </a:solidFill>
                  </a:tcPr>
                </a:tc>
              </a:tr>
              <a:tr h="668338">
                <a:tc>
                  <a:txBody>
                    <a:bodyPr>
                      <a:noAutofit/>
                    </a:bodyPr>
                    <a:lstStyle/>
                    <a:p>
                      <a:r>
                        <a:rPr sz="1725" b="0">
                          <a:solidFill>
                            <a:srgbClr val="183F35"/>
                          </a:solidFill>
                          <a:latin typeface="Helvetica Neue"/>
                          <a:ea typeface="Helvetica Neue"/>
                          <a:cs typeface="Helvetica Neue"/>
                        </a:rPr>
                        <a:t>Support cost</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Fits measured contribution margin</a:t>
                      </a:r>
                    </a:p>
                  </a:txBody>
                  <a:tcPr marL="133350" marR="133350" marT="95250" marB="95250" anchor="ctr">
                    <a:solidFill>
                      <a:srgbClr val="EDF2ED"/>
                    </a:solidFill>
                  </a:tcPr>
                </a:tc>
              </a:tr>
              <a:tr h="668338">
                <a:tc>
                  <a:txBody>
                    <a:bodyPr>
                      <a:noAutofit/>
                    </a:bodyPr>
                    <a:lstStyle/>
                    <a:p>
                      <a:r>
                        <a:rPr sz="1725" b="0">
                          <a:solidFill>
                            <a:srgbClr val="183F35"/>
                          </a:solidFill>
                          <a:latin typeface="Helvetica Neue"/>
                          <a:ea typeface="Helvetica Neue"/>
                          <a:cs typeface="Helvetica Neue"/>
                        </a:rPr>
                        <a:t>Safety and privacy</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Investigate every material event</a:t>
                      </a:r>
                    </a:p>
                  </a:txBody>
                  <a:tcPr marL="133350" marR="133350" marT="95250" marB="95250" anchor="ctr">
                    <a:solidFill>
                      <a:srgbClr val="FFFFFF"/>
                    </a:solidFill>
                  </a:tcPr>
                </a:tc>
              </a:tr>
            </a:tbl>
          </a:graphicData>
        </a:graphic>
      </p:graphicFrame>
    </p:spTree>
    <p:extLst>
      <p:ext uri="{BB962C8B-B14F-4D97-AF65-F5344CB8AC3E}">
        <p14:creationId xmlns:p14="http://schemas.microsoft.com/office/powerpoint/2010/main" val="963100379"/>
      </p:ext>
    </p:extLst>
  </p:cSld>
</p:sld>
</file>

<file path=ppt/slides/slide2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0" name="ENGINEERING">
            <a:extLst xmlns:a="http://schemas.openxmlformats.org/drawingml/2006/main">
              <a:ext uri="{FF2B5EF4-FFF2-40B4-BE49-F238E27FC236}">
                <a16:creationId xmlns:a16="http://schemas.microsoft.com/office/drawing/2014/main" id="{91831F0D-C5DF-4240-A75D-AE03FE3B7E73}"/>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ENGINEERING</a:t>
            </a:r>
          </a:p>
        </p:txBody>
      </p:sp>
      <p:sp>
        <p:nvSpPr>
          <p:cNvPr id="2" name="Motion and performance evidence">
            <a:extLst xmlns:a="http://schemas.openxmlformats.org/drawingml/2006/main">
              <a:ext uri="{FF2B5EF4-FFF2-40B4-BE49-F238E27FC236}">
                <a16:creationId xmlns:a16="http://schemas.microsoft.com/office/drawing/2014/main" id="{E3F3F956-0A9B-4F82-8D8F-C1BB7E25D847}"/>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Motion and performance evidence</a:t>
            </a:r>
          </a:p>
        </p:txBody>
      </p:sp>
      <p:sp>
        <p:nvSpPr>
          <p:cNvPr id="3" name="24">
            <a:extLst xmlns:a="http://schemas.openxmlformats.org/drawingml/2006/main">
              <a:ext uri="{FF2B5EF4-FFF2-40B4-BE49-F238E27FC236}">
                <a16:creationId xmlns:a16="http://schemas.microsoft.com/office/drawing/2014/main" id="{E652C4F3-FD32-4147-9072-46186F10CAB9}"/>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24</a:t>
            </a:r>
          </a:p>
        </p:txBody>
      </p:sp>
      <p:sp>
        <p:nvSpPr>
          <p:cNvPr id="4" name="CareNow 1.2.1 · Exhibition prototype · September 2026">
            <a:extLst xmlns:a="http://schemas.openxmlformats.org/drawingml/2006/main">
              <a:ext uri="{FF2B5EF4-FFF2-40B4-BE49-F238E27FC236}">
                <a16:creationId xmlns:a16="http://schemas.microsoft.com/office/drawing/2014/main" id="{F989F472-5215-41E3-9FE0-9E3215A29093}"/>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sp>
        <p:nvSpPr>
          <p:cNvPr id="5" name="About 59 fps">
            <a:extLst xmlns:a="http://schemas.openxmlformats.org/drawingml/2006/main">
              <a:ext uri="{FF2B5EF4-FFF2-40B4-BE49-F238E27FC236}">
                <a16:creationId xmlns:a16="http://schemas.microsoft.com/office/drawing/2014/main" id="{0C92619F-CFC3-4FF9-AB36-4D17D6A9F215}"/>
              </a:ext>
            </a:extLst>
          </p:cNvPr>
          <p:cNvSpPr>
            <a:spLocks xmlns:a="http://schemas.openxmlformats.org/drawingml/2006/main" noGrp="1"/>
          </p:cNvSpPr>
          <p:nvPr/>
        </p:nvSpPr>
        <p:spPr>
          <a:xfrm xmlns:a="http://schemas.openxmlformats.org/drawingml/2006/main">
            <a:off x="609600" y="1819275"/>
            <a:ext cx="6191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650" b="1">
                <a:solidFill>
                  <a:srgbClr val="183F35"/>
                </a:solidFill>
                <a:latin typeface="Helvetica Neue"/>
                <a:ea typeface="Helvetica Neue"/>
                <a:cs typeface="Helvetica Neue"/>
              </a:defRPr>
            </a:pPr>
            <a:r>
              <a:rPr sz="4650" b="1">
                <a:solidFill>
                  <a:srgbClr val="183F35"/>
                </a:solidFill>
                <a:latin typeface="Helvetica Neue"/>
                <a:ea typeface="Helvetica Neue"/>
                <a:cs typeface="Helvetica Neue"/>
              </a:rPr>
              <a:t>About 59 fps</a:t>
            </a:r>
          </a:p>
        </p:txBody>
      </p:sp>
      <p:sp>
        <p:nvSpPr>
          <p:cNvPr id="6" name="Observed route cadence in one emulator sample">
            <a:extLst xmlns:a="http://schemas.openxmlformats.org/drawingml/2006/main">
              <a:ext uri="{FF2B5EF4-FFF2-40B4-BE49-F238E27FC236}">
                <a16:creationId xmlns:a16="http://schemas.microsoft.com/office/drawing/2014/main" id="{0BC43BDA-AFDD-4285-AF07-26F7DCD751B4}"/>
              </a:ext>
            </a:extLst>
          </p:cNvPr>
          <p:cNvSpPr>
            <a:spLocks xmlns:a="http://schemas.openxmlformats.org/drawingml/2006/main" noGrp="1"/>
          </p:cNvSpPr>
          <p:nvPr/>
        </p:nvSpPr>
        <p:spPr>
          <a:xfrm xmlns:a="http://schemas.openxmlformats.org/drawingml/2006/main">
            <a:off x="609600" y="2905125"/>
            <a:ext cx="700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3F35"/>
                </a:solidFill>
                <a:latin typeface="Helvetica Neue"/>
                <a:ea typeface="Helvetica Neue"/>
                <a:cs typeface="Helvetica Neue"/>
              </a:defRPr>
            </a:pPr>
            <a:r>
              <a:rPr sz="2325" b="0">
                <a:solidFill>
                  <a:srgbClr val="183F35"/>
                </a:solidFill>
                <a:latin typeface="Helvetica Neue"/>
                <a:ea typeface="Helvetica Neue"/>
                <a:cs typeface="Helvetica Neue"/>
              </a:rPr>
              <a:t>Observed route cadence in one emulator sample</a:t>
            </a:r>
          </a:p>
        </p:txBody>
      </p:sp>
      <p:sp>
        <p:nvSpPr>
          <p:cNvPr id="7" name="This does not establish sustained 60 fps across the app">
            <a:extLst xmlns:a="http://schemas.openxmlformats.org/drawingml/2006/main">
              <a:ext uri="{FF2B5EF4-FFF2-40B4-BE49-F238E27FC236}">
                <a16:creationId xmlns:a16="http://schemas.microsoft.com/office/drawing/2014/main" id="{029784D4-C6F0-41EB-89C9-F5B6FFD598A8}"/>
              </a:ext>
            </a:extLst>
          </p:cNvPr>
          <p:cNvSpPr>
            <a:spLocks xmlns:a="http://schemas.openxmlformats.org/drawingml/2006/main" noGrp="1"/>
          </p:cNvSpPr>
          <p:nvPr/>
        </p:nvSpPr>
        <p:spPr>
          <a:xfrm xmlns:a="http://schemas.openxmlformats.org/drawingml/2006/main">
            <a:off x="609600" y="4095750"/>
            <a:ext cx="685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83F35"/>
                </a:solidFill>
                <a:latin typeface="Helvetica Neue"/>
                <a:ea typeface="Helvetica Neue"/>
                <a:cs typeface="Helvetica Neue"/>
              </a:defRPr>
            </a:pPr>
            <a:r>
              <a:rPr sz="2325" b="1">
                <a:solidFill>
                  <a:srgbClr val="183F35"/>
                </a:solidFill>
                <a:latin typeface="Helvetica Neue"/>
                <a:ea typeface="Helvetica Neue"/>
                <a:cs typeface="Helvetica Neue"/>
              </a:rPr>
              <a:t>This does not establish sustained 60 fps across the app.</a:t>
            </a:r>
          </a:p>
        </p:txBody>
      </p:sp>
      <p:sp>
        <p:nvSpPr>
          <p:cNvPr id="8" name="Next acceptance work&#10;&#10;Controlled physical-device traces">
            <a:extLst xmlns:a="http://schemas.openxmlformats.org/drawingml/2006/main">
              <a:ext uri="{FF2B5EF4-FFF2-40B4-BE49-F238E27FC236}">
                <a16:creationId xmlns:a16="http://schemas.microsoft.com/office/drawing/2014/main" id="{4E5B4185-4130-4F50-BF94-7899D1533E23}"/>
              </a:ext>
            </a:extLst>
          </p:cNvPr>
          <p:cNvSpPr>
            <a:spLocks xmlns:a="http://schemas.openxmlformats.org/drawingml/2006/main" noGrp="1"/>
          </p:cNvSpPr>
          <p:nvPr/>
        </p:nvSpPr>
        <p:spPr>
          <a:xfrm xmlns:a="http://schemas.openxmlformats.org/drawingml/2006/main">
            <a:off x="8172450" y="1885950"/>
            <a:ext cx="3400425"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83F35"/>
                </a:solidFill>
                <a:latin typeface="Helvetica Neue"/>
                <a:ea typeface="Helvetica Neue"/>
                <a:cs typeface="Helvetica Neue"/>
              </a:defRPr>
            </a:pPr>
            <a:r>
              <a:rPr sz="1875" b="0">
                <a:solidFill>
                  <a:srgbClr val="183F35"/>
                </a:solidFill>
                <a:latin typeface="Helvetica Neue"/>
                <a:ea typeface="Helvetica Neue"/>
                <a:cs typeface="Helvetica Neue"/>
              </a:rPr>
              <a:t>Next acceptance work</a:t>
            </a:r>
          </a:p>
          <a:p xmlns:a="http://schemas.openxmlformats.org/drawingml/2006/main">
            <a:r>
              <a:t/>
            </a:r>
          </a:p>
          <a:p xmlns:a="http://schemas.openxmlformats.org/drawingml/2006/main">
            <a:pPr>
              <a:defRPr sz="1875" b="0">
                <a:solidFill>
                  <a:srgbClr val="183F35"/>
                </a:solidFill>
                <a:latin typeface="Helvetica Neue"/>
                <a:ea typeface="Helvetica Neue"/>
                <a:cs typeface="Helvetica Neue"/>
              </a:defRPr>
            </a:pPr>
            <a:r>
              <a:rPr sz="1875" b="0">
                <a:solidFill>
                  <a:srgbClr val="183F35"/>
                </a:solidFill>
                <a:latin typeface="Helvetica Neue"/>
                <a:ea typeface="Helvetica Neue"/>
                <a:cs typeface="Helvetica Neue"/>
              </a:rPr>
              <a:t>Controlled physical-device traces</a:t>
            </a:r>
          </a:p>
          <a:p xmlns:a="http://schemas.openxmlformats.org/drawingml/2006/main">
            <a:pPr>
              <a:defRPr sz="1875" b="0">
                <a:solidFill>
                  <a:srgbClr val="183F35"/>
                </a:solidFill>
                <a:latin typeface="Helvetica Neue"/>
                <a:ea typeface="Helvetica Neue"/>
                <a:cs typeface="Helvetica Neue"/>
              </a:defRPr>
            </a:pPr>
            <a:r>
              <a:rPr sz="1875" b="0">
                <a:solidFill>
                  <a:srgbClr val="183F35"/>
                </a:solidFill>
                <a:latin typeface="Helvetica Neue"/>
                <a:ea typeface="Helvetica Neue"/>
                <a:cs typeface="Helvetica Neue"/>
              </a:rPr>
              <a:t>Keyboard and sheet interaction</a:t>
            </a:r>
          </a:p>
          <a:p xmlns:a="http://schemas.openxmlformats.org/drawingml/2006/main">
            <a:pPr>
              <a:defRPr sz="1875" b="0">
                <a:solidFill>
                  <a:srgbClr val="183F35"/>
                </a:solidFill>
                <a:latin typeface="Helvetica Neue"/>
                <a:ea typeface="Helvetica Neue"/>
                <a:cs typeface="Helvetica Neue"/>
              </a:defRPr>
            </a:pPr>
            <a:r>
              <a:rPr sz="1875" b="0">
                <a:solidFill>
                  <a:srgbClr val="183F35"/>
                </a:solidFill>
                <a:latin typeface="Helvetica Neue"/>
                <a:ea typeface="Helvetica Neue"/>
                <a:cs typeface="Helvetica Neue"/>
              </a:rPr>
              <a:t>Startup, memory and battery</a:t>
            </a:r>
          </a:p>
          <a:p xmlns:a="http://schemas.openxmlformats.org/drawingml/2006/main">
            <a:pPr>
              <a:defRPr sz="1875" b="0">
                <a:solidFill>
                  <a:srgbClr val="183F35"/>
                </a:solidFill>
                <a:latin typeface="Helvetica Neue"/>
                <a:ea typeface="Helvetica Neue"/>
                <a:cs typeface="Helvetica Neue"/>
              </a:defRPr>
            </a:pPr>
            <a:r>
              <a:rPr sz="1875" b="0">
                <a:solidFill>
                  <a:srgbClr val="183F35"/>
                </a:solidFill>
                <a:latin typeface="Helvetica Neue"/>
                <a:ea typeface="Helvetica Neue"/>
                <a:cs typeface="Helvetica Neue"/>
              </a:rPr>
              <a:t>Full accessibility review</a:t>
            </a:r>
          </a:p>
        </p:txBody>
      </p:sp>
      <p:sp>
        <p:nvSpPr>
          <p:cNvPr id="9" name="Reduced motion, background pause and responsive layout ">
            <a:extLst xmlns:a="http://schemas.openxmlformats.org/drawingml/2006/main">
              <a:ext uri="{FF2B5EF4-FFF2-40B4-BE49-F238E27FC236}">
                <a16:creationId xmlns:a16="http://schemas.microsoft.com/office/drawing/2014/main" id="{F53EA585-51D9-43AC-BF49-0FC31F010035}"/>
              </a:ext>
            </a:extLst>
          </p:cNvPr>
          <p:cNvSpPr>
            <a:spLocks xmlns:a="http://schemas.openxmlformats.org/drawingml/2006/main" noGrp="1"/>
          </p:cNvSpPr>
          <p:nvPr/>
        </p:nvSpPr>
        <p:spPr>
          <a:xfrm xmlns:a="http://schemas.openxmlformats.org/drawingml/2006/main">
            <a:off x="609600" y="56864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61726B"/>
                </a:solidFill>
                <a:latin typeface="Helvetica Neue"/>
                <a:ea typeface="Helvetica Neue"/>
                <a:cs typeface="Helvetica Neue"/>
              </a:defRPr>
            </a:pPr>
            <a:r>
              <a:rPr sz="1875" b="0">
                <a:solidFill>
                  <a:srgbClr val="61726B"/>
                </a:solidFill>
                <a:latin typeface="Helvetica Neue"/>
                <a:ea typeface="Helvetica Neue"/>
                <a:cs typeface="Helvetica Neue"/>
              </a:rPr>
              <a:t>Reduced motion, background pause and responsive layout are implemented.</a:t>
            </a:r>
          </a:p>
        </p:txBody>
      </p:sp>
    </p:spTree>
    <p:extLst>
      <p:ext uri="{BB962C8B-B14F-4D97-AF65-F5344CB8AC3E}">
        <p14:creationId xmlns:p14="http://schemas.microsoft.com/office/powerpoint/2010/main" val="106552551"/>
      </p:ext>
    </p:extLst>
  </p:cSld>
</p:sld>
</file>

<file path=ppt/slides/slide2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PILOT GOVERNANCE">
            <a:extLst xmlns:a="http://schemas.openxmlformats.org/drawingml/2006/main">
              <a:ext uri="{FF2B5EF4-FFF2-40B4-BE49-F238E27FC236}">
                <a16:creationId xmlns:a16="http://schemas.microsoft.com/office/drawing/2014/main" id="{B46194F5-BBD8-4F90-8001-CFB62966D2CD}"/>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PILOT GOVERNANCE</a:t>
            </a:r>
          </a:p>
        </p:txBody>
      </p:sp>
      <p:sp>
        <p:nvSpPr>
          <p:cNvPr id="2" name="Material risks and accountable owners">
            <a:extLst xmlns:a="http://schemas.openxmlformats.org/drawingml/2006/main">
              <a:ext uri="{FF2B5EF4-FFF2-40B4-BE49-F238E27FC236}">
                <a16:creationId xmlns:a16="http://schemas.microsoft.com/office/drawing/2014/main" id="{82172654-C358-43A4-8DCC-D45DD1608A2E}"/>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Material risks and accountable owners</a:t>
            </a:r>
          </a:p>
        </p:txBody>
      </p:sp>
      <p:sp>
        <p:nvSpPr>
          <p:cNvPr id="3" name="25">
            <a:extLst xmlns:a="http://schemas.openxmlformats.org/drawingml/2006/main">
              <a:ext uri="{FF2B5EF4-FFF2-40B4-BE49-F238E27FC236}">
                <a16:creationId xmlns:a16="http://schemas.microsoft.com/office/drawing/2014/main" id="{39F61C9D-5C6D-427E-B0C3-826163B57BCB}"/>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25</a:t>
            </a:r>
          </a:p>
        </p:txBody>
      </p:sp>
      <p:sp>
        <p:nvSpPr>
          <p:cNvPr id="4" name="CareNow 1.2.1 · Exhibition prototype · September 2026">
            <a:extLst xmlns:a="http://schemas.openxmlformats.org/drawingml/2006/main">
              <a:ext uri="{FF2B5EF4-FFF2-40B4-BE49-F238E27FC236}">
                <a16:creationId xmlns:a16="http://schemas.microsoft.com/office/drawing/2014/main" id="{EEF67BEA-C2F7-4BD9-A383-977ABF31837C}"/>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graphicFrame>
        <p:nvGraphicFramePr>
          <p:cNvPr id="10" name=""/>
          <p:cNvGraphicFramePr/>
          <p:nvPr/>
        </p:nvGraphicFramePr>
        <p:xfrm>
          <a:off xmlns:a="http://schemas.openxmlformats.org/drawingml/2006/main" x="609600" y="1771650"/>
          <a:ext xmlns:a="http://schemas.openxmlformats.org/drawingml/2006/main" cx="10972800" cy="4000500"/>
        </p:xfrm>
        <a:graphic xmlns:a="http://schemas.openxmlformats.org/drawingml/2006/main">
          <a:graphicData uri="http://schemas.openxmlformats.org/drawingml/2006/table">
            <a:tbl>
              <a:tblPr/>
              <a:tblGrid>
                <a:gridCol w="2762250"/>
                <a:gridCol w="5810250"/>
                <a:gridCol w="2400300"/>
              </a:tblGrid>
              <a:tr h="666750">
                <a:tc>
                  <a:txBody>
                    <a:bodyPr>
                      <a:noAutofit/>
                    </a:bodyPr>
                    <a:lstStyle/>
                    <a:p>
                      <a:r>
                        <a:rPr sz="1725" b="1">
                          <a:solidFill>
                            <a:srgbClr val="FFFFFF"/>
                          </a:solidFill>
                          <a:latin typeface="Helvetica Neue"/>
                          <a:ea typeface="Helvetica Neue"/>
                          <a:cs typeface="Helvetica Neue"/>
                        </a:rPr>
                        <a:t>Risk</a:t>
                      </a:r>
                    </a:p>
                  </a:txBody>
                  <a:tcPr marL="133350" marR="133350" marT="95250" marB="95250" anchor="ctr">
                    <a:solidFill>
                      <a:srgbClr val="1B5142"/>
                    </a:solidFill>
                  </a:tcPr>
                </a:tc>
                <a:tc>
                  <a:txBody>
                    <a:bodyPr>
                      <a:noAutofit/>
                    </a:bodyPr>
                    <a:lstStyle/>
                    <a:p>
                      <a:r>
                        <a:rPr sz="1725" b="1">
                          <a:solidFill>
                            <a:srgbClr val="FFFFFF"/>
                          </a:solidFill>
                          <a:latin typeface="Helvetica Neue"/>
                          <a:ea typeface="Helvetica Neue"/>
                          <a:cs typeface="Helvetica Neue"/>
                        </a:rPr>
                        <a:t>Required response</a:t>
                      </a:r>
                    </a:p>
                  </a:txBody>
                  <a:tcPr marL="133350" marR="133350" marT="95250" marB="95250" anchor="ctr">
                    <a:solidFill>
                      <a:srgbClr val="1B5142"/>
                    </a:solidFill>
                  </a:tcPr>
                </a:tc>
                <a:tc>
                  <a:txBody>
                    <a:bodyPr>
                      <a:noAutofit/>
                    </a:bodyPr>
                    <a:lstStyle/>
                    <a:p>
                      <a:r>
                        <a:rPr sz="1725" b="1">
                          <a:solidFill>
                            <a:srgbClr val="FFFFFF"/>
                          </a:solidFill>
                          <a:latin typeface="Helvetica Neue"/>
                          <a:ea typeface="Helvetica Neue"/>
                          <a:cs typeface="Helvetica Neue"/>
                        </a:rPr>
                        <a:t>Owner</a:t>
                      </a:r>
                    </a:p>
                  </a:txBody>
                  <a:tcPr marL="133350" marR="133350" marT="95250" marB="95250" anchor="ctr">
                    <a:solidFill>
                      <a:srgbClr val="1B5142"/>
                    </a:solidFill>
                  </a:tcPr>
                </a:tc>
              </a:tr>
              <a:tr h="666750">
                <a:tc>
                  <a:txBody>
                    <a:bodyPr>
                      <a:noAutofit/>
                    </a:bodyPr>
                    <a:lstStyle/>
                    <a:p>
                      <a:r>
                        <a:rPr sz="1725" b="0">
                          <a:solidFill>
                            <a:srgbClr val="183F35"/>
                          </a:solidFill>
                          <a:latin typeface="Helvetica Neue"/>
                          <a:ea typeface="Helvetica Neue"/>
                          <a:cs typeface="Helvetica Neue"/>
                        </a:rPr>
                        <a:t>Unfilled service</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Limit scope and confirm capacity</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Operations</a:t>
                      </a:r>
                    </a:p>
                  </a:txBody>
                  <a:tcPr marL="133350" marR="133350" marT="95250" marB="95250" anchor="ctr">
                    <a:solidFill>
                      <a:srgbClr val="FFFFFF"/>
                    </a:solidFill>
                  </a:tcPr>
                </a:tc>
              </a:tr>
              <a:tr h="666750">
                <a:tc>
                  <a:txBody>
                    <a:bodyPr>
                      <a:noAutofit/>
                    </a:bodyPr>
                    <a:lstStyle/>
                    <a:p>
                      <a:r>
                        <a:rPr sz="1725" b="0">
                          <a:solidFill>
                            <a:srgbClr val="183F35"/>
                          </a:solidFill>
                          <a:latin typeface="Helvetica Neue"/>
                          <a:ea typeface="Helvetica Neue"/>
                          <a:cs typeface="Helvetica Neue"/>
                        </a:rPr>
                        <a:t>Unqualified task</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Credentials and defined scope</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Clinical</a:t>
                      </a:r>
                    </a:p>
                  </a:txBody>
                  <a:tcPr marL="133350" marR="133350" marT="95250" marB="95250" anchor="ctr">
                    <a:solidFill>
                      <a:srgbClr val="EDF2ED"/>
                    </a:solidFill>
                  </a:tcPr>
                </a:tc>
              </a:tr>
              <a:tr h="666750">
                <a:tc>
                  <a:txBody>
                    <a:bodyPr>
                      <a:noAutofit/>
                    </a:bodyPr>
                    <a:lstStyle/>
                    <a:p>
                      <a:r>
                        <a:rPr sz="1725" b="0">
                          <a:solidFill>
                            <a:srgbClr val="183F35"/>
                          </a:solidFill>
                          <a:latin typeface="Helvetica Neue"/>
                          <a:ea typeface="Helvetica Neue"/>
                          <a:cs typeface="Helvetica Neue"/>
                        </a:rPr>
                        <a:t>Data exposure</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Consent, permissions and audit</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Security</a:t>
                      </a:r>
                    </a:p>
                  </a:txBody>
                  <a:tcPr marL="133350" marR="133350" marT="95250" marB="95250" anchor="ctr">
                    <a:solidFill>
                      <a:srgbClr val="FFFFFF"/>
                    </a:solidFill>
                  </a:tcPr>
                </a:tc>
              </a:tr>
              <a:tr h="666750">
                <a:tc>
                  <a:txBody>
                    <a:bodyPr>
                      <a:noAutofit/>
                    </a:bodyPr>
                    <a:lstStyle/>
                    <a:p>
                      <a:r>
                        <a:rPr sz="1725" b="0">
                          <a:solidFill>
                            <a:srgbClr val="183F35"/>
                          </a:solidFill>
                          <a:latin typeface="Helvetica Neue"/>
                          <a:ea typeface="Helvetica Neue"/>
                          <a:cs typeface="Helvetica Neue"/>
                        </a:rPr>
                        <a:t>Poor economics</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Cohorts and contribution after support</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Commercial</a:t>
                      </a:r>
                    </a:p>
                  </a:txBody>
                  <a:tcPr marL="133350" marR="133350" marT="95250" marB="95250" anchor="ctr">
                    <a:solidFill>
                      <a:srgbClr val="EDF2ED"/>
                    </a:solidFill>
                  </a:tcPr>
                </a:tc>
              </a:tr>
              <a:tr h="666750">
                <a:tc>
                  <a:txBody>
                    <a:bodyPr>
                      <a:noAutofit/>
                    </a:bodyPr>
                    <a:lstStyle/>
                    <a:p>
                      <a:r>
                        <a:rPr sz="1725" b="0">
                          <a:solidFill>
                            <a:srgbClr val="183F35"/>
                          </a:solidFill>
                          <a:latin typeface="Helvetica Neue"/>
                          <a:ea typeface="Helvetica Neue"/>
                          <a:cs typeface="Helvetica Neue"/>
                        </a:rPr>
                        <a:t>Research bias</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Protocol and negative findings</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Research</a:t>
                      </a:r>
                    </a:p>
                  </a:txBody>
                  <a:tcPr marL="133350" marR="133350" marT="95250" marB="95250" anchor="ctr">
                    <a:solidFill>
                      <a:srgbClr val="FFFFFF"/>
                    </a:solidFill>
                  </a:tcPr>
                </a:tc>
              </a:tr>
            </a:tbl>
          </a:graphicData>
        </a:graphic>
      </p:graphicFrame>
    </p:spTree>
    <p:extLst>
      <p:ext uri="{BB962C8B-B14F-4D97-AF65-F5344CB8AC3E}">
        <p14:creationId xmlns:p14="http://schemas.microsoft.com/office/powerpoint/2010/main" val="1931845783"/>
      </p:ext>
    </p:extLst>
  </p:cSld>
</p:sld>
</file>

<file path=ppt/slides/slide2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DELIVERY PLAN">
            <a:extLst xmlns:a="http://schemas.openxmlformats.org/drawingml/2006/main">
              <a:ext uri="{FF2B5EF4-FFF2-40B4-BE49-F238E27FC236}">
                <a16:creationId xmlns:a16="http://schemas.microsoft.com/office/drawing/2014/main" id="{0F097CF5-CB1A-4A3D-966A-A6555D07F1A2}"/>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DELIVERY PLAN</a:t>
            </a:r>
          </a:p>
        </p:txBody>
      </p:sp>
      <p:sp>
        <p:nvSpPr>
          <p:cNvPr id="2" name="Roadmap with evidence gates">
            <a:extLst xmlns:a="http://schemas.openxmlformats.org/drawingml/2006/main">
              <a:ext uri="{FF2B5EF4-FFF2-40B4-BE49-F238E27FC236}">
                <a16:creationId xmlns:a16="http://schemas.microsoft.com/office/drawing/2014/main" id="{0E9F8908-F329-4DF9-9EAD-5DCF717D572A}"/>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Roadmap with evidence gates</a:t>
            </a:r>
          </a:p>
        </p:txBody>
      </p:sp>
      <p:sp>
        <p:nvSpPr>
          <p:cNvPr id="3" name="26">
            <a:extLst xmlns:a="http://schemas.openxmlformats.org/drawingml/2006/main">
              <a:ext uri="{FF2B5EF4-FFF2-40B4-BE49-F238E27FC236}">
                <a16:creationId xmlns:a16="http://schemas.microsoft.com/office/drawing/2014/main" id="{EF16C097-3ED6-4F05-9167-38C5B83C1F94}"/>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26</a:t>
            </a:r>
          </a:p>
        </p:txBody>
      </p:sp>
      <p:sp>
        <p:nvSpPr>
          <p:cNvPr id="4" name="CareNow 1.2.1 · Exhibition prototype · September 2026">
            <a:extLst xmlns:a="http://schemas.openxmlformats.org/drawingml/2006/main">
              <a:ext uri="{FF2B5EF4-FFF2-40B4-BE49-F238E27FC236}">
                <a16:creationId xmlns:a16="http://schemas.microsoft.com/office/drawing/2014/main" id="{060FB6E1-BCC6-458D-B8D9-18A979DAE6EE}"/>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graphicFrame>
        <p:nvGraphicFramePr>
          <p:cNvPr id="10" name=""/>
          <p:cNvGraphicFramePr/>
          <p:nvPr/>
        </p:nvGraphicFramePr>
        <p:xfrm>
          <a:off xmlns:a="http://schemas.openxmlformats.org/drawingml/2006/main" x="609600" y="1733550"/>
          <a:ext xmlns:a="http://schemas.openxmlformats.org/drawingml/2006/main" cx="10972800" cy="4229100"/>
        </p:xfrm>
        <a:graphic xmlns:a="http://schemas.openxmlformats.org/drawingml/2006/main">
          <a:graphicData uri="http://schemas.openxmlformats.org/drawingml/2006/table">
            <a:tbl>
              <a:tblPr/>
              <a:tblGrid>
                <a:gridCol w="3810000"/>
                <a:gridCol w="7162800"/>
              </a:tblGrid>
              <a:tr h="604157">
                <a:tc>
                  <a:txBody>
                    <a:bodyPr>
                      <a:noAutofit/>
                    </a:bodyPr>
                    <a:lstStyle/>
                    <a:p>
                      <a:r>
                        <a:rPr sz="1725" b="1">
                          <a:solidFill>
                            <a:srgbClr val="FFFFFF"/>
                          </a:solidFill>
                          <a:latin typeface="Helvetica Neue"/>
                          <a:ea typeface="Helvetica Neue"/>
                          <a:cs typeface="Helvetica Neue"/>
                        </a:rPr>
                        <a:t>Stage</a:t>
                      </a:r>
                    </a:p>
                  </a:txBody>
                  <a:tcPr marL="133350" marR="133350" marT="95250" marB="95250" anchor="ctr">
                    <a:solidFill>
                      <a:srgbClr val="1B5142"/>
                    </a:solidFill>
                  </a:tcPr>
                </a:tc>
                <a:tc>
                  <a:txBody>
                    <a:bodyPr>
                      <a:noAutofit/>
                    </a:bodyPr>
                    <a:lstStyle/>
                    <a:p>
                      <a:r>
                        <a:rPr sz="1725" b="1">
                          <a:solidFill>
                            <a:srgbClr val="FFFFFF"/>
                          </a:solidFill>
                          <a:latin typeface="Helvetica Neue"/>
                          <a:ea typeface="Helvetica Neue"/>
                          <a:cs typeface="Helvetica Neue"/>
                        </a:rPr>
                        <a:t>Evidence needed to proceed</a:t>
                      </a:r>
                    </a:p>
                  </a:txBody>
                  <a:tcPr marL="133350" marR="133350" marT="95250" marB="95250" anchor="ctr">
                    <a:solidFill>
                      <a:srgbClr val="1B5142"/>
                    </a:solidFill>
                  </a:tcPr>
                </a:tc>
              </a:tr>
              <a:tr h="604157">
                <a:tc>
                  <a:txBody>
                    <a:bodyPr>
                      <a:noAutofit/>
                    </a:bodyPr>
                    <a:lstStyle/>
                    <a:p>
                      <a:r>
                        <a:rPr sz="1725" b="0">
                          <a:solidFill>
                            <a:srgbClr val="183F35"/>
                          </a:solidFill>
                          <a:latin typeface="Helvetica Neue"/>
                          <a:ea typeface="Helvetica Neue"/>
                          <a:cs typeface="Helvetica Neue"/>
                        </a:rPr>
                        <a:t>Exhibition release</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Working build and repeatable scenarios</a:t>
                      </a:r>
                    </a:p>
                  </a:txBody>
                  <a:tcPr marL="133350" marR="133350" marT="95250" marB="95250" anchor="ctr">
                    <a:solidFill>
                      <a:srgbClr val="FFFFFF"/>
                    </a:solidFill>
                  </a:tcPr>
                </a:tc>
              </a:tr>
              <a:tr h="604157">
                <a:tc>
                  <a:txBody>
                    <a:bodyPr>
                      <a:noAutofit/>
                    </a:bodyPr>
                    <a:lstStyle/>
                    <a:p>
                      <a:r>
                        <a:rPr sz="1725" b="0">
                          <a:solidFill>
                            <a:srgbClr val="183F35"/>
                          </a:solidFill>
                          <a:latin typeface="Helvetica Neue"/>
                          <a:ea typeface="Helvetica Neue"/>
                          <a:cs typeface="Helvetica Neue"/>
                        </a:rPr>
                        <a:t>Pilot preparation</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Partners, protocol and named owners</a:t>
                      </a:r>
                    </a:p>
                  </a:txBody>
                  <a:tcPr marL="133350" marR="133350" marT="95250" marB="95250" anchor="ctr">
                    <a:solidFill>
                      <a:srgbClr val="EDF2ED"/>
                    </a:solidFill>
                  </a:tcPr>
                </a:tc>
              </a:tr>
              <a:tr h="604157">
                <a:tc>
                  <a:txBody>
                    <a:bodyPr>
                      <a:noAutofit/>
                    </a:bodyPr>
                    <a:lstStyle/>
                    <a:p>
                      <a:r>
                        <a:rPr sz="1725" b="0">
                          <a:solidFill>
                            <a:srgbClr val="183F35"/>
                          </a:solidFill>
                          <a:latin typeface="Helvetica Neue"/>
                          <a:ea typeface="Helvetica Neue"/>
                          <a:cs typeface="Helvetica Neue"/>
                        </a:rPr>
                        <a:t>Production foundation</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Identity, consent and access acceptance</a:t>
                      </a:r>
                    </a:p>
                  </a:txBody>
                  <a:tcPr marL="133350" marR="133350" marT="95250" marB="95250" anchor="ctr">
                    <a:solidFill>
                      <a:srgbClr val="FFFFFF"/>
                    </a:solidFill>
                  </a:tcPr>
                </a:tc>
              </a:tr>
              <a:tr h="604157">
                <a:tc>
                  <a:txBody>
                    <a:bodyPr>
                      <a:noAutofit/>
                    </a:bodyPr>
                    <a:lstStyle/>
                    <a:p>
                      <a:r>
                        <a:rPr sz="1725" b="0">
                          <a:solidFill>
                            <a:srgbClr val="183F35"/>
                          </a:solidFill>
                          <a:latin typeface="Helvetica Neue"/>
                          <a:ea typeface="Helvetica Neue"/>
                          <a:cs typeface="Helvetica Neue"/>
                        </a:rPr>
                        <a:t>Formative evaluation</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Observed usability and resolved critical defects</a:t>
                      </a:r>
                    </a:p>
                  </a:txBody>
                  <a:tcPr marL="133350" marR="133350" marT="95250" marB="95250" anchor="ctr">
                    <a:solidFill>
                      <a:srgbClr val="EDF2ED"/>
                    </a:solidFill>
                  </a:tcPr>
                </a:tc>
              </a:tr>
              <a:tr h="604157">
                <a:tc>
                  <a:txBody>
                    <a:bodyPr>
                      <a:noAutofit/>
                    </a:bodyPr>
                    <a:lstStyle/>
                    <a:p>
                      <a:r>
                        <a:rPr sz="1725" b="0">
                          <a:solidFill>
                            <a:srgbClr val="183F35"/>
                          </a:solidFill>
                          <a:latin typeface="Helvetica Neue"/>
                          <a:ea typeface="Helvetica Neue"/>
                          <a:cs typeface="Helvetica Neue"/>
                        </a:rPr>
                        <a:t>Operational pilot</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Fulfilment, safety and economic evidence</a:t>
                      </a:r>
                    </a:p>
                  </a:txBody>
                  <a:tcPr marL="133350" marR="133350" marT="95250" marB="95250" anchor="ctr">
                    <a:solidFill>
                      <a:srgbClr val="FFFFFF"/>
                    </a:solidFill>
                  </a:tcPr>
                </a:tc>
              </a:tr>
              <a:tr h="604157">
                <a:tc>
                  <a:txBody>
                    <a:bodyPr>
                      <a:noAutofit/>
                    </a:bodyPr>
                    <a:lstStyle/>
                    <a:p>
                      <a:r>
                        <a:rPr sz="1725" b="0">
                          <a:solidFill>
                            <a:srgbClr val="183F35"/>
                          </a:solidFill>
                          <a:latin typeface="Helvetica Neue"/>
                          <a:ea typeface="Helvetica Neue"/>
                          <a:cs typeface="Helvetica Neue"/>
                        </a:rPr>
                        <a:t>Selective expansion</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A case for each new service or area</a:t>
                      </a:r>
                    </a:p>
                  </a:txBody>
                  <a:tcPr marL="133350" marR="133350" marT="95250" marB="95250" anchor="ctr">
                    <a:solidFill>
                      <a:srgbClr val="EDF2ED"/>
                    </a:solidFill>
                  </a:tcPr>
                </a:tc>
              </a:tr>
            </a:tbl>
          </a:graphicData>
        </a:graphic>
      </p:graphicFrame>
    </p:spTree>
    <p:extLst>
      <p:ext uri="{BB962C8B-B14F-4D97-AF65-F5344CB8AC3E}">
        <p14:creationId xmlns:p14="http://schemas.microsoft.com/office/powerpoint/2010/main" val="1493919576"/>
      </p:ext>
    </p:extLst>
  </p:cSld>
</p:sld>
</file>

<file path=ppt/slides/slide2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NEXT INVESTMENT">
            <a:extLst xmlns:a="http://schemas.openxmlformats.org/drawingml/2006/main">
              <a:ext uri="{FF2B5EF4-FFF2-40B4-BE49-F238E27FC236}">
                <a16:creationId xmlns:a16="http://schemas.microsoft.com/office/drawing/2014/main" id="{46D2364C-4E83-4DFF-830A-C40BE0D8B5CB}"/>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NEXT INVESTMENT</a:t>
            </a:r>
          </a:p>
        </p:txBody>
      </p:sp>
      <p:sp>
        <p:nvSpPr>
          <p:cNvPr id="2" name="The collaboration request">
            <a:extLst xmlns:a="http://schemas.openxmlformats.org/drawingml/2006/main">
              <a:ext uri="{FF2B5EF4-FFF2-40B4-BE49-F238E27FC236}">
                <a16:creationId xmlns:a16="http://schemas.microsoft.com/office/drawing/2014/main" id="{97C9DC36-E4A1-4BAD-8470-DCF9F5A2C3F7}"/>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The collaboration request</a:t>
            </a:r>
          </a:p>
        </p:txBody>
      </p:sp>
      <p:sp>
        <p:nvSpPr>
          <p:cNvPr id="3" name="27">
            <a:extLst xmlns:a="http://schemas.openxmlformats.org/drawingml/2006/main">
              <a:ext uri="{FF2B5EF4-FFF2-40B4-BE49-F238E27FC236}">
                <a16:creationId xmlns:a16="http://schemas.microsoft.com/office/drawing/2014/main" id="{A57312D1-08E9-4ACE-B4D6-0D96B8BC4643}"/>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27</a:t>
            </a:r>
          </a:p>
        </p:txBody>
      </p:sp>
      <p:sp>
        <p:nvSpPr>
          <p:cNvPr id="4" name="CareNow 1.2.1 · Exhibition prototype · September 2026">
            <a:extLst xmlns:a="http://schemas.openxmlformats.org/drawingml/2006/main">
              <a:ext uri="{FF2B5EF4-FFF2-40B4-BE49-F238E27FC236}">
                <a16:creationId xmlns:a16="http://schemas.microsoft.com/office/drawing/2014/main" id="{BD363B2B-9805-4652-9249-DDB4D658A34C}"/>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sp>
        <p:nvSpPr>
          <p:cNvPr id="5" name="A bounded Dhaka pilot">
            <a:extLst xmlns:a="http://schemas.openxmlformats.org/drawingml/2006/main">
              <a:ext uri="{FF2B5EF4-FFF2-40B4-BE49-F238E27FC236}">
                <a16:creationId xmlns:a16="http://schemas.microsoft.com/office/drawing/2014/main" id="{0316FB44-6F07-411A-B6C7-6595062F2591}"/>
              </a:ext>
            </a:extLst>
          </p:cNvPr>
          <p:cNvSpPr>
            <a:spLocks xmlns:a="http://schemas.openxmlformats.org/drawingml/2006/main" noGrp="1"/>
          </p:cNvSpPr>
          <p:nvPr/>
        </p:nvSpPr>
        <p:spPr>
          <a:xfrm xmlns:a="http://schemas.openxmlformats.org/drawingml/2006/main">
            <a:off x="609600" y="195262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825" b="1">
                <a:solidFill>
                  <a:srgbClr val="183F35"/>
                </a:solidFill>
                <a:latin typeface="Helvetica Neue"/>
                <a:ea typeface="Helvetica Neue"/>
                <a:cs typeface="Helvetica Neue"/>
              </a:defRPr>
            </a:pPr>
            <a:r>
              <a:rPr sz="3825" b="1">
                <a:solidFill>
                  <a:srgbClr val="183F35"/>
                </a:solidFill>
                <a:latin typeface="Helvetica Neue"/>
                <a:ea typeface="Helvetica Neue"/>
                <a:cs typeface="Helvetica Neue"/>
              </a:rPr>
              <a:t>A bounded Dhaka pilot</a:t>
            </a:r>
          </a:p>
        </p:txBody>
      </p:sp>
      <p:sp>
        <p:nvSpPr>
          <p:cNvPr id="6" name="Service partners">
            <a:extLst xmlns:a="http://schemas.openxmlformats.org/drawingml/2006/main">
              <a:ext uri="{FF2B5EF4-FFF2-40B4-BE49-F238E27FC236}">
                <a16:creationId xmlns:a16="http://schemas.microsoft.com/office/drawing/2014/main" id="{DF1F5136-2284-47B3-BFD9-9B030E6D61CC}"/>
              </a:ext>
            </a:extLst>
          </p:cNvPr>
          <p:cNvSpPr>
            <a:spLocks xmlns:a="http://schemas.openxmlformats.org/drawingml/2006/main" noGrp="1"/>
          </p:cNvSpPr>
          <p:nvPr/>
        </p:nvSpPr>
        <p:spPr>
          <a:xfrm xmlns:a="http://schemas.openxmlformats.org/drawingml/2006/main">
            <a:off x="609600" y="305752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Service partners</a:t>
            </a:r>
          </a:p>
        </p:txBody>
      </p:sp>
      <p:sp>
        <p:nvSpPr>
          <p:cNvPr id="7" name="Accountable care and transport supply in a defined area">
            <a:extLst xmlns:a="http://schemas.openxmlformats.org/drawingml/2006/main">
              <a:ext uri="{FF2B5EF4-FFF2-40B4-BE49-F238E27FC236}">
                <a16:creationId xmlns:a16="http://schemas.microsoft.com/office/drawing/2014/main" id="{4AC7BB49-702F-429E-88F5-4F287D620559}"/>
              </a:ext>
            </a:extLst>
          </p:cNvPr>
          <p:cNvSpPr>
            <a:spLocks xmlns:a="http://schemas.openxmlformats.org/drawingml/2006/main" noGrp="1"/>
          </p:cNvSpPr>
          <p:nvPr/>
        </p:nvSpPr>
        <p:spPr>
          <a:xfrm xmlns:a="http://schemas.openxmlformats.org/drawingml/2006/main">
            <a:off x="609600" y="344805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Accountable care and transport supply in a defined area.</a:t>
            </a:r>
          </a:p>
        </p:txBody>
      </p:sp>
      <p:sp>
        <p:nvSpPr>
          <p:cNvPr id="8" name="Research partners">
            <a:extLst xmlns:a="http://schemas.openxmlformats.org/drawingml/2006/main">
              <a:ext uri="{FF2B5EF4-FFF2-40B4-BE49-F238E27FC236}">
                <a16:creationId xmlns:a16="http://schemas.microsoft.com/office/drawing/2014/main" id="{057D99CA-21E3-4E74-AD7D-43C554F817A2}"/>
              </a:ext>
            </a:extLst>
          </p:cNvPr>
          <p:cNvSpPr>
            <a:spLocks xmlns:a="http://schemas.openxmlformats.org/drawingml/2006/main" noGrp="1"/>
          </p:cNvSpPr>
          <p:nvPr/>
        </p:nvSpPr>
        <p:spPr>
          <a:xfrm xmlns:a="http://schemas.openxmlformats.org/drawingml/2006/main">
            <a:off x="609600" y="401002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Research partners</a:t>
            </a:r>
          </a:p>
        </p:txBody>
      </p:sp>
      <p:sp>
        <p:nvSpPr>
          <p:cNvPr id="9" name="Independent evaluation of usability, fulfilment and cos">
            <a:extLst xmlns:a="http://schemas.openxmlformats.org/drawingml/2006/main">
              <a:ext uri="{FF2B5EF4-FFF2-40B4-BE49-F238E27FC236}">
                <a16:creationId xmlns:a16="http://schemas.microsoft.com/office/drawing/2014/main" id="{10596577-01AD-442E-B6AA-F76E01317E49}"/>
              </a:ext>
            </a:extLst>
          </p:cNvPr>
          <p:cNvSpPr>
            <a:spLocks xmlns:a="http://schemas.openxmlformats.org/drawingml/2006/main" noGrp="1"/>
          </p:cNvSpPr>
          <p:nvPr/>
        </p:nvSpPr>
        <p:spPr>
          <a:xfrm xmlns:a="http://schemas.openxmlformats.org/drawingml/2006/main">
            <a:off x="609600" y="440055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Independent evaluation of usability, fulfilment and cost.</a:t>
            </a:r>
          </a:p>
        </p:txBody>
      </p:sp>
      <p:sp>
        <p:nvSpPr>
          <p:cNvPr id="10" name="Milestone-based support">
            <a:extLst xmlns:a="http://schemas.openxmlformats.org/drawingml/2006/main">
              <a:ext uri="{FF2B5EF4-FFF2-40B4-BE49-F238E27FC236}">
                <a16:creationId xmlns:a16="http://schemas.microsoft.com/office/drawing/2014/main" id="{518C476D-988A-420C-8D60-2C59262F0482}"/>
              </a:ext>
            </a:extLst>
          </p:cNvPr>
          <p:cNvSpPr>
            <a:spLocks xmlns:a="http://schemas.openxmlformats.org/drawingml/2006/main" noGrp="1"/>
          </p:cNvSpPr>
          <p:nvPr/>
        </p:nvSpPr>
        <p:spPr>
          <a:xfrm xmlns:a="http://schemas.openxmlformats.org/drawingml/2006/main">
            <a:off x="609600" y="496252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Milestone-based support</a:t>
            </a:r>
          </a:p>
        </p:txBody>
      </p:sp>
      <p:sp>
        <p:nvSpPr>
          <p:cNvPr id="11" name="A six-month planning envelope of BDT 2.369 million.">
            <a:extLst xmlns:a="http://schemas.openxmlformats.org/drawingml/2006/main">
              <a:ext uri="{FF2B5EF4-FFF2-40B4-BE49-F238E27FC236}">
                <a16:creationId xmlns:a16="http://schemas.microsoft.com/office/drawing/2014/main" id="{802DA074-9E66-4906-8796-F00624EB43C3}"/>
              </a:ext>
            </a:extLst>
          </p:cNvPr>
          <p:cNvSpPr>
            <a:spLocks xmlns:a="http://schemas.openxmlformats.org/drawingml/2006/main" noGrp="1"/>
          </p:cNvSpPr>
          <p:nvPr/>
        </p:nvSpPr>
        <p:spPr>
          <a:xfrm xmlns:a="http://schemas.openxmlformats.org/drawingml/2006/main">
            <a:off x="609600" y="535305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A six-month planning envelope of BDT 2.369 million.</a:t>
            </a:r>
          </a:p>
        </p:txBody>
      </p:sp>
    </p:spTree>
    <p:extLst>
      <p:ext uri="{BB962C8B-B14F-4D97-AF65-F5344CB8AC3E}">
        <p14:creationId xmlns:p14="http://schemas.microsoft.com/office/powerpoint/2010/main" val="1588933352"/>
      </p:ext>
    </p:extLst>
  </p:cSld>
</p:sld>
</file>

<file path=ppt/slides/slide2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1" name="PRODUCT">
            <a:extLst xmlns:a="http://schemas.openxmlformats.org/drawingml/2006/main">
              <a:ext uri="{FF2B5EF4-FFF2-40B4-BE49-F238E27FC236}">
                <a16:creationId xmlns:a16="http://schemas.microsoft.com/office/drawing/2014/main" id="{310D3551-4CD8-4843-A49D-B73823F96734}"/>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PRODUCT</a:t>
            </a:r>
          </a:p>
        </p:txBody>
      </p:sp>
      <p:sp>
        <p:nvSpPr>
          <p:cNvPr id="2" name="A repeatable exhibition demonstration">
            <a:extLst xmlns:a="http://schemas.openxmlformats.org/drawingml/2006/main">
              <a:ext uri="{FF2B5EF4-FFF2-40B4-BE49-F238E27FC236}">
                <a16:creationId xmlns:a16="http://schemas.microsoft.com/office/drawing/2014/main" id="{4BAE2252-1EA5-4BCA-BB40-7D9D49B09804}"/>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A repeatable exhibition demonstration</a:t>
            </a:r>
          </a:p>
        </p:txBody>
      </p:sp>
      <p:sp>
        <p:nvSpPr>
          <p:cNvPr id="3" name="28">
            <a:extLst xmlns:a="http://schemas.openxmlformats.org/drawingml/2006/main">
              <a:ext uri="{FF2B5EF4-FFF2-40B4-BE49-F238E27FC236}">
                <a16:creationId xmlns:a16="http://schemas.microsoft.com/office/drawing/2014/main" id="{4E9A60B7-A45A-47C3-B083-50AB1557E0D8}"/>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28</a:t>
            </a:r>
          </a:p>
        </p:txBody>
      </p:sp>
      <p:sp>
        <p:nvSpPr>
          <p:cNvPr id="4" name="CareNow 1.2.1 · Exhibition prototype · September 2026">
            <a:extLst xmlns:a="http://schemas.openxmlformats.org/drawingml/2006/main">
              <a:ext uri="{FF2B5EF4-FFF2-40B4-BE49-F238E27FC236}">
                <a16:creationId xmlns:a16="http://schemas.microsoft.com/office/drawing/2014/main" id="{F513735E-9423-4706-A236-1260799EC7F9}"/>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d784637f4f44e9f"/>
          <a:stretch xmlns:a="http://schemas.openxmlformats.org/drawingml/2006/main"/>
        </p:blipFill>
        <p:spPr>
          <a:xfrm xmlns:a="http://schemas.openxmlformats.org/drawingml/2006/main">
            <a:off x="1432084" y="1657350"/>
            <a:ext cx="1945958" cy="4324350"/>
          </a:xfrm>
          <a:prstGeom xmlns:a="http://schemas.openxmlformats.org/drawingml/2006/main" prst="rect">
            <a:avLst/>
          </a:prstGeom>
        </p:spPr>
      </p:pic>
      <p:sp>
        <p:nvSpPr>
          <p:cNvPr id="6" name="Load and replay scenarios">
            <a:extLst xmlns:a="http://schemas.openxmlformats.org/drawingml/2006/main">
              <a:ext uri="{FF2B5EF4-FFF2-40B4-BE49-F238E27FC236}">
                <a16:creationId xmlns:a16="http://schemas.microsoft.com/office/drawing/2014/main" id="{53C57710-578A-40E5-BB20-A41D2A768C13}"/>
              </a:ext>
            </a:extLst>
          </p:cNvPr>
          <p:cNvSpPr>
            <a:spLocks xmlns:a="http://schemas.openxmlformats.org/drawingml/2006/main" noGrp="1"/>
          </p:cNvSpPr>
          <p:nvPr/>
        </p:nvSpPr>
        <p:spPr>
          <a:xfrm xmlns:a="http://schemas.openxmlformats.org/drawingml/2006/main">
            <a:off x="1028700" y="6067425"/>
            <a:ext cx="2752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83F35"/>
                </a:solidFill>
                <a:latin typeface="Helvetica Neue"/>
                <a:ea typeface="Helvetica Neue"/>
                <a:cs typeface="Helvetica Neue"/>
              </a:defRPr>
            </a:pPr>
            <a:r>
              <a:rPr sz="1275" b="1">
                <a:solidFill>
                  <a:srgbClr val="183F35"/>
                </a:solidFill>
                <a:latin typeface="Helvetica Neue"/>
                <a:ea typeface="Helvetica Neue"/>
                <a:cs typeface="Helvetica Neue"/>
              </a:rPr>
              <a:t>Load and replay scenarios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cb87831e97649a3"/>
          <a:stretch xmlns:a="http://schemas.openxmlformats.org/drawingml/2006/main"/>
        </p:blipFill>
        <p:spPr>
          <a:xfrm xmlns:a="http://schemas.openxmlformats.org/drawingml/2006/main">
            <a:off x="4622959" y="1657350"/>
            <a:ext cx="1945958" cy="4324350"/>
          </a:xfrm>
          <a:prstGeom xmlns:a="http://schemas.openxmlformats.org/drawingml/2006/main" prst="rect">
            <a:avLst/>
          </a:prstGeom>
        </p:spPr>
      </p:pic>
      <p:sp>
        <p:nvSpPr>
          <p:cNvPr id="8" name="Inspect the same job">
            <a:extLst xmlns:a="http://schemas.openxmlformats.org/drawingml/2006/main">
              <a:ext uri="{FF2B5EF4-FFF2-40B4-BE49-F238E27FC236}">
                <a16:creationId xmlns:a16="http://schemas.microsoft.com/office/drawing/2014/main" id="{F92B299D-282B-408B-AF65-D5285AEA1FB5}"/>
              </a:ext>
            </a:extLst>
          </p:cNvPr>
          <p:cNvSpPr>
            <a:spLocks xmlns:a="http://schemas.openxmlformats.org/drawingml/2006/main" noGrp="1"/>
          </p:cNvSpPr>
          <p:nvPr/>
        </p:nvSpPr>
        <p:spPr>
          <a:xfrm xmlns:a="http://schemas.openxmlformats.org/drawingml/2006/main">
            <a:off x="4219575" y="6067425"/>
            <a:ext cx="2752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83F35"/>
                </a:solidFill>
                <a:latin typeface="Helvetica Neue"/>
                <a:ea typeface="Helvetica Neue"/>
                <a:cs typeface="Helvetica Neue"/>
              </a:defRPr>
            </a:pPr>
            <a:r>
              <a:rPr sz="1275" b="1">
                <a:solidFill>
                  <a:srgbClr val="183F35"/>
                </a:solidFill>
                <a:latin typeface="Helvetica Neue"/>
                <a:ea typeface="Helvetica Neue"/>
                <a:cs typeface="Helvetica Neue"/>
              </a:rPr>
              <a:t>Inspect the same job</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7a8255b708344d9"/>
          <a:stretch xmlns:a="http://schemas.openxmlformats.org/drawingml/2006/main"/>
        </p:blipFill>
        <p:spPr>
          <a:xfrm xmlns:a="http://schemas.openxmlformats.org/drawingml/2006/main">
            <a:off x="7813834" y="1657350"/>
            <a:ext cx="1945958" cy="4324350"/>
          </a:xfrm>
          <a:prstGeom xmlns:a="http://schemas.openxmlformats.org/drawingml/2006/main" prst="rect">
            <a:avLst/>
          </a:prstGeom>
        </p:spPr>
      </p:pic>
      <p:sp>
        <p:nvSpPr>
          <p:cNvPr id="10" name="Follow status changes">
            <a:extLst xmlns:a="http://schemas.openxmlformats.org/drawingml/2006/main">
              <a:ext uri="{FF2B5EF4-FFF2-40B4-BE49-F238E27FC236}">
                <a16:creationId xmlns:a16="http://schemas.microsoft.com/office/drawing/2014/main" id="{8FCAA40E-7254-4A2A-B88E-9080E3762479}"/>
              </a:ext>
            </a:extLst>
          </p:cNvPr>
          <p:cNvSpPr>
            <a:spLocks xmlns:a="http://schemas.openxmlformats.org/drawingml/2006/main" noGrp="1"/>
          </p:cNvSpPr>
          <p:nvPr/>
        </p:nvSpPr>
        <p:spPr>
          <a:xfrm xmlns:a="http://schemas.openxmlformats.org/drawingml/2006/main">
            <a:off x="7410450" y="6067425"/>
            <a:ext cx="2752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83F35"/>
                </a:solidFill>
                <a:latin typeface="Helvetica Neue"/>
                <a:ea typeface="Helvetica Neue"/>
                <a:cs typeface="Helvetica Neue"/>
              </a:defRPr>
            </a:pPr>
            <a:r>
              <a:rPr sz="1275" b="1">
                <a:solidFill>
                  <a:srgbClr val="183F35"/>
                </a:solidFill>
                <a:latin typeface="Helvetica Neue"/>
                <a:ea typeface="Helvetica Neue"/>
                <a:cs typeface="Helvetica Neue"/>
              </a:rPr>
              <a:t>Follow status changes</a:t>
            </a:r>
          </a:p>
        </p:txBody>
      </p:sp>
    </p:spTree>
    <p:extLst>
      <p:ext uri="{BB962C8B-B14F-4D97-AF65-F5344CB8AC3E}">
        <p14:creationId xmlns:p14="http://schemas.microsoft.com/office/powerpoint/2010/main" val="1758728158"/>
      </p:ext>
    </p:extLst>
  </p:cSld>
</p:sld>
</file>

<file path=ppt/slides/slide2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APPENDIX">
            <a:extLst xmlns:a="http://schemas.openxmlformats.org/drawingml/2006/main">
              <a:ext uri="{FF2B5EF4-FFF2-40B4-BE49-F238E27FC236}">
                <a16:creationId xmlns:a16="http://schemas.microsoft.com/office/drawing/2014/main" id="{534E0F91-2E7F-4C93-AF24-E61B1322E690}"/>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APPENDIX</a:t>
            </a:r>
          </a:p>
        </p:txBody>
      </p:sp>
      <p:sp>
        <p:nvSpPr>
          <p:cNvPr id="2" name="Feature inventory">
            <a:extLst xmlns:a="http://schemas.openxmlformats.org/drawingml/2006/main">
              <a:ext uri="{FF2B5EF4-FFF2-40B4-BE49-F238E27FC236}">
                <a16:creationId xmlns:a16="http://schemas.microsoft.com/office/drawing/2014/main" id="{58CD31D5-ABB0-4408-AFD6-58FE2589D7E5}"/>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Feature inventory</a:t>
            </a:r>
          </a:p>
        </p:txBody>
      </p:sp>
      <p:sp>
        <p:nvSpPr>
          <p:cNvPr id="3" name="29">
            <a:extLst xmlns:a="http://schemas.openxmlformats.org/drawingml/2006/main">
              <a:ext uri="{FF2B5EF4-FFF2-40B4-BE49-F238E27FC236}">
                <a16:creationId xmlns:a16="http://schemas.microsoft.com/office/drawing/2014/main" id="{E5C3EE88-9C10-4EC1-8F01-82B9584E1D8A}"/>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29</a:t>
            </a:r>
          </a:p>
        </p:txBody>
      </p:sp>
      <p:sp>
        <p:nvSpPr>
          <p:cNvPr id="4" name="CareNow 1.2.1 · Exhibition prototype · September 2026">
            <a:extLst xmlns:a="http://schemas.openxmlformats.org/drawingml/2006/main">
              <a:ext uri="{FF2B5EF4-FFF2-40B4-BE49-F238E27FC236}">
                <a16:creationId xmlns:a16="http://schemas.microsoft.com/office/drawing/2014/main" id="{6A15D835-D874-494D-B50A-D55000FBF0A0}"/>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graphicFrame>
        <p:nvGraphicFramePr>
          <p:cNvPr id="10" name=""/>
          <p:cNvGraphicFramePr/>
          <p:nvPr/>
        </p:nvGraphicFramePr>
        <p:xfrm>
          <a:off xmlns:a="http://schemas.openxmlformats.org/drawingml/2006/main" x="609600" y="1781175"/>
          <a:ext xmlns:a="http://schemas.openxmlformats.org/drawingml/2006/main" cx="10972800" cy="4000500"/>
        </p:xfrm>
        <a:graphic xmlns:a="http://schemas.openxmlformats.org/drawingml/2006/main">
          <a:graphicData uri="http://schemas.openxmlformats.org/drawingml/2006/table">
            <a:tbl>
              <a:tblPr/>
              <a:tblGrid>
                <a:gridCol w="5486400"/>
                <a:gridCol w="5486400"/>
              </a:tblGrid>
              <a:tr h="666750">
                <a:tc>
                  <a:txBody>
                    <a:bodyPr>
                      <a:noAutofit/>
                    </a:bodyPr>
                    <a:lstStyle/>
                    <a:p>
                      <a:r>
                        <a:rPr sz="1725" b="1">
                          <a:solidFill>
                            <a:srgbClr val="FFFFFF"/>
                          </a:solidFill>
                          <a:latin typeface="Helvetica Neue"/>
                          <a:ea typeface="Helvetica Neue"/>
                          <a:cs typeface="Helvetica Neue"/>
                        </a:rPr>
                        <a:t>Family and care</a:t>
                      </a:r>
                    </a:p>
                  </a:txBody>
                  <a:tcPr marL="133350" marR="133350" marT="95250" marB="95250" anchor="ctr">
                    <a:solidFill>
                      <a:srgbClr val="1B5142"/>
                    </a:solidFill>
                  </a:tcPr>
                </a:tc>
                <a:tc>
                  <a:txBody>
                    <a:bodyPr>
                      <a:noAutofit/>
                    </a:bodyPr>
                    <a:lstStyle/>
                    <a:p>
                      <a:r>
                        <a:rPr sz="1725" b="1">
                          <a:solidFill>
                            <a:srgbClr val="FFFFFF"/>
                          </a:solidFill>
                          <a:latin typeface="Helvetica Neue"/>
                          <a:ea typeface="Helvetica Neue"/>
                          <a:cs typeface="Helvetica Neue"/>
                        </a:rPr>
                        <a:t>Transport and operations</a:t>
                      </a:r>
                    </a:p>
                  </a:txBody>
                  <a:tcPr marL="133350" marR="133350" marT="95250" marB="95250" anchor="ctr">
                    <a:solidFill>
                      <a:srgbClr val="1B5142"/>
                    </a:solidFill>
                  </a:tcPr>
                </a:tc>
              </a:tr>
              <a:tr h="666750">
                <a:tc>
                  <a:txBody>
                    <a:bodyPr>
                      <a:noAutofit/>
                    </a:bodyPr>
                    <a:lstStyle/>
                    <a:p>
                      <a:r>
                        <a:rPr sz="1725" b="0">
                          <a:solidFill>
                            <a:srgbClr val="183F35"/>
                          </a:solidFill>
                          <a:latin typeface="Helvetica Neue"/>
                          <a:ea typeface="Helvetica Neue"/>
                          <a:cs typeface="Helvetica Neue"/>
                        </a:rPr>
                        <a:t>Profiles, records and routine logs</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Ambulance, van, truck and minibus</a:t>
                      </a:r>
                    </a:p>
                  </a:txBody>
                  <a:tcPr marL="133350" marR="133350" marT="95250" marB="95250" anchor="ctr">
                    <a:solidFill>
                      <a:srgbClr val="FFFFFF"/>
                    </a:solidFill>
                  </a:tcPr>
                </a:tc>
              </a:tr>
              <a:tr h="666750">
                <a:tc>
                  <a:txBody>
                    <a:bodyPr>
                      <a:noAutofit/>
                    </a:bodyPr>
                    <a:lstStyle/>
                    <a:p>
                      <a:r>
                        <a:rPr sz="1725" b="0">
                          <a:solidFill>
                            <a:srgbClr val="183F35"/>
                          </a:solidFill>
                          <a:latin typeface="Helvetica Neue"/>
                          <a:ea typeface="Helvetica Neue"/>
                          <a:cs typeface="Helvetica Neue"/>
                        </a:rPr>
                        <a:t>Doctor search and dated bookings</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Capacity, cargo and departures</a:t>
                      </a:r>
                    </a:p>
                  </a:txBody>
                  <a:tcPr marL="133350" marR="133350" marT="95250" marB="95250" anchor="ctr">
                    <a:solidFill>
                      <a:srgbClr val="EDF2ED"/>
                    </a:solidFill>
                  </a:tcPr>
                </a:tc>
              </a:tr>
              <a:tr h="666750">
                <a:tc>
                  <a:txBody>
                    <a:bodyPr>
                      <a:noAutofit/>
                    </a:bodyPr>
                    <a:lstStyle/>
                    <a:p>
                      <a:r>
                        <a:rPr sz="1725" b="0">
                          <a:solidFill>
                            <a:srgbClr val="183F35"/>
                          </a:solidFill>
                          <a:latin typeface="Helvetica Neue"/>
                          <a:ea typeface="Helvetica Neue"/>
                          <a:cs typeface="Helvetica Neue"/>
                        </a:rPr>
                        <a:t>Messages and PDF/photo uploads</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Map routes and simulated arrivals</a:t>
                      </a:r>
                    </a:p>
                  </a:txBody>
                  <a:tcPr marL="133350" marR="133350" marT="95250" marB="95250" anchor="ctr">
                    <a:solidFill>
                      <a:srgbClr val="FFFFFF"/>
                    </a:solidFill>
                  </a:tcPr>
                </a:tc>
              </a:tr>
              <a:tr h="666750">
                <a:tc>
                  <a:txBody>
                    <a:bodyPr>
                      <a:noAutofit/>
                    </a:bodyPr>
                    <a:lstStyle/>
                    <a:p>
                      <a:r>
                        <a:rPr sz="1725" b="0">
                          <a:solidFill>
                            <a:srgbClr val="183F35"/>
                          </a:solidFill>
                          <a:latin typeface="Helvetica Neue"/>
                          <a:ea typeface="Helvetica Neue"/>
                          <a:cs typeface="Helvetica Neue"/>
                        </a:rPr>
                        <a:t>Motherhood and child support</a:t>
                      </a:r>
                    </a:p>
                  </a:txBody>
                  <a:tcPr marL="133350" marR="133350" marT="95250" marB="95250" anchor="ctr">
                    <a:solidFill>
                      <a:srgbClr val="EDF2ED"/>
                    </a:solidFill>
                  </a:tcPr>
                </a:tc>
                <a:tc>
                  <a:txBody>
                    <a:bodyPr>
                      <a:noAutofit/>
                    </a:bodyPr>
                    <a:lstStyle/>
                    <a:p>
                      <a:r>
                        <a:rPr sz="1725" b="0">
                          <a:solidFill>
                            <a:srgbClr val="183F35"/>
                          </a:solidFill>
                          <a:latin typeface="Helvetica Neue"/>
                          <a:ea typeface="Helvetica Neue"/>
                          <a:cs typeface="Helvetica Neue"/>
                        </a:rPr>
                        <a:t>Five role workspaces</a:t>
                      </a:r>
                    </a:p>
                  </a:txBody>
                  <a:tcPr marL="133350" marR="133350" marT="95250" marB="95250" anchor="ctr">
                    <a:solidFill>
                      <a:srgbClr val="EDF2ED"/>
                    </a:solidFill>
                  </a:tcPr>
                </a:tc>
              </a:tr>
              <a:tr h="666750">
                <a:tc>
                  <a:txBody>
                    <a:bodyPr>
                      <a:noAutofit/>
                    </a:bodyPr>
                    <a:lstStyle/>
                    <a:p>
                      <a:r>
                        <a:rPr sz="1725" b="0">
                          <a:solidFill>
                            <a:srgbClr val="183F35"/>
                          </a:solidFill>
                          <a:latin typeface="Helvetica Neue"/>
                          <a:ea typeface="Helvetica Neue"/>
                          <a:cs typeface="Helvetica Neue"/>
                        </a:rPr>
                        <a:t>Notifications and activity history</a:t>
                      </a:r>
                    </a:p>
                  </a:txBody>
                  <a:tcPr marL="133350" marR="133350" marT="95250" marB="95250" anchor="ctr">
                    <a:solidFill>
                      <a:srgbClr val="FFFFFF"/>
                    </a:solidFill>
                  </a:tcPr>
                </a:tc>
                <a:tc>
                  <a:txBody>
                    <a:bodyPr>
                      <a:noAutofit/>
                    </a:bodyPr>
                    <a:lstStyle/>
                    <a:p>
                      <a:r>
                        <a:rPr sz="1725" b="0">
                          <a:solidFill>
                            <a:srgbClr val="183F35"/>
                          </a:solidFill>
                          <a:latin typeface="Helvetica Neue"/>
                          <a:ea typeface="Helvetica Neue"/>
                          <a:cs typeface="Helvetica Neue"/>
                        </a:rPr>
                        <a:t>Scenario replay and offline rehearsal</a:t>
                      </a:r>
                    </a:p>
                  </a:txBody>
                  <a:tcPr marL="133350" marR="133350" marT="95250" marB="95250" anchor="ctr">
                    <a:solidFill>
                      <a:srgbClr val="FFFFFF"/>
                    </a:solidFill>
                  </a:tcPr>
                </a:tc>
              </a:tr>
            </a:tbl>
          </a:graphicData>
        </a:graphic>
      </p:graphicFrame>
    </p:spTree>
    <p:extLst>
      <p:ext uri="{BB962C8B-B14F-4D97-AF65-F5344CB8AC3E}">
        <p14:creationId xmlns:p14="http://schemas.microsoft.com/office/powerpoint/2010/main" val="707164472"/>
      </p:ext>
    </p:extLst>
  </p:cSld>
</p:sld>
</file>

<file path=ppt/slides/slide3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3" name="APPENDIX">
            <a:extLst xmlns:a="http://schemas.openxmlformats.org/drawingml/2006/main">
              <a:ext uri="{FF2B5EF4-FFF2-40B4-BE49-F238E27FC236}">
                <a16:creationId xmlns:a16="http://schemas.microsoft.com/office/drawing/2014/main" id="{F4841667-A09E-4748-89B6-F71F01D105DD}"/>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APPENDIX</a:t>
            </a:r>
          </a:p>
        </p:txBody>
      </p:sp>
      <p:sp>
        <p:nvSpPr>
          <p:cNvPr id="2" name="Responsive layout correction">
            <a:extLst xmlns:a="http://schemas.openxmlformats.org/drawingml/2006/main">
              <a:ext uri="{FF2B5EF4-FFF2-40B4-BE49-F238E27FC236}">
                <a16:creationId xmlns:a16="http://schemas.microsoft.com/office/drawing/2014/main" id="{17A5524D-27F9-45EF-86EA-AD6080F24326}"/>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Responsive layout correction</a:t>
            </a:r>
          </a:p>
        </p:txBody>
      </p:sp>
      <p:sp>
        <p:nvSpPr>
          <p:cNvPr id="3" name="30">
            <a:extLst xmlns:a="http://schemas.openxmlformats.org/drawingml/2006/main">
              <a:ext uri="{FF2B5EF4-FFF2-40B4-BE49-F238E27FC236}">
                <a16:creationId xmlns:a16="http://schemas.microsoft.com/office/drawing/2014/main" id="{AA8BF382-705F-4572-9A76-0D57D14BA92B}"/>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30</a:t>
            </a:r>
          </a:p>
        </p:txBody>
      </p:sp>
      <p:sp>
        <p:nvSpPr>
          <p:cNvPr id="4" name="CareNow 1.2.1 · Exhibition prototype · September 2026">
            <a:extLst xmlns:a="http://schemas.openxmlformats.org/drawingml/2006/main">
              <a:ext uri="{FF2B5EF4-FFF2-40B4-BE49-F238E27FC236}">
                <a16:creationId xmlns:a16="http://schemas.microsoft.com/office/drawing/2014/main" id="{A1634B4F-9A32-4B68-9406-8BBE6082799F}"/>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1a6dc0837394b1b"/>
          <a:stretch xmlns:a="http://schemas.openxmlformats.org/drawingml/2006/main"/>
        </p:blipFill>
        <p:spPr>
          <a:xfrm xmlns:a="http://schemas.openxmlformats.org/drawingml/2006/main">
            <a:off x="939403" y="1695450"/>
            <a:ext cx="2464594" cy="43815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8185785465e4244"/>
          <a:stretch xmlns:a="http://schemas.openxmlformats.org/drawingml/2006/main"/>
        </p:blipFill>
        <p:spPr>
          <a:xfrm xmlns:a="http://schemas.openxmlformats.org/drawingml/2006/main">
            <a:off x="4130278" y="1695450"/>
            <a:ext cx="2464594" cy="4381500"/>
          </a:xfrm>
          <a:prstGeom xmlns:a="http://schemas.openxmlformats.org/drawingml/2006/main" prst="rect">
            <a:avLst/>
          </a:prstGeom>
        </p:spPr>
      </p:pic>
      <p:sp>
        <p:nvSpPr>
          <p:cNvPr id="7" name="Flexible content">
            <a:extLst xmlns:a="http://schemas.openxmlformats.org/drawingml/2006/main">
              <a:ext uri="{FF2B5EF4-FFF2-40B4-BE49-F238E27FC236}">
                <a16:creationId xmlns:a16="http://schemas.microsoft.com/office/drawing/2014/main" id="{297922B2-19F0-48A3-B103-9069B68DB939}"/>
              </a:ext>
            </a:extLst>
          </p:cNvPr>
          <p:cNvSpPr>
            <a:spLocks xmlns:a="http://schemas.openxmlformats.org/drawingml/2006/main" noGrp="1"/>
          </p:cNvSpPr>
          <p:nvPr/>
        </p:nvSpPr>
        <p:spPr>
          <a:xfrm xmlns:a="http://schemas.openxmlformats.org/drawingml/2006/main">
            <a:off x="7429500" y="1819275"/>
            <a:ext cx="4124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Flexible content</a:t>
            </a:r>
          </a:p>
        </p:txBody>
      </p:sp>
      <p:sp>
        <p:nvSpPr>
          <p:cNvPr id="8" name="Tiles and labels grow with text.">
            <a:extLst xmlns:a="http://schemas.openxmlformats.org/drawingml/2006/main">
              <a:ext uri="{FF2B5EF4-FFF2-40B4-BE49-F238E27FC236}">
                <a16:creationId xmlns:a16="http://schemas.microsoft.com/office/drawing/2014/main" id="{FEC26ACC-A87A-43FC-98E2-0D9C50CE3CF5}"/>
              </a:ext>
            </a:extLst>
          </p:cNvPr>
          <p:cNvSpPr>
            <a:spLocks xmlns:a="http://schemas.openxmlformats.org/drawingml/2006/main" noGrp="1"/>
          </p:cNvSpPr>
          <p:nvPr/>
        </p:nvSpPr>
        <p:spPr>
          <a:xfrm xmlns:a="http://schemas.openxmlformats.org/drawingml/2006/main">
            <a:off x="7429500" y="2209800"/>
            <a:ext cx="41243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Tiles and labels grow with text.</a:t>
            </a:r>
          </a:p>
        </p:txBody>
      </p:sp>
      <p:sp>
        <p:nvSpPr>
          <p:cNvPr id="9" name="Bounded sheets">
            <a:extLst xmlns:a="http://schemas.openxmlformats.org/drawingml/2006/main">
              <a:ext uri="{FF2B5EF4-FFF2-40B4-BE49-F238E27FC236}">
                <a16:creationId xmlns:a16="http://schemas.microsoft.com/office/drawing/2014/main" id="{7D1A0159-865A-4249-8138-3584C7BF5FE5}"/>
              </a:ext>
            </a:extLst>
          </p:cNvPr>
          <p:cNvSpPr>
            <a:spLocks xmlns:a="http://schemas.openxmlformats.org/drawingml/2006/main" noGrp="1"/>
          </p:cNvSpPr>
          <p:nvPr/>
        </p:nvSpPr>
        <p:spPr>
          <a:xfrm xmlns:a="http://schemas.openxmlformats.org/drawingml/2006/main">
            <a:off x="7429500" y="3133725"/>
            <a:ext cx="4124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Bounded sheets</a:t>
            </a:r>
          </a:p>
        </p:txBody>
      </p:sp>
      <p:sp>
        <p:nvSpPr>
          <p:cNvPr id="10" name="Long content stays scrollable.">
            <a:extLst xmlns:a="http://schemas.openxmlformats.org/drawingml/2006/main">
              <a:ext uri="{FF2B5EF4-FFF2-40B4-BE49-F238E27FC236}">
                <a16:creationId xmlns:a16="http://schemas.microsoft.com/office/drawing/2014/main" id="{4D820F76-0FBE-444B-8128-384D25E71F41}"/>
              </a:ext>
            </a:extLst>
          </p:cNvPr>
          <p:cNvSpPr>
            <a:spLocks xmlns:a="http://schemas.openxmlformats.org/drawingml/2006/main" noGrp="1"/>
          </p:cNvSpPr>
          <p:nvPr/>
        </p:nvSpPr>
        <p:spPr>
          <a:xfrm xmlns:a="http://schemas.openxmlformats.org/drawingml/2006/main">
            <a:off x="7429500" y="3524250"/>
            <a:ext cx="41243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Long content stays scrollable.</a:t>
            </a:r>
          </a:p>
        </p:txBody>
      </p:sp>
      <p:sp>
        <p:nvSpPr>
          <p:cNvPr id="11" name="Measured map panel">
            <a:extLst xmlns:a="http://schemas.openxmlformats.org/drawingml/2006/main">
              <a:ext uri="{FF2B5EF4-FFF2-40B4-BE49-F238E27FC236}">
                <a16:creationId xmlns:a16="http://schemas.microsoft.com/office/drawing/2014/main" id="{7729F8F2-26A7-47EE-860B-978C2F5171E7}"/>
              </a:ext>
            </a:extLst>
          </p:cNvPr>
          <p:cNvSpPr>
            <a:spLocks xmlns:a="http://schemas.openxmlformats.org/drawingml/2006/main" noGrp="1"/>
          </p:cNvSpPr>
          <p:nvPr/>
        </p:nvSpPr>
        <p:spPr>
          <a:xfrm xmlns:a="http://schemas.openxmlformats.org/drawingml/2006/main">
            <a:off x="7429500" y="4448175"/>
            <a:ext cx="4124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Measured map panel</a:t>
            </a:r>
          </a:p>
        </p:txBody>
      </p:sp>
      <p:sp>
        <p:nvSpPr>
          <p:cNvPr id="12" name="The footer participates in layout.">
            <a:extLst xmlns:a="http://schemas.openxmlformats.org/drawingml/2006/main">
              <a:ext uri="{FF2B5EF4-FFF2-40B4-BE49-F238E27FC236}">
                <a16:creationId xmlns:a16="http://schemas.microsoft.com/office/drawing/2014/main" id="{870109C5-45F4-44E7-A743-1A3C16AED479}"/>
              </a:ext>
            </a:extLst>
          </p:cNvPr>
          <p:cNvSpPr>
            <a:spLocks xmlns:a="http://schemas.openxmlformats.org/drawingml/2006/main" noGrp="1"/>
          </p:cNvSpPr>
          <p:nvPr/>
        </p:nvSpPr>
        <p:spPr>
          <a:xfrm xmlns:a="http://schemas.openxmlformats.org/drawingml/2006/main">
            <a:off x="7429500" y="4838700"/>
            <a:ext cx="41243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The footer participates in layout.</a:t>
            </a:r>
          </a:p>
        </p:txBody>
      </p:sp>
    </p:spTree>
    <p:extLst>
      <p:ext uri="{BB962C8B-B14F-4D97-AF65-F5344CB8AC3E}">
        <p14:creationId xmlns:p14="http://schemas.microsoft.com/office/powerpoint/2010/main" val="1705900877"/>
      </p:ext>
    </p:extLst>
  </p:cSld>
</p:sld>
</file>

<file path=ppt/slides/slide3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1" name="REFERENCES">
            <a:extLst xmlns:a="http://schemas.openxmlformats.org/drawingml/2006/main">
              <a:ext uri="{FF2B5EF4-FFF2-40B4-BE49-F238E27FC236}">
                <a16:creationId xmlns:a16="http://schemas.microsoft.com/office/drawing/2014/main" id="{9AABA345-C4B5-4C66-8AC2-147887DD4704}"/>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REFERENCES</a:t>
            </a:r>
          </a:p>
        </p:txBody>
      </p:sp>
      <p:sp>
        <p:nvSpPr>
          <p:cNvPr id="2" name="Market and research sources">
            <a:extLst xmlns:a="http://schemas.openxmlformats.org/drawingml/2006/main">
              <a:ext uri="{FF2B5EF4-FFF2-40B4-BE49-F238E27FC236}">
                <a16:creationId xmlns:a16="http://schemas.microsoft.com/office/drawing/2014/main" id="{01CBA0B7-E416-40E8-899B-F722F961CDEA}"/>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Market and research sources</a:t>
            </a:r>
          </a:p>
        </p:txBody>
      </p:sp>
      <p:sp>
        <p:nvSpPr>
          <p:cNvPr id="3" name="31">
            <a:extLst xmlns:a="http://schemas.openxmlformats.org/drawingml/2006/main">
              <a:ext uri="{FF2B5EF4-FFF2-40B4-BE49-F238E27FC236}">
                <a16:creationId xmlns:a16="http://schemas.microsoft.com/office/drawing/2014/main" id="{7A0A4D6D-80B6-43A7-A794-0EF34773444A}"/>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31</a:t>
            </a:r>
          </a:p>
        </p:txBody>
      </p:sp>
      <p:sp>
        <p:nvSpPr>
          <p:cNvPr id="4" name="CareNow 1.2.1 · Exhibition prototype · September 2026">
            <a:extLst xmlns:a="http://schemas.openxmlformats.org/drawingml/2006/main">
              <a:ext uri="{FF2B5EF4-FFF2-40B4-BE49-F238E27FC236}">
                <a16:creationId xmlns:a16="http://schemas.microsoft.com/office/drawing/2014/main" id="{8293B5C4-94EE-49A2-8472-D1DE39E08B69}"/>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sp>
        <p:nvSpPr>
          <p:cNvPr id="5" name="National context">
            <a:extLst xmlns:a="http://schemas.openxmlformats.org/drawingml/2006/main">
              <a:ext uri="{FF2B5EF4-FFF2-40B4-BE49-F238E27FC236}">
                <a16:creationId xmlns:a16="http://schemas.microsoft.com/office/drawing/2014/main" id="{3F115555-2588-4662-8AA1-30CA892B4D35}"/>
              </a:ext>
            </a:extLst>
          </p:cNvPr>
          <p:cNvSpPr>
            <a:spLocks xmlns:a="http://schemas.openxmlformats.org/drawingml/2006/main" noGrp="1"/>
          </p:cNvSpPr>
          <p:nvPr/>
        </p:nvSpPr>
        <p:spPr>
          <a:xfrm xmlns:a="http://schemas.openxmlformats.org/drawingml/2006/main">
            <a:off x="609600" y="180022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National context</a:t>
            </a:r>
          </a:p>
        </p:txBody>
      </p:sp>
      <p:sp>
        <p:nvSpPr>
          <p:cNvPr id="6" name="World Bank, BTRC, UNFPA and Bangladesh National Health ">
            <a:extLst xmlns:a="http://schemas.openxmlformats.org/drawingml/2006/main">
              <a:ext uri="{FF2B5EF4-FFF2-40B4-BE49-F238E27FC236}">
                <a16:creationId xmlns:a16="http://schemas.microsoft.com/office/drawing/2014/main" id="{A383F722-63CF-4204-90FA-A3538B534235}"/>
              </a:ext>
            </a:extLst>
          </p:cNvPr>
          <p:cNvSpPr>
            <a:spLocks xmlns:a="http://schemas.openxmlformats.org/drawingml/2006/main" noGrp="1"/>
          </p:cNvSpPr>
          <p:nvPr/>
        </p:nvSpPr>
        <p:spPr>
          <a:xfrm xmlns:a="http://schemas.openxmlformats.org/drawingml/2006/main">
            <a:off x="609600" y="2190750"/>
            <a:ext cx="10477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World Bank, BTRC, UNFPA and Bangladesh National Health Accounts reporting.</a:t>
            </a:r>
          </a:p>
        </p:txBody>
      </p:sp>
      <p:sp>
        <p:nvSpPr>
          <p:cNvPr id="7" name="Primary research">
            <a:extLst xmlns:a="http://schemas.openxmlformats.org/drawingml/2006/main">
              <a:ext uri="{FF2B5EF4-FFF2-40B4-BE49-F238E27FC236}">
                <a16:creationId xmlns:a16="http://schemas.microsoft.com/office/drawing/2014/main" id="{AE8C67A5-EA78-42FB-AA74-51AD247DB5B7}"/>
              </a:ext>
            </a:extLst>
          </p:cNvPr>
          <p:cNvSpPr>
            <a:spLocks xmlns:a="http://schemas.openxmlformats.org/drawingml/2006/main" noGrp="1"/>
          </p:cNvSpPr>
          <p:nvPr/>
        </p:nvSpPr>
        <p:spPr>
          <a:xfrm xmlns:a="http://schemas.openxmlformats.org/drawingml/2006/main">
            <a:off x="609600" y="31623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Primary research</a:t>
            </a:r>
          </a:p>
        </p:txBody>
      </p:sp>
      <p:sp>
        <p:nvSpPr>
          <p:cNvPr id="8" name="Khatun et al, JMIR Human Factors 2024, e46566.">
            <a:extLst xmlns:a="http://schemas.openxmlformats.org/drawingml/2006/main">
              <a:ext uri="{FF2B5EF4-FFF2-40B4-BE49-F238E27FC236}">
                <a16:creationId xmlns:a16="http://schemas.microsoft.com/office/drawing/2014/main" id="{5C01F1D2-6DA1-4E74-955F-E1996DCC3127}"/>
              </a:ext>
            </a:extLst>
          </p:cNvPr>
          <p:cNvSpPr>
            <a:spLocks xmlns:a="http://schemas.openxmlformats.org/drawingml/2006/main" noGrp="1"/>
          </p:cNvSpPr>
          <p:nvPr/>
        </p:nvSpPr>
        <p:spPr>
          <a:xfrm xmlns:a="http://schemas.openxmlformats.org/drawingml/2006/main">
            <a:off x="609600" y="3552825"/>
            <a:ext cx="10477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Khatun et al, JMIR Human Factors 2024, e46566.</a:t>
            </a:r>
          </a:p>
        </p:txBody>
      </p:sp>
      <p:sp>
        <p:nvSpPr>
          <p:cNvPr id="9" name="Competitor evidence">
            <a:extLst xmlns:a="http://schemas.openxmlformats.org/drawingml/2006/main">
              <a:ext uri="{FF2B5EF4-FFF2-40B4-BE49-F238E27FC236}">
                <a16:creationId xmlns:a16="http://schemas.microsoft.com/office/drawing/2014/main" id="{5F24002B-C029-4A17-8FE6-B0F20D1502FB}"/>
              </a:ext>
            </a:extLst>
          </p:cNvPr>
          <p:cNvSpPr>
            <a:spLocks xmlns:a="http://schemas.openxmlformats.org/drawingml/2006/main" noGrp="1"/>
          </p:cNvSpPr>
          <p:nvPr/>
        </p:nvSpPr>
        <p:spPr>
          <a:xfrm xmlns:a="http://schemas.openxmlformats.org/drawingml/2006/main">
            <a:off x="609600" y="45243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Competitor evidence</a:t>
            </a:r>
          </a:p>
        </p:txBody>
      </p:sp>
      <p:sp>
        <p:nvSpPr>
          <p:cNvPr id="10" name="Official DocTime, Praava, HelloTask, Truck Lagbe and Sh">
            <a:extLst xmlns:a="http://schemas.openxmlformats.org/drawingml/2006/main">
              <a:ext uri="{FF2B5EF4-FFF2-40B4-BE49-F238E27FC236}">
                <a16:creationId xmlns:a16="http://schemas.microsoft.com/office/drawing/2014/main" id="{5CBB25ED-9473-40C2-923D-DA66CADF5162}"/>
              </a:ext>
            </a:extLst>
          </p:cNvPr>
          <p:cNvSpPr>
            <a:spLocks xmlns:a="http://schemas.openxmlformats.org/drawingml/2006/main" noGrp="1"/>
          </p:cNvSpPr>
          <p:nvPr/>
        </p:nvSpPr>
        <p:spPr>
          <a:xfrm xmlns:a="http://schemas.openxmlformats.org/drawingml/2006/main">
            <a:off x="609600" y="4914900"/>
            <a:ext cx="10477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Official DocTime, Praava, HelloTask, Truck Lagbe and Shohoz pages.</a:t>
            </a:r>
          </a:p>
        </p:txBody>
      </p:sp>
    </p:spTree>
    <p:extLst>
      <p:ext uri="{BB962C8B-B14F-4D97-AF65-F5344CB8AC3E}">
        <p14:creationId xmlns:p14="http://schemas.microsoft.com/office/powerpoint/2010/main" val="7046047"/>
      </p:ext>
    </p:extLst>
  </p:cSld>
</p:sld>
</file>

<file path=ppt/slides/slide3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REFERENCES">
            <a:extLst xmlns:a="http://schemas.openxmlformats.org/drawingml/2006/main">
              <a:ext uri="{FF2B5EF4-FFF2-40B4-BE49-F238E27FC236}">
                <a16:creationId xmlns:a16="http://schemas.microsoft.com/office/drawing/2014/main" id="{D186A039-6B41-4D2D-B560-5C7A100934CF}"/>
              </a:ext>
            </a:extLst>
          </p:cNvPr>
          <p:cNvSpPr>
            <a:spLocks xmlns:a="http://schemas.openxmlformats.org/drawingml/2006/main" noGrp="1"/>
          </p:cNvSpPr>
          <p:nvPr/>
        </p:nvSpPr>
        <p:spPr>
          <a:xfrm xmlns:a="http://schemas.openxmlformats.org/drawingml/2006/main">
            <a:off x="609600" y="2667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1">
                <a:solidFill>
                  <a:srgbClr val="61726B"/>
                </a:solidFill>
                <a:latin typeface="Helvetica Neue"/>
                <a:ea typeface="Helvetica Neue"/>
                <a:cs typeface="Helvetica Neue"/>
              </a:defRPr>
            </a:pPr>
            <a:r>
              <a:rPr sz="1125" b="1">
                <a:solidFill>
                  <a:srgbClr val="61726B"/>
                </a:solidFill>
                <a:latin typeface="Helvetica Neue"/>
                <a:ea typeface="Helvetica Neue"/>
                <a:cs typeface="Helvetica Neue"/>
              </a:rPr>
              <a:t>REFERENCES</a:t>
            </a:r>
          </a:p>
        </p:txBody>
      </p:sp>
      <p:sp>
        <p:nvSpPr>
          <p:cNvPr id="2" name="Technical and policy sources">
            <a:extLst xmlns:a="http://schemas.openxmlformats.org/drawingml/2006/main">
              <a:ext uri="{FF2B5EF4-FFF2-40B4-BE49-F238E27FC236}">
                <a16:creationId xmlns:a16="http://schemas.microsoft.com/office/drawing/2014/main" id="{3CD0DD0B-BF1C-48C3-B78A-139E04412CDA}"/>
              </a:ext>
            </a:extLst>
          </p:cNvPr>
          <p:cNvSpPr>
            <a:spLocks xmlns:a="http://schemas.openxmlformats.org/drawingml/2006/main" noGrp="1"/>
          </p:cNvSpPr>
          <p:nvPr/>
        </p:nvSpPr>
        <p:spPr>
          <a:xfrm xmlns:a="http://schemas.openxmlformats.org/drawingml/2006/main">
            <a:off x="609600" y="666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83F35"/>
                </a:solidFill>
                <a:latin typeface="Helvetica Neue"/>
                <a:ea typeface="Helvetica Neue"/>
                <a:cs typeface="Helvetica Neue"/>
              </a:defRPr>
            </a:pPr>
            <a:r>
              <a:rPr sz="3300" b="1">
                <a:solidFill>
                  <a:srgbClr val="183F35"/>
                </a:solidFill>
                <a:latin typeface="Helvetica Neue"/>
                <a:ea typeface="Helvetica Neue"/>
                <a:cs typeface="Helvetica Neue"/>
              </a:rPr>
              <a:t>Technical and policy sources</a:t>
            </a:r>
          </a:p>
        </p:txBody>
      </p:sp>
      <p:sp>
        <p:nvSpPr>
          <p:cNvPr id="3" name="32">
            <a:extLst xmlns:a="http://schemas.openxmlformats.org/drawingml/2006/main">
              <a:ext uri="{FF2B5EF4-FFF2-40B4-BE49-F238E27FC236}">
                <a16:creationId xmlns:a16="http://schemas.microsoft.com/office/drawing/2014/main" id="{252F199F-E86B-495C-A439-70D653846F58}"/>
              </a:ext>
            </a:extLst>
          </p:cNvPr>
          <p:cNvSpPr>
            <a:spLocks xmlns:a="http://schemas.openxmlformats.org/drawingml/2006/main" noGrp="1"/>
          </p:cNvSpPr>
          <p:nvPr/>
        </p:nvSpPr>
        <p:spPr>
          <a:xfrm xmlns:a="http://schemas.openxmlformats.org/drawingml/2006/main">
            <a:off x="11096625" y="64484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1726B"/>
                </a:solidFill>
                <a:latin typeface="Helvetica Neue"/>
                <a:ea typeface="Helvetica Neue"/>
                <a:cs typeface="Helvetica Neue"/>
              </a:defRPr>
            </a:pPr>
            <a:r>
              <a:rPr sz="1125" b="0">
                <a:solidFill>
                  <a:srgbClr val="61726B"/>
                </a:solidFill>
                <a:latin typeface="Helvetica Neue"/>
                <a:ea typeface="Helvetica Neue"/>
                <a:cs typeface="Helvetica Neue"/>
              </a:rPr>
              <a:t>32</a:t>
            </a:r>
          </a:p>
        </p:txBody>
      </p:sp>
      <p:sp>
        <p:nvSpPr>
          <p:cNvPr id="4" name="CareNow 1.2.1 · Exhibition prototype · September 2026">
            <a:extLst xmlns:a="http://schemas.openxmlformats.org/drawingml/2006/main">
              <a:ext uri="{FF2B5EF4-FFF2-40B4-BE49-F238E27FC236}">
                <a16:creationId xmlns:a16="http://schemas.microsoft.com/office/drawing/2014/main" id="{3AED5277-33DC-418C-8ACE-54679AF7E46B}"/>
              </a:ext>
            </a:extLst>
          </p:cNvPr>
          <p:cNvSpPr>
            <a:spLocks xmlns:a="http://schemas.openxmlformats.org/drawingml/2006/main" noGrp="1"/>
          </p:cNvSpPr>
          <p:nvPr/>
        </p:nvSpPr>
        <p:spPr>
          <a:xfrm xmlns:a="http://schemas.openxmlformats.org/drawingml/2006/main">
            <a:off x="609600" y="6448425"/>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61726B"/>
                </a:solidFill>
                <a:latin typeface="Helvetica Neue"/>
                <a:ea typeface="Helvetica Neue"/>
                <a:cs typeface="Helvetica Neue"/>
              </a:defRPr>
            </a:pPr>
            <a:r>
              <a:rPr sz="1050" b="0">
                <a:solidFill>
                  <a:srgbClr val="61726B"/>
                </a:solidFill>
                <a:latin typeface="Helvetica Neue"/>
                <a:ea typeface="Helvetica Neue"/>
                <a:cs typeface="Helvetica Neue"/>
              </a:rPr>
              <a:t>CareNow 1.2.1 · Exhibition prototype · September 2026</a:t>
            </a:r>
          </a:p>
        </p:txBody>
      </p:sp>
      <p:sp>
        <p:nvSpPr>
          <p:cNvPr id="5" name="Infrastructure pricing">
            <a:extLst xmlns:a="http://schemas.openxmlformats.org/drawingml/2006/main">
              <a:ext uri="{FF2B5EF4-FFF2-40B4-BE49-F238E27FC236}">
                <a16:creationId xmlns:a16="http://schemas.microsoft.com/office/drawing/2014/main" id="{393C20A9-0CFE-4E4A-859B-072122FE3C2C}"/>
              </a:ext>
            </a:extLst>
          </p:cNvPr>
          <p:cNvSpPr>
            <a:spLocks xmlns:a="http://schemas.openxmlformats.org/drawingml/2006/main" noGrp="1"/>
          </p:cNvSpPr>
          <p:nvPr/>
        </p:nvSpPr>
        <p:spPr>
          <a:xfrm xmlns:a="http://schemas.openxmlformats.org/drawingml/2006/main">
            <a:off x="609600" y="18097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Infrastructure pricing</a:t>
            </a:r>
          </a:p>
        </p:txBody>
      </p:sp>
      <p:sp>
        <p:nvSpPr>
          <p:cNvPr id="6" name="Cloudflare Workers and D1 official pricing.">
            <a:extLst xmlns:a="http://schemas.openxmlformats.org/drawingml/2006/main">
              <a:ext uri="{FF2B5EF4-FFF2-40B4-BE49-F238E27FC236}">
                <a16:creationId xmlns:a16="http://schemas.microsoft.com/office/drawing/2014/main" id="{2C619636-D91C-4B68-BFA3-252688E75831}"/>
              </a:ext>
            </a:extLst>
          </p:cNvPr>
          <p:cNvSpPr>
            <a:spLocks xmlns:a="http://schemas.openxmlformats.org/drawingml/2006/main" noGrp="1"/>
          </p:cNvSpPr>
          <p:nvPr/>
        </p:nvSpPr>
        <p:spPr>
          <a:xfrm xmlns:a="http://schemas.openxmlformats.org/drawingml/2006/main">
            <a:off x="609600" y="22002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Cloudflare Workers and D1 official pricing.</a:t>
            </a:r>
          </a:p>
        </p:txBody>
      </p:sp>
      <p:sp>
        <p:nvSpPr>
          <p:cNvPr id="7" name="Clinical governance context">
            <a:extLst xmlns:a="http://schemas.openxmlformats.org/drawingml/2006/main">
              <a:ext uri="{FF2B5EF4-FFF2-40B4-BE49-F238E27FC236}">
                <a16:creationId xmlns:a16="http://schemas.microsoft.com/office/drawing/2014/main" id="{40D707AA-9267-4E19-BA49-DDEEC66ED75D}"/>
              </a:ext>
            </a:extLst>
          </p:cNvPr>
          <p:cNvSpPr>
            <a:spLocks xmlns:a="http://schemas.openxmlformats.org/drawingml/2006/main" noGrp="1"/>
          </p:cNvSpPr>
          <p:nvPr/>
        </p:nvSpPr>
        <p:spPr>
          <a:xfrm xmlns:a="http://schemas.openxmlformats.org/drawingml/2006/main">
            <a:off x="609600" y="30861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Clinical governance context</a:t>
            </a:r>
          </a:p>
        </p:txBody>
      </p:sp>
      <p:sp>
        <p:nvSpPr>
          <p:cNvPr id="8" name="DGHS publication listing and National Telehealth Guidel">
            <a:extLst xmlns:a="http://schemas.openxmlformats.org/drawingml/2006/main">
              <a:ext uri="{FF2B5EF4-FFF2-40B4-BE49-F238E27FC236}">
                <a16:creationId xmlns:a16="http://schemas.microsoft.com/office/drawing/2014/main" id="{05A187E9-9538-4A33-AA66-25E6C6C347CB}"/>
              </a:ext>
            </a:extLst>
          </p:cNvPr>
          <p:cNvSpPr>
            <a:spLocks xmlns:a="http://schemas.openxmlformats.org/drawingml/2006/main" noGrp="1"/>
          </p:cNvSpPr>
          <p:nvPr/>
        </p:nvSpPr>
        <p:spPr>
          <a:xfrm xmlns:a="http://schemas.openxmlformats.org/drawingml/2006/main">
            <a:off x="609600" y="34766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DGHS publication listing and National Telehealth Guideline.</a:t>
            </a:r>
          </a:p>
        </p:txBody>
      </p:sp>
      <p:sp>
        <p:nvSpPr>
          <p:cNvPr id="9" name="Project evidence">
            <a:extLst xmlns:a="http://schemas.openxmlformats.org/drawingml/2006/main">
              <a:ext uri="{FF2B5EF4-FFF2-40B4-BE49-F238E27FC236}">
                <a16:creationId xmlns:a16="http://schemas.microsoft.com/office/drawing/2014/main" id="{BE0D3BC9-DF77-40D2-A5A7-B66834D314C7}"/>
              </a:ext>
            </a:extLst>
          </p:cNvPr>
          <p:cNvSpPr>
            <a:spLocks xmlns:a="http://schemas.openxmlformats.org/drawingml/2006/main" noGrp="1"/>
          </p:cNvSpPr>
          <p:nvPr/>
        </p:nvSpPr>
        <p:spPr>
          <a:xfrm xmlns:a="http://schemas.openxmlformats.org/drawingml/2006/main">
            <a:off x="609600" y="43624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83F35"/>
                </a:solidFill>
                <a:latin typeface="Helvetica Neue"/>
                <a:ea typeface="Helvetica Neue"/>
                <a:cs typeface="Helvetica Neue"/>
              </a:defRPr>
            </a:pPr>
            <a:r>
              <a:rPr sz="2025" b="1">
                <a:solidFill>
                  <a:srgbClr val="183F35"/>
                </a:solidFill>
                <a:latin typeface="Helvetica Neue"/>
                <a:ea typeface="Helvetica Neue"/>
                <a:cs typeface="Helvetica Neue"/>
              </a:rPr>
              <a:t>Project evidence</a:t>
            </a:r>
          </a:p>
        </p:txBody>
      </p:sp>
      <p:sp>
        <p:nvSpPr>
          <p:cNvPr id="10" name="Public source, release APK, QA, performance logs and sc">
            <a:extLst xmlns:a="http://schemas.openxmlformats.org/drawingml/2006/main">
              <a:ext uri="{FF2B5EF4-FFF2-40B4-BE49-F238E27FC236}">
                <a16:creationId xmlns:a16="http://schemas.microsoft.com/office/drawing/2014/main" id="{33852C50-EFCF-44F8-A6E6-74E89283CB5D}"/>
              </a:ext>
            </a:extLst>
          </p:cNvPr>
          <p:cNvSpPr>
            <a:spLocks xmlns:a="http://schemas.openxmlformats.org/drawingml/2006/main" noGrp="1"/>
          </p:cNvSpPr>
          <p:nvPr/>
        </p:nvSpPr>
        <p:spPr>
          <a:xfrm xmlns:a="http://schemas.openxmlformats.org/drawingml/2006/main">
            <a:off x="609600" y="47529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61726B"/>
                </a:solidFill>
                <a:latin typeface="Helvetica Neue"/>
                <a:ea typeface="Helvetica Neue"/>
                <a:cs typeface="Helvetica Neue"/>
              </a:defRPr>
            </a:pPr>
            <a:r>
              <a:rPr sz="1725" b="0">
                <a:solidFill>
                  <a:srgbClr val="61726B"/>
                </a:solidFill>
                <a:latin typeface="Helvetica Neue"/>
                <a:ea typeface="Helvetica Neue"/>
                <a:cs typeface="Helvetica Neue"/>
              </a:rPr>
              <a:t>Public source, release APK, QA, performance logs and screenshot gallery.</a:t>
            </a:r>
          </a:p>
        </p:txBody>
      </p:sp>
      <p:sp>
        <p:nvSpPr>
          <p:cNvPr id="11" name="Live demo  carenow-demo.pages.dev&#10;Repository  github.co">
            <a:extLst xmlns:a="http://schemas.openxmlformats.org/drawingml/2006/main">
              <a:ext uri="{FF2B5EF4-FFF2-40B4-BE49-F238E27FC236}">
                <a16:creationId xmlns:a16="http://schemas.microsoft.com/office/drawing/2014/main" id="{6D5A6461-DFA0-44BF-A9A3-6EA4033EE12B}"/>
              </a:ext>
            </a:extLst>
          </p:cNvPr>
          <p:cNvSpPr>
            <a:spLocks xmlns:a="http://schemas.openxmlformats.org/drawingml/2006/main" noGrp="1"/>
          </p:cNvSpPr>
          <p:nvPr/>
        </p:nvSpPr>
        <p:spPr>
          <a:xfrm xmlns:a="http://schemas.openxmlformats.org/drawingml/2006/main">
            <a:off x="609600" y="56864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183F35"/>
                </a:solidFill>
                <a:latin typeface="Helvetica Neue"/>
                <a:ea typeface="Helvetica Neue"/>
                <a:cs typeface="Helvetica Neue"/>
              </a:defRPr>
            </a:pPr>
            <a:r>
              <a:rPr sz="1725" b="1">
                <a:solidFill>
                  <a:srgbClr val="183F35"/>
                </a:solidFill>
                <a:latin typeface="Helvetica Neue"/>
                <a:ea typeface="Helvetica Neue"/>
                <a:cs typeface="Helvetica Neue"/>
              </a:rPr>
              <a:t>Live demo  carenow-demo.pages.dev</a:t>
            </a:r>
          </a:p>
          <a:p xmlns:a="http://schemas.openxmlformats.org/drawingml/2006/main">
            <a:pPr>
              <a:defRPr sz="1725" b="1">
                <a:solidFill>
                  <a:srgbClr val="183F35"/>
                </a:solidFill>
                <a:latin typeface="Helvetica Neue"/>
                <a:ea typeface="Helvetica Neue"/>
                <a:cs typeface="Helvetica Neue"/>
              </a:defRPr>
            </a:pPr>
            <a:r>
              <a:rPr sz="1725" b="1">
                <a:solidFill>
                  <a:srgbClr val="183F35"/>
                </a:solidFill>
                <a:latin typeface="Helvetica Neue"/>
                <a:ea typeface="Helvetica Neue"/>
                <a:cs typeface="Helvetica Neue"/>
              </a:rPr>
              <a:t>Repository  github.com/Seyamalam/CareNow</a:t>
            </a:r>
          </a:p>
        </p:txBody>
      </p:sp>
    </p:spTree>
    <p:extLst>
      <p:ext uri="{BB962C8B-B14F-4D97-AF65-F5344CB8AC3E}">
        <p14:creationId xmlns:p14="http://schemas.microsoft.com/office/powerpoint/2010/main" val="20468357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2026-09-05T06:51:30.6730000Z</dcterms:created>
  <dcterms:modified xsi:type="dcterms:W3CDTF">2026-09-05T06:51:30.6730000Z</dcterms:modified>
</coreProperties>
</file>